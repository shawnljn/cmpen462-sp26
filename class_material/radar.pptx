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1323" r:id="rId2"/>
    <p:sldId id="2023" r:id="rId3"/>
    <p:sldId id="2292" r:id="rId4"/>
    <p:sldId id="2172" r:id="rId5"/>
    <p:sldId id="2041" r:id="rId6"/>
    <p:sldId id="2293" r:id="rId7"/>
    <p:sldId id="2045" r:id="rId8"/>
    <p:sldId id="2044" r:id="rId9"/>
    <p:sldId id="2046" r:id="rId10"/>
    <p:sldId id="2049" r:id="rId11"/>
    <p:sldId id="2048" r:id="rId12"/>
    <p:sldId id="2225" r:id="rId13"/>
    <p:sldId id="2226" r:id="rId14"/>
    <p:sldId id="2227" r:id="rId15"/>
    <p:sldId id="2228" r:id="rId16"/>
    <p:sldId id="2288" r:id="rId17"/>
    <p:sldId id="2230" r:id="rId18"/>
    <p:sldId id="2289" r:id="rId19"/>
    <p:sldId id="2290" r:id="rId20"/>
    <p:sldId id="2233" r:id="rId21"/>
    <p:sldId id="2234" r:id="rId22"/>
    <p:sldId id="2235" r:id="rId23"/>
    <p:sldId id="2236" r:id="rId24"/>
    <p:sldId id="2237" r:id="rId25"/>
    <p:sldId id="2238" r:id="rId26"/>
    <p:sldId id="2239" r:id="rId27"/>
    <p:sldId id="2240" r:id="rId28"/>
    <p:sldId id="2241" r:id="rId29"/>
    <p:sldId id="2242" r:id="rId30"/>
    <p:sldId id="2243" r:id="rId31"/>
    <p:sldId id="2244" r:id="rId32"/>
    <p:sldId id="2245" r:id="rId33"/>
    <p:sldId id="2246" r:id="rId3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902030302020204" pitchFamily="66" charset="0"/>
        <a:ea typeface="Gungsuh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9" frame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09"/>
    <p:restoredTop sz="69272"/>
  </p:normalViewPr>
  <p:slideViewPr>
    <p:cSldViewPr>
      <p:cViewPr varScale="1">
        <p:scale>
          <a:sx n="60" d="100"/>
          <a:sy n="60" d="100"/>
        </p:scale>
        <p:origin x="148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3272"/>
    </p:cViewPr>
  </p:sorterViewPr>
  <p:notesViewPr>
    <p:cSldViewPr>
      <p:cViewPr varScale="1">
        <p:scale>
          <a:sx n="85" d="100"/>
          <a:sy n="85" d="100"/>
        </p:scale>
        <p:origin x="-2288" y="-12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>
            <a:extLst>
              <a:ext uri="{FF2B5EF4-FFF2-40B4-BE49-F238E27FC236}">
                <a16:creationId xmlns:a16="http://schemas.microsoft.com/office/drawing/2014/main" id="{8E75C36D-E5D0-0D41-B276-5AA7FC9834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DC3BE346-09DF-D747-BA73-696DF0A9BE3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31460" name="Rectangle 4">
            <a:extLst>
              <a:ext uri="{FF2B5EF4-FFF2-40B4-BE49-F238E27FC236}">
                <a16:creationId xmlns:a16="http://schemas.microsoft.com/office/drawing/2014/main" id="{EE7478E5-690A-2349-9FFE-22AEBEFB520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31461" name="Rectangle 5">
            <a:extLst>
              <a:ext uri="{FF2B5EF4-FFF2-40B4-BE49-F238E27FC236}">
                <a16:creationId xmlns:a16="http://schemas.microsoft.com/office/drawing/2014/main" id="{BB797421-0FAB-FB46-AA93-29E62C8632A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spcBef>
                <a:spcPct val="0"/>
              </a:spcBef>
              <a:buFontTx/>
              <a:buNone/>
              <a:defRPr sz="1200" smtClean="0">
                <a:latin typeface="Arial" charset="0"/>
                <a:ea typeface="Gungsuh" charset="-127"/>
              </a:defRPr>
            </a:lvl1pPr>
          </a:lstStyle>
          <a:p>
            <a:pPr>
              <a:defRPr/>
            </a:pPr>
            <a:fld id="{15F6B689-0DA5-5143-A909-49020A4C0D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>
            <a:extLst>
              <a:ext uri="{FF2B5EF4-FFF2-40B4-BE49-F238E27FC236}">
                <a16:creationId xmlns:a16="http://schemas.microsoft.com/office/drawing/2014/main" id="{54E7728C-0321-874D-BEBF-C81B74A885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F508913F-6500-3444-AE3C-09CC4E322E7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2A5CD62A-0C79-B941-9B90-0706B4C28ED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6309" name="Rectangle 5">
            <a:extLst>
              <a:ext uri="{FF2B5EF4-FFF2-40B4-BE49-F238E27FC236}">
                <a16:creationId xmlns:a16="http://schemas.microsoft.com/office/drawing/2014/main" id="{BC145168-C585-5641-A06F-B9C354F366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26310" name="Rectangle 6">
            <a:extLst>
              <a:ext uri="{FF2B5EF4-FFF2-40B4-BE49-F238E27FC236}">
                <a16:creationId xmlns:a16="http://schemas.microsoft.com/office/drawing/2014/main" id="{1F0FE90A-6F56-3240-AEDE-58BCEE22737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226311" name="Rectangle 7">
            <a:extLst>
              <a:ext uri="{FF2B5EF4-FFF2-40B4-BE49-F238E27FC236}">
                <a16:creationId xmlns:a16="http://schemas.microsoft.com/office/drawing/2014/main" id="{3AA3925C-8F32-7240-9846-7EB224024F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spcBef>
                <a:spcPct val="0"/>
              </a:spcBef>
              <a:buFontTx/>
              <a:buNone/>
              <a:defRPr sz="1200" smtClean="0">
                <a:latin typeface="Arial" charset="0"/>
                <a:ea typeface="Gungsuh" charset="-127"/>
              </a:defRPr>
            </a:lvl1pPr>
          </a:lstStyle>
          <a:p>
            <a:pPr>
              <a:defRPr/>
            </a:pPr>
            <a:fld id="{FAF0636F-7FE3-5A4C-A3EC-30D9E1B910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E288A725-E545-C84F-9774-4E2797C7D7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3BECBA-530F-8947-A4A0-B0641425F554}" type="slidenum">
              <a:rPr lang="en-US" altLang="en-US">
                <a:ea typeface="Gungsuh" panose="02030600000101010101" pitchFamily="18" charset="-127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ea typeface="Gungsuh" panose="02030600000101010101" pitchFamily="18" charset="-127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D84358F-D924-884B-A326-03EA329DB6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B7C79AA-A5A3-4D4D-B14E-AC1EDFB29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D92A688B-6454-164F-98A6-D837FBB48B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AE86EE16-0CA5-1044-80E6-70CA0431F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z="200">
              <a:latin typeface="Lucida Bright" panose="02040602050505020304" pitchFamily="18" charset="77"/>
              <a:cs typeface="Arial" panose="020B0604020202020204" pitchFamily="34" charset="0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8747A0AD-DF5D-6447-A1BA-3D6B9DC91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C3DAD3D-EC86-CC44-8E19-5512DA0911CF}" type="slidenum">
              <a:rPr lang="en-US" altLang="en-US">
                <a:ea typeface="Gungsuh" panose="02030600000101010101" pitchFamily="18" charset="-127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ea typeface="Gungsuh" panose="02030600000101010101" pitchFamily="18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D22D38B0-F65A-7C4E-8B1E-17CFB32406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8508002E-2F97-D249-AA80-130F83730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" dirty="0">
              <a:latin typeface="Lucida Bright" panose="02040602050505020304" pitchFamily="18" charset="77"/>
              <a:cs typeface="Arial" panose="020B0604020202020204" pitchFamily="34" charset="0"/>
            </a:endParaRP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02661E08-E044-F140-B20D-7EBD94750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6F0302-6DB3-C648-AB22-A6CA9A4FC0CC}" type="slidenum">
              <a:rPr lang="en-US" altLang="en-US">
                <a:ea typeface="Gungsuh" panose="02030600000101010101" pitchFamily="18" charset="-127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495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F0636F-7FE3-5A4C-A3EC-30D9E1B910AC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360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>
            <a:extLst>
              <a:ext uri="{FF2B5EF4-FFF2-40B4-BE49-F238E27FC236}">
                <a16:creationId xmlns:a16="http://schemas.microsoft.com/office/drawing/2014/main" id="{E224D434-CEDB-FC4B-B489-E8D2BC8C89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>
            <a:extLst>
              <a:ext uri="{FF2B5EF4-FFF2-40B4-BE49-F238E27FC236}">
                <a16:creationId xmlns:a16="http://schemas.microsoft.com/office/drawing/2014/main" id="{C4FFD8BA-F5C1-2240-AD6E-01DC4B83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1C851766-4596-A047-A341-11C52B7BD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E92A19-78F6-A048-AD80-FC67EC3D6441}" type="slidenum">
              <a:rPr lang="en-US" altLang="en-US">
                <a:ea typeface="Gungsuh" panose="02030600000101010101" pitchFamily="18" charset="-127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ea typeface="Gungsuh" panose="02030600000101010101" pitchFamily="18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>
            <a:extLst>
              <a:ext uri="{FF2B5EF4-FFF2-40B4-BE49-F238E27FC236}">
                <a16:creationId xmlns:a16="http://schemas.microsoft.com/office/drawing/2014/main" id="{E224D434-CEDB-FC4B-B489-E8D2BC8C89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>
            <a:extLst>
              <a:ext uri="{FF2B5EF4-FFF2-40B4-BE49-F238E27FC236}">
                <a16:creationId xmlns:a16="http://schemas.microsoft.com/office/drawing/2014/main" id="{C4FFD8BA-F5C1-2240-AD6E-01DC4B83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1C851766-4596-A047-A341-11C52B7BD6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E92A19-78F6-A048-AD80-FC67EC3D6441}" type="slidenum">
              <a:rPr lang="en-US" altLang="en-US">
                <a:ea typeface="Gungsuh" panose="02030600000101010101" pitchFamily="18" charset="-127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ea typeface="Gungsuh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1795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>
            <a:extLst>
              <a:ext uri="{FF2B5EF4-FFF2-40B4-BE49-F238E27FC236}">
                <a16:creationId xmlns:a16="http://schemas.microsoft.com/office/drawing/2014/main" id="{E49749A2-AF17-3C46-9404-EB735EBCE6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>
            <a:extLst>
              <a:ext uri="{FF2B5EF4-FFF2-40B4-BE49-F238E27FC236}">
                <a16:creationId xmlns:a16="http://schemas.microsoft.com/office/drawing/2014/main" id="{4AE51DA5-A210-5845-AD02-0B6604FF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Slide Number Placeholder 3">
            <a:extLst>
              <a:ext uri="{FF2B5EF4-FFF2-40B4-BE49-F238E27FC236}">
                <a16:creationId xmlns:a16="http://schemas.microsoft.com/office/drawing/2014/main" id="{C2119699-6A51-F843-9487-459A67348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931725" indent="-37474525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7C6F989-0F1E-7248-8E7C-379B29A3FCF0}" type="slidenum">
              <a:rPr lang="en-US" altLang="en-US">
                <a:ea typeface="Gungsuh" panose="02030600000101010101" pitchFamily="18" charset="-127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ea typeface="Gungsuh" panose="02030600000101010101" pitchFamily="18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F0636F-7FE3-5A4C-A3EC-30D9E1B910AC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4260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F0636F-7FE3-5A4C-A3EC-30D9E1B910AC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515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F0636F-7FE3-5A4C-A3EC-30D9E1B910AC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7677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F0636F-7FE3-5A4C-A3EC-30D9E1B910AC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478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EFD6CE5B-1295-F242-88FA-0A9E7FB661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04496595-F059-8C44-A290-85F4021D1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5D1F9E9E-0A63-8D4B-B473-543CFCB88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3C78AEA9-D735-D34A-A506-56C7CAC6F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B4EC47E9-0EAA-604F-87E3-A591D67532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13AC5BE5-A61E-C748-B170-E5E5CD7ABA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72882E6B-D9C5-AE4D-ACC6-9D1B7BEF2D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C0E2131F-D42B-954E-AAF2-E4DFC32656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D9978228-134D-1849-A479-882ACACB7E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524CF8A0-42C7-864A-B556-DA7646A06A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8486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9FC8D112-D356-0B47-96D9-F7ED220A38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E23C3FDC-28FE-434E-B3EF-73E6B6828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1CF0D331-5EDF-D849-A034-B668CC1929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7A3BBD3E-F3BC-6546-8299-7048875B1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641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685206A6-2CB1-CA42-BFE3-60F00964A9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65C333F4-DFAD-5D4D-AF9A-0CA416152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8778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F8FC6B5C-B48C-AE47-9549-579F295BE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A48A77C7-67B8-2340-A37F-CA26362F6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BFA5ADFB-8EED-9043-9390-EDA28FC970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BEA736C2-D841-3C4D-9A65-F1B8CB6C0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7C01369B-1AB9-C34C-A43B-C00A7C5CB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9C8A9F94-3F71-0944-81ED-62CB217EF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2E08FD5A-D1B3-5643-BC38-FB9ABE4FDA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3DDD311B-420E-7B44-8CB6-88A9D9CA9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FA4334F0-1FBD-6D4C-B64D-34FF89F7F8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605A83A6-416D-F64B-B2EC-36D61AE46B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60C56D4A-223D-F840-AEC5-B4E2907B29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804472F4-76F2-7440-8B22-B0AA10DC6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3A15BBC1-8430-A04A-8F34-29568E579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BE3FE8FF-EDE7-CE4E-B4C4-CC9F7FCB4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CE76EC06-3476-1943-9D9C-A3D7E2D1D6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E7825C02-96D6-1346-8C94-43261A256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47AD3810-202F-9442-8687-540792EA0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8F626DDC-458B-AB4B-83A9-52CDE38CC8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8224718B-BC48-474A-A60C-D8AC8DCFDA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12EB47CC-CB9E-7848-9335-C61C9E3D0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CFAE58E8-B3B9-5E43-BA11-E5B5C76248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A58C10B8-5205-F54F-83F1-BFFFF91C2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ABEF31BC-E621-1347-ABBF-30EF1A7B04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AB817D45-28C8-3441-B317-DFC0CF276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31FC85DB-7174-544E-BD42-B733C555DC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359E8354-8FBF-FA42-9FF7-673DC9754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63406E4A-997F-2248-A726-5D211F8DC8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8749C232-7D87-5041-B90C-4AF243F08B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39681B-8D43-704A-89B4-2A291B1E30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69EAD01-59FF-DD4F-8F32-18AE232E5E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F3F70A-9FE5-DE40-B59A-EA03E0F2D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536C1E-0B2B-A04D-91FC-2014B45EB5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21F70F-712C-8D43-800E-84020D9982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7574A5-3391-9045-B9A7-8D476E350C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431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8F7A4C-8795-B64D-8358-3669CD7CA0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FBDB8E-BBEC-3340-BE84-E4EA740EF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EB6AE0-B5B8-8A41-94EF-ED7288D821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386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211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F18C89-2D82-4646-AAE9-D5CAF20604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ED817-7388-C040-A04B-2CFD5FEE5F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8B87B0-F787-A948-B3C8-B935D3C8DD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3259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706448-940A-1C42-BE5C-DC7A008FBD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8D6056B-F424-624C-91D7-8F0446BA20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BAB5BD-DB61-6142-938B-CA40CABDE2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008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4BE5C4-985C-CE49-933A-7AF285143E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C2337D-4A18-2C4F-BC8E-2B73DC164F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9F009B4-AF6E-1146-A3BF-359EC7104C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904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A6C4A64-724E-C34A-936C-0DBF646246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AE82F0E-589A-1042-BCEA-333F3BD0F1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CC45A40-DEAF-3542-BDF9-A266649AB1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248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2586D-0E46-BF41-AFA5-746B585097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015575-282C-354C-B7E9-AEB17D9128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9440D4-EE81-9A45-884F-1EB0F5CCA2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E0385-998F-0743-8757-4BAEEFCBD2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8DB866-FCD8-ED4A-AB5F-07B49D564D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52173-0018-CE48-B66A-715F1C7950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6091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89B50B-469E-E547-AAF6-ED66B8A26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1CCAEA-0917-3046-B198-996FB9B50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ED1391-63C1-2B4C-B5F4-71535D4308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542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6354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6354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82CD19-170F-C347-BFCD-9D997F9F1F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4C53B6-5AD8-5849-8EC9-84E91E31FB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4C2283-98A6-DD42-B86D-7F48CC77D3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461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4038600" cy="2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295400"/>
            <a:ext cx="4038600" cy="25288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76688"/>
            <a:ext cx="4038600" cy="2530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76688"/>
            <a:ext cx="4038600" cy="2530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F1F952A-39FE-EE45-A45A-52F23EE561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0AB9644-4DC7-3249-863D-5FC2B4AA89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E950971-DCCA-1A41-93C4-FD04FD7C90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86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7B3014-17D1-2541-9E5C-619FE1BEC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9B981F-4FFF-2944-B8CA-45D0526BC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21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5172AD-5FD9-A842-827C-9F43CE810A0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Lucida Bright" panose="02040602050505020304" pitchFamily="18" charset="77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07F9542-087C-7C41-B2AA-20FF8D3A272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Lucida Bright" panose="02040602050505020304" pitchFamily="18" charset="77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935758-BA8C-8F42-B6D6-21FD27167BD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Lucida Bright" panose="02040602050505020304" pitchFamily="18" charset="77"/>
                <a:cs typeface="Arial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752D9B4-D598-D94D-AEC9-74FF8B7755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36575" y="11430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1pPr>
            <a:lvl2pPr marL="742950" indent="-28575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•"/>
              <a:defRPr>
                <a:solidFill>
                  <a:schemeClr val="tx1"/>
                </a:solidFill>
                <a:latin typeface="Comic Sans MS" panose="030F0902030302020204" pitchFamily="66" charset="0"/>
                <a:ea typeface="Gungsuh" panose="02030600000101010101" pitchFamily="18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en-US" altLang="en-US" sz="2400">
              <a:latin typeface="Lucida Bright" panose="02040602050505020304" pitchFamily="18" charset="7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Lucida Bright" charset="0"/>
          <a:ea typeface="Gungsuh" pitchFamily="18" charset="-127"/>
          <a:cs typeface="Gungsuh" pitchFamily="18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bg2"/>
          </a:solidFill>
          <a:latin typeface="Century Gothic" charset="0"/>
          <a:ea typeface="Gungsuh" pitchFamily="18" charset="-127"/>
          <a:cs typeface="Gungsuh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6A6A6"/>
        </a:buClr>
        <a:buSzPct val="120000"/>
        <a:buFont typeface="Lucida Grande" panose="020B0600040502020204" pitchFamily="34" charset="0"/>
        <a:buChar char="●"/>
        <a:defRPr sz="2400">
          <a:solidFill>
            <a:schemeClr val="tx1"/>
          </a:solidFill>
          <a:latin typeface="Lucida Brigh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A6A6A6"/>
        </a:buClr>
        <a:buSzPct val="80000"/>
        <a:buFont typeface="Lucida Grande" panose="020B0600040502020204" pitchFamily="34" charset="0"/>
        <a:buChar char="●"/>
        <a:defRPr sz="2000">
          <a:solidFill>
            <a:srgbClr val="7F7F7F"/>
          </a:solidFill>
          <a:latin typeface="Lucida Brigh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125000"/>
        <a:buChar char="•"/>
        <a:defRPr>
          <a:solidFill>
            <a:srgbClr val="800000"/>
          </a:solidFill>
          <a:latin typeface="Lucida Brigh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Lucida Brigh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Lucida Brigh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9DFF342-C601-574F-A520-1C37507AE53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990600"/>
            <a:ext cx="7924800" cy="5638800"/>
          </a:xfrm>
        </p:spPr>
        <p:txBody>
          <a:bodyPr/>
          <a:lstStyle/>
          <a:p>
            <a:pPr algn="ctr" eaLnBrk="1" hangingPunct="1"/>
            <a:r>
              <a:rPr lang="en-US" altLang="en-US" b="1" dirty="0">
                <a:latin typeface="Lucida Bright" panose="02040602050505020304" pitchFamily="18" charset="77"/>
              </a:rPr>
              <a:t>Smartphone Positioning Systems </a:t>
            </a:r>
            <a:br>
              <a:rPr lang="en-US" altLang="en-US" sz="2400" b="1" dirty="0">
                <a:latin typeface="Lucida Bright" panose="02040602050505020304" pitchFamily="18" charset="77"/>
              </a:rPr>
            </a:br>
            <a:br>
              <a:rPr lang="en-US" altLang="en-US" sz="2400" dirty="0">
                <a:latin typeface="Lucida Bright" panose="02040602050505020304" pitchFamily="18" charset="77"/>
              </a:rPr>
            </a:br>
            <a:br>
              <a:rPr lang="en-US" altLang="en-US" sz="2400" dirty="0">
                <a:latin typeface="Lucida Bright" panose="02040602050505020304" pitchFamily="18" charset="77"/>
              </a:rPr>
            </a:br>
            <a:br>
              <a:rPr lang="en-US" altLang="en-US" sz="2400" dirty="0">
                <a:latin typeface="Lucida Bright" panose="02040602050505020304" pitchFamily="18" charset="77"/>
              </a:rPr>
            </a:br>
            <a:br>
              <a:rPr lang="en-US" altLang="en-US" sz="2400" dirty="0">
                <a:latin typeface="Lucida Bright" panose="02040602050505020304" pitchFamily="18" charset="77"/>
              </a:rPr>
            </a:br>
            <a:br>
              <a:rPr lang="en-US" altLang="en-US" sz="2400" dirty="0">
                <a:latin typeface="Lucida Bright" panose="02040602050505020304" pitchFamily="18" charset="77"/>
              </a:rPr>
            </a:br>
            <a:r>
              <a:rPr lang="en-US" altLang="en-US" sz="2400" i="1" dirty="0">
                <a:latin typeface="Lucida Bright" panose="02040602050505020304" pitchFamily="18" charset="77"/>
              </a:rPr>
              <a:t>material from UIUC,</a:t>
            </a:r>
            <a:br>
              <a:rPr lang="en-US" altLang="en-US" sz="2400" i="1" dirty="0">
                <a:latin typeface="Lucida Bright" panose="02040602050505020304" pitchFamily="18" charset="77"/>
              </a:rPr>
            </a:br>
            <a:r>
              <a:rPr lang="en-US" altLang="en-US" sz="2400" i="1" dirty="0">
                <a:latin typeface="Lucida Bright" panose="02040602050505020304" pitchFamily="18" charset="77"/>
              </a:rPr>
              <a:t>Prof. </a:t>
            </a:r>
            <a:r>
              <a:rPr lang="en-US" altLang="en-US" sz="2000" b="1" i="1" dirty="0" err="1">
                <a:latin typeface="Lucida Bright" panose="02040602050505020304" pitchFamily="18" charset="77"/>
              </a:rPr>
              <a:t>Romit</a:t>
            </a:r>
            <a:r>
              <a:rPr lang="en-US" altLang="en-US" sz="2000" b="1" i="1" dirty="0">
                <a:latin typeface="Lucida Bright" panose="02040602050505020304" pitchFamily="18" charset="77"/>
              </a:rPr>
              <a:t> Roy Choudhury</a:t>
            </a:r>
            <a:br>
              <a:rPr lang="en-US" altLang="en-US" sz="2000" dirty="0">
                <a:latin typeface="Lucida Bright" panose="02040602050505020304" pitchFamily="18" charset="77"/>
              </a:rPr>
            </a:br>
            <a:br>
              <a:rPr lang="en-US" altLang="en-US" sz="2000" dirty="0">
                <a:latin typeface="Lucida Bright" panose="02040602050505020304" pitchFamily="18" charset="77"/>
              </a:rPr>
            </a:br>
            <a:endParaRPr lang="en-US" altLang="en-US" sz="1800" dirty="0">
              <a:latin typeface="Lucida Bright" panose="02040602050505020304" pitchFamily="18" charset="77"/>
            </a:endParaRPr>
          </a:p>
        </p:txBody>
      </p:sp>
    </p:spTree>
  </p:cSld>
  <p:clrMapOvr>
    <a:masterClrMapping/>
  </p:clrMapOvr>
  <p:transition advTm="17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Content Placeholder 2">
            <a:extLst>
              <a:ext uri="{FF2B5EF4-FFF2-40B4-BE49-F238E27FC236}">
                <a16:creationId xmlns:a16="http://schemas.microsoft.com/office/drawing/2014/main" id="{49AEA418-5DD5-1B4D-8795-DAA17A4B6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211763"/>
          </a:xfrm>
        </p:spPr>
        <p:txBody>
          <a:bodyPr/>
          <a:lstStyle/>
          <a:p>
            <a:pPr eaLnBrk="1" hangingPunct="1"/>
            <a:r>
              <a:rPr lang="en-US" altLang="en-US">
                <a:latin typeface="Lucida Bright" panose="02040602050505020304" pitchFamily="18" charset="77"/>
              </a:rPr>
              <a:t>Sudden growth in smartphone industry</a:t>
            </a:r>
          </a:p>
          <a:p>
            <a:pPr lvl="1" eaLnBrk="1" hangingPunct="1"/>
            <a:r>
              <a:rPr lang="en-US" altLang="en-US">
                <a:latin typeface="Lucida Bright" panose="02040602050505020304" pitchFamily="18" charset="77"/>
              </a:rPr>
              <a:t>Localization technology caught unprepared</a:t>
            </a:r>
          </a:p>
          <a:p>
            <a:pPr lvl="1" eaLnBrk="1" hangingPunct="1"/>
            <a:r>
              <a:rPr lang="en-US" altLang="en-US">
                <a:latin typeface="Lucida Bright" panose="02040602050505020304" pitchFamily="18" charset="77"/>
              </a:rPr>
              <a:t>Industry viewing location as “address” for content delivery</a:t>
            </a:r>
          </a:p>
          <a:p>
            <a:pPr lvl="1" eaLnBrk="1" hangingPunct="1">
              <a:buFont typeface="Lucida Grande" panose="020B0600040502020204" pitchFamily="34" charset="0"/>
              <a:buNone/>
            </a:pPr>
            <a:endParaRPr lang="en-US" altLang="en-US">
              <a:latin typeface="Lucida Bright" panose="02040602050505020304" pitchFamily="18" charset="77"/>
            </a:endParaRPr>
          </a:p>
          <a:p>
            <a:pPr lvl="1" eaLnBrk="1" hangingPunct="1">
              <a:buFont typeface="Lucida Grande" panose="020B0600040502020204" pitchFamily="34" charset="0"/>
              <a:buNone/>
            </a:pPr>
            <a:r>
              <a:rPr lang="en-US" altLang="en-US">
                <a:latin typeface="Lucida Bright" panose="02040602050505020304" pitchFamily="18" charset="77"/>
              </a:rPr>
              <a:t>	</a:t>
            </a:r>
          </a:p>
          <a:p>
            <a:pPr lvl="1" eaLnBrk="1" hangingPunct="1">
              <a:buFont typeface="Lucida Grande" panose="020B0600040502020204" pitchFamily="34" charset="0"/>
              <a:buNone/>
            </a:pPr>
            <a:endParaRPr lang="en-US" altLang="en-US">
              <a:latin typeface="Lucida Bright" panose="02040602050505020304" pitchFamily="18" charset="77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87247BF-3301-714C-A9F1-79ABA6106DC1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Lucida Bright" panose="02040602050505020304" pitchFamily="18" charset="77"/>
              </a:rPr>
              <a:t>Motivation</a:t>
            </a:r>
          </a:p>
        </p:txBody>
      </p:sp>
    </p:spTree>
  </p:cSld>
  <p:clrMapOvr>
    <a:masterClrMapping/>
  </p:clrMapOvr>
  <p:transition advTm="65949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Content Placeholder 2">
            <a:extLst>
              <a:ext uri="{FF2B5EF4-FFF2-40B4-BE49-F238E27FC236}">
                <a16:creationId xmlns:a16="http://schemas.microsoft.com/office/drawing/2014/main" id="{516DFFDF-8B09-B943-8A49-771BAC351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5211763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Sudden growth in smartphone industry</a:t>
            </a:r>
          </a:p>
          <a:p>
            <a:pPr lvl="1" eaLnBrk="1" hangingPunct="1"/>
            <a:r>
              <a:rPr lang="en-US" altLang="en-US" dirty="0">
                <a:latin typeface="Lucida Bright" panose="02040602050505020304" pitchFamily="18" charset="77"/>
              </a:rPr>
              <a:t>Localization technology caught unprepared</a:t>
            </a:r>
          </a:p>
          <a:p>
            <a:pPr lvl="1" eaLnBrk="1" hangingPunct="1"/>
            <a:r>
              <a:rPr lang="en-US" altLang="en-US" dirty="0">
                <a:latin typeface="Lucida Bright" panose="02040602050505020304" pitchFamily="18" charset="77"/>
              </a:rPr>
              <a:t>Industry viewing location as “address” for content delivery</a:t>
            </a:r>
          </a:p>
          <a:p>
            <a:pPr lvl="1" eaLnBrk="1" hangingPunct="1">
              <a:buFont typeface="Lucida Grande" panose="020B0600040502020204" pitchFamily="34" charset="0"/>
              <a:buNone/>
            </a:pPr>
            <a:endParaRPr lang="en-US" altLang="en-US" dirty="0">
              <a:latin typeface="Lucida Bright" panose="02040602050505020304" pitchFamily="18" charset="77"/>
            </a:endParaRPr>
          </a:p>
          <a:p>
            <a:pPr lvl="1" eaLnBrk="1" hangingPunct="1">
              <a:buFont typeface="Lucida Grande" panose="020B0600040502020204" pitchFamily="34" charset="0"/>
              <a:buNone/>
            </a:pPr>
            <a:r>
              <a:rPr lang="en-US" altLang="en-US" dirty="0">
                <a:latin typeface="Lucida Bright" panose="02040602050505020304" pitchFamily="18" charset="77"/>
              </a:rPr>
              <a:t>	</a:t>
            </a:r>
          </a:p>
          <a:p>
            <a:pPr lvl="1" eaLnBrk="1" hangingPunct="1">
              <a:buFont typeface="Lucida Grande" panose="020B0600040502020204" pitchFamily="34" charset="0"/>
              <a:buNone/>
            </a:pPr>
            <a:endParaRPr lang="en-US" altLang="en-US" dirty="0">
              <a:latin typeface="Lucida Bright" panose="02040602050505020304" pitchFamily="18" charset="77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6E05A9DE-A4B4-8A4F-870E-F74A751E24F3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latin typeface="Lucida Bright" panose="02040602050505020304" pitchFamily="18" charset="77"/>
              </a:rPr>
              <a:t>Motivation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D8B443-3A72-AC49-8251-225242D85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702555"/>
            <a:ext cx="4389550" cy="26580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EF00ED-6FB5-B546-BAFA-13E7FD9693FB}"/>
              </a:ext>
            </a:extLst>
          </p:cNvPr>
          <p:cNvSpPr txBox="1"/>
          <p:nvPr/>
        </p:nvSpPr>
        <p:spPr>
          <a:xfrm>
            <a:off x="208258" y="2623809"/>
            <a:ext cx="88036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Localization based advertising dollars grew from $12 billion in 2016 to $32 billion in 2021,  climbing  to 45 percent of overall mobile ad revenue by 2020, reports local marketing and analyst firm BIA Kelsey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93536"/>
      </p:ext>
    </p:extLst>
  </p:cSld>
  <p:clrMapOvr>
    <a:masterClrMapping/>
  </p:clrMapOvr>
  <p:transition advTm="7894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A06568-DDCD-784B-9A4A-E28C36B66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743200"/>
            <a:ext cx="6324600" cy="1676400"/>
          </a:xfrm>
          <a:prstGeom prst="rect">
            <a:avLst/>
          </a:prstGeom>
          <a:solidFill>
            <a:srgbClr val="FFCC66"/>
          </a:solidFill>
          <a:ln w="57150">
            <a:solidFill>
              <a:srgbClr val="FFCC66"/>
            </a:solidFill>
            <a:round/>
            <a:headEnd/>
            <a:tailEnd/>
          </a:ln>
          <a:effectLst>
            <a:outerShdw blurRad="50800" dist="38100" dir="2700000" rotWithShape="0">
              <a:srgbClr val="808080">
                <a:alpha val="42998"/>
              </a:srgbClr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algn="ctr" eaLnBrk="1" hangingPunct="1">
              <a:buClrTx/>
              <a:buSzTx/>
              <a:buFont typeface="Wingdings" pitchFamily="2" charset="2"/>
              <a:buNone/>
            </a:pPr>
            <a:endParaRPr lang="en-US" altLang="en-US"/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r>
              <a:rPr lang="en-US" altLang="en-US"/>
              <a:t>Isn’t today’s technology, </a:t>
            </a:r>
          </a:p>
          <a:p>
            <a:pPr algn="ctr" eaLnBrk="1" hangingPunct="1">
              <a:buClrTx/>
              <a:buSzTx/>
              <a:buFont typeface="Wingdings" pitchFamily="2" charset="2"/>
              <a:buNone/>
            </a:pPr>
            <a:r>
              <a:rPr lang="en-US" altLang="en-US"/>
              <a:t>such as GPS, adequate?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DADAA762-11BF-AE4B-93E8-FFDDABF1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Apps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E38BB2C-3F44-044E-9562-E29442BCF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990600"/>
            <a:ext cx="8305800" cy="5211763"/>
          </a:xfrm>
        </p:spPr>
        <p:txBody>
          <a:bodyPr/>
          <a:lstStyle/>
          <a:p>
            <a:pPr lvl="1"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Information about paintings in museums</a:t>
            </a:r>
          </a:p>
          <a:p>
            <a:pPr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Targeted ads in Starbucks, </a:t>
            </a:r>
            <a:r>
              <a:rPr lang="en-US" altLang="en-US" dirty="0" err="1">
                <a:latin typeface="Lucida Bright" panose="02040602050505020304" pitchFamily="18" charset="77"/>
              </a:rPr>
              <a:t>Wal-mart</a:t>
            </a:r>
            <a:r>
              <a:rPr lang="en-US" altLang="en-US" dirty="0">
                <a:latin typeface="Lucida Bright" panose="02040602050505020304" pitchFamily="18" charset="77"/>
              </a:rPr>
              <a:t> </a:t>
            </a:r>
          </a:p>
          <a:p>
            <a:pPr marL="0" indent="0" eaLnBrk="1" hangingPunct="1">
              <a:buNone/>
            </a:pPr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Access files only from this room </a:t>
            </a:r>
          </a:p>
          <a:p>
            <a:pPr lvl="1"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Walking directions in shopping malls </a:t>
            </a:r>
          </a:p>
          <a:p>
            <a:pPr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Reminders when passing a library</a:t>
            </a:r>
          </a:p>
          <a:p>
            <a:pPr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lvl="1"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lvl="1" eaLnBrk="1" hangingPunct="1">
              <a:buFont typeface="Lucida Grande" panose="020B0600040502020204" pitchFamily="34" charset="0"/>
              <a:buNone/>
            </a:pPr>
            <a:r>
              <a:rPr lang="en-US" altLang="en-US" dirty="0">
                <a:latin typeface="Lucida Bright" panose="02040602050505020304" pitchFamily="18" charset="77"/>
              </a:rPr>
              <a:t>	</a:t>
            </a:r>
          </a:p>
        </p:txBody>
      </p:sp>
      <p:pic>
        <p:nvPicPr>
          <p:cNvPr id="25602" name="Picture 3">
            <a:extLst>
              <a:ext uri="{FF2B5EF4-FFF2-40B4-BE49-F238E27FC236}">
                <a16:creationId xmlns:a16="http://schemas.microsoft.com/office/drawing/2014/main" id="{765E4440-0E42-1040-865B-737A54A07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550" y="3770312"/>
            <a:ext cx="1066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6">
            <a:extLst>
              <a:ext uri="{FF2B5EF4-FFF2-40B4-BE49-F238E27FC236}">
                <a16:creationId xmlns:a16="http://schemas.microsoft.com/office/drawing/2014/main" id="{5E576DFE-6C65-F145-BA78-3E3D2B963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2079229"/>
            <a:ext cx="89535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7">
            <a:extLst>
              <a:ext uri="{FF2B5EF4-FFF2-40B4-BE49-F238E27FC236}">
                <a16:creationId xmlns:a16="http://schemas.microsoft.com/office/drawing/2014/main" id="{16E068AA-AD41-B341-A119-628D7C8035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334690"/>
            <a:ext cx="8255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11">
            <a:extLst>
              <a:ext uri="{FF2B5EF4-FFF2-40B4-BE49-F238E27FC236}">
                <a16:creationId xmlns:a16="http://schemas.microsoft.com/office/drawing/2014/main" id="{67E11C76-ABCA-DC4F-ABEB-1346D0E65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200" y="4592241"/>
            <a:ext cx="10033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0">
            <a:extLst>
              <a:ext uri="{FF2B5EF4-FFF2-40B4-BE49-F238E27FC236}">
                <a16:creationId xmlns:a16="http://schemas.microsoft.com/office/drawing/2014/main" id="{5ED2A085-B28C-7143-A496-3FC82AFEC2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814241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683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DADAA762-11BF-AE4B-93E8-FFDDABF1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Apps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E38BB2C-3F44-044E-9562-E29442BCF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990600"/>
            <a:ext cx="8305800" cy="5211763"/>
          </a:xfrm>
        </p:spPr>
        <p:txBody>
          <a:bodyPr/>
          <a:lstStyle/>
          <a:p>
            <a:pPr lvl="1"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Information about paintings in museums</a:t>
            </a:r>
          </a:p>
          <a:p>
            <a:pPr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Targeted ads in Starbucks, </a:t>
            </a:r>
            <a:r>
              <a:rPr lang="en-US" altLang="en-US" dirty="0" err="1">
                <a:latin typeface="Lucida Bright" panose="02040602050505020304" pitchFamily="18" charset="77"/>
              </a:rPr>
              <a:t>Wal-mart</a:t>
            </a:r>
            <a:r>
              <a:rPr lang="en-US" altLang="en-US" dirty="0">
                <a:latin typeface="Lucida Bright" panose="02040602050505020304" pitchFamily="18" charset="77"/>
              </a:rPr>
              <a:t> </a:t>
            </a:r>
          </a:p>
          <a:p>
            <a:pPr marL="0" indent="0" eaLnBrk="1" hangingPunct="1">
              <a:buNone/>
            </a:pPr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Access files only from this room </a:t>
            </a:r>
          </a:p>
          <a:p>
            <a:pPr lvl="1"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Walking directions in shopping malls </a:t>
            </a:r>
          </a:p>
          <a:p>
            <a:pPr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Reminders when passing a library</a:t>
            </a: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.</a:t>
            </a: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.</a:t>
            </a:r>
          </a:p>
          <a:p>
            <a:pPr eaLnBrk="1" hangingPunct="1"/>
            <a:r>
              <a:rPr lang="en-US" altLang="en-US" dirty="0">
                <a:latin typeface="Lucida Bright" panose="02040602050505020304" pitchFamily="18" charset="77"/>
              </a:rPr>
              <a:t>Information about visible objects </a:t>
            </a:r>
            <a:r>
              <a:rPr lang="en-US" altLang="en-US" sz="1600" dirty="0">
                <a:latin typeface="Lucida Bright" panose="02040602050505020304" pitchFamily="18" charset="77"/>
              </a:rPr>
              <a:t>(augmented reality)</a:t>
            </a:r>
            <a:endParaRPr lang="en-US" altLang="en-US" dirty="0">
              <a:latin typeface="Lucida Bright" panose="02040602050505020304" pitchFamily="18" charset="77"/>
            </a:endParaRPr>
          </a:p>
          <a:p>
            <a:pPr marL="0" indent="0" eaLnBrk="1" hangingPunct="1">
              <a:buNone/>
            </a:pPr>
            <a:endParaRPr lang="en-US" altLang="en-US" dirty="0">
              <a:latin typeface="Lucida Bright" panose="02040602050505020304" pitchFamily="18" charset="77"/>
            </a:endParaRPr>
          </a:p>
          <a:p>
            <a:pPr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lvl="1" eaLnBrk="1" hangingPunct="1"/>
            <a:endParaRPr lang="en-US" altLang="en-US" dirty="0">
              <a:latin typeface="Lucida Bright" panose="02040602050505020304" pitchFamily="18" charset="77"/>
            </a:endParaRPr>
          </a:p>
          <a:p>
            <a:pPr lvl="1" eaLnBrk="1" hangingPunct="1">
              <a:buFont typeface="Lucida Grande" panose="020B0600040502020204" pitchFamily="34" charset="0"/>
              <a:buNone/>
            </a:pPr>
            <a:r>
              <a:rPr lang="en-US" altLang="en-US" dirty="0">
                <a:latin typeface="Lucida Bright" panose="02040602050505020304" pitchFamily="18" charset="77"/>
              </a:rPr>
              <a:t>	</a:t>
            </a:r>
          </a:p>
        </p:txBody>
      </p:sp>
      <p:pic>
        <p:nvPicPr>
          <p:cNvPr id="25602" name="Picture 3">
            <a:extLst>
              <a:ext uri="{FF2B5EF4-FFF2-40B4-BE49-F238E27FC236}">
                <a16:creationId xmlns:a16="http://schemas.microsoft.com/office/drawing/2014/main" id="{765E4440-0E42-1040-865B-737A54A071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550" y="3770312"/>
            <a:ext cx="1066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6">
            <a:extLst>
              <a:ext uri="{FF2B5EF4-FFF2-40B4-BE49-F238E27FC236}">
                <a16:creationId xmlns:a16="http://schemas.microsoft.com/office/drawing/2014/main" id="{5E576DFE-6C65-F145-BA78-3E3D2B9633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2079229"/>
            <a:ext cx="895350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7">
            <a:extLst>
              <a:ext uri="{FF2B5EF4-FFF2-40B4-BE49-F238E27FC236}">
                <a16:creationId xmlns:a16="http://schemas.microsoft.com/office/drawing/2014/main" id="{16E068AA-AD41-B341-A119-628D7C8035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334690"/>
            <a:ext cx="8255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11">
            <a:extLst>
              <a:ext uri="{FF2B5EF4-FFF2-40B4-BE49-F238E27FC236}">
                <a16:creationId xmlns:a16="http://schemas.microsoft.com/office/drawing/2014/main" id="{67E11C76-ABCA-DC4F-ABEB-1346D0E65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200" y="4592241"/>
            <a:ext cx="10033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10">
            <a:extLst>
              <a:ext uri="{FF2B5EF4-FFF2-40B4-BE49-F238E27FC236}">
                <a16:creationId xmlns:a16="http://schemas.microsoft.com/office/drawing/2014/main" id="{5ED2A085-B28C-7143-A496-3FC82AFEC2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814241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6846951"/>
      </p:ext>
    </p:extLst>
  </p:cSld>
  <p:clrMapOvr>
    <a:masterClrMapping/>
  </p:clrMapOvr>
  <p:transition advTm="683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7">
            <a:extLst>
              <a:ext uri="{FF2B5EF4-FFF2-40B4-BE49-F238E27FC236}">
                <a16:creationId xmlns:a16="http://schemas.microsoft.com/office/drawing/2014/main" id="{77A9DE40-D1BB-9245-B6DA-42EAC190C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4920F2-52F6-0A41-BB5B-E27B7E04D2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43"/>
          <a:stretch>
            <a:fillRect/>
          </a:stretch>
        </p:blipFill>
        <p:spPr bwMode="auto">
          <a:xfrm>
            <a:off x="4705350" y="217488"/>
            <a:ext cx="3651250" cy="246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2">
            <a:extLst>
              <a:ext uri="{FF2B5EF4-FFF2-40B4-BE49-F238E27FC236}">
                <a16:creationId xmlns:a16="http://schemas.microsoft.com/office/drawing/2014/main" id="{C65922E5-5F4A-874F-9084-F51EFC0651F5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826294" y="1296193"/>
            <a:ext cx="2743200" cy="5357813"/>
            <a:chOff x="5638800" y="1219201"/>
            <a:chExt cx="2743200" cy="535834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4A1016F-0FC4-B449-B14C-621370F8D018}"/>
                </a:ext>
              </a:extLst>
            </p:cNvPr>
            <p:cNvSpPr/>
            <p:nvPr/>
          </p:nvSpPr>
          <p:spPr>
            <a:xfrm>
              <a:off x="5791200" y="2047959"/>
              <a:ext cx="2438400" cy="3819901"/>
            </a:xfrm>
            <a:prstGeom prst="rect">
              <a:avLst/>
            </a:prstGeom>
            <a:solidFill>
              <a:schemeClr val="bg1">
                <a:alpha val="18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spcBef>
                  <a:spcPct val="20000"/>
                </a:spcBef>
                <a:buFont typeface="Wingdings" charset="2"/>
                <a:buChar char="•"/>
                <a:defRPr/>
              </a:pPr>
              <a:endParaRPr lang="en-US">
                <a:latin typeface="Lucida Bright"/>
              </a:endParaRPr>
            </a:p>
          </p:txBody>
        </p:sp>
        <p:pic>
          <p:nvPicPr>
            <p:cNvPr id="29708" name="Picture 9" descr="iphone_see_through.png">
              <a:extLst>
                <a:ext uri="{FF2B5EF4-FFF2-40B4-BE49-F238E27FC236}">
                  <a16:creationId xmlns:a16="http://schemas.microsoft.com/office/drawing/2014/main" id="{8933C65B-910D-454B-8318-346DFA489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31"/>
            <a:stretch>
              <a:fillRect/>
            </a:stretch>
          </p:blipFill>
          <p:spPr bwMode="auto">
            <a:xfrm>
              <a:off x="5638800" y="1219201"/>
              <a:ext cx="2743200" cy="5358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0A480DA-0C82-674F-B974-9A7FB0EDACAA}"/>
              </a:ext>
            </a:extLst>
          </p:cNvPr>
          <p:cNvSpPr/>
          <p:nvPr/>
        </p:nvSpPr>
        <p:spPr>
          <a:xfrm>
            <a:off x="5063853" y="2067580"/>
            <a:ext cx="29371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Font typeface="Wingdings" charset="2"/>
              <a:buNone/>
              <a:defRPr/>
            </a:pP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  <a:latin typeface="+mj-lt"/>
              </a:rPr>
              <a:t>207 Coast Road</a:t>
            </a:r>
          </a:p>
        </p:txBody>
      </p:sp>
      <p:grpSp>
        <p:nvGrpSpPr>
          <p:cNvPr id="4" name="Group 15">
            <a:extLst>
              <a:ext uri="{FF2B5EF4-FFF2-40B4-BE49-F238E27FC236}">
                <a16:creationId xmlns:a16="http://schemas.microsoft.com/office/drawing/2014/main" id="{5D084ECF-3105-2748-8DEC-ABDF7A4BC276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381000"/>
            <a:ext cx="1981200" cy="990600"/>
            <a:chOff x="5867400" y="1872153"/>
            <a:chExt cx="1981200" cy="990600"/>
          </a:xfrm>
        </p:grpSpPr>
        <p:pic>
          <p:nvPicPr>
            <p:cNvPr id="29705" name="Picture 6">
              <a:extLst>
                <a:ext uri="{FF2B5EF4-FFF2-40B4-BE49-F238E27FC236}">
                  <a16:creationId xmlns:a16="http://schemas.microsoft.com/office/drawing/2014/main" id="{72F9E1A6-F982-404D-B3AE-03625A8AA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4200" y="1948353"/>
              <a:ext cx="9144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C0DB87-87BD-5541-A7E8-6A0CDE498962}"/>
                </a:ext>
              </a:extLst>
            </p:cNvPr>
            <p:cNvSpPr/>
            <p:nvPr/>
          </p:nvSpPr>
          <p:spPr>
            <a:xfrm>
              <a:off x="5867400" y="1872153"/>
              <a:ext cx="1510349" cy="584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20000"/>
                </a:spcBef>
                <a:buFont typeface="Wingdings" charset="2"/>
                <a:buNone/>
                <a:defRPr/>
              </a:pPr>
              <a:r>
                <a:rPr lang="en-US" sz="3200" b="1" dirty="0">
                  <a:ln>
                    <a:solidFill>
                      <a:schemeClr val="tx2">
                        <a:lumMod val="75000"/>
                      </a:schemeClr>
                    </a:solidFill>
                  </a:ln>
                  <a:solidFill>
                    <a:srgbClr val="0CDC24"/>
                  </a:solidFill>
                  <a:latin typeface="Comic Sans MS" charset="0"/>
                </a:rPr>
                <a:t>$7.8M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13EE88-4008-DA45-96B9-2B81382C10CE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550863"/>
            <a:ext cx="2362200" cy="1658937"/>
            <a:chOff x="3048000" y="169446"/>
            <a:chExt cx="2362200" cy="1659354"/>
          </a:xfrm>
        </p:grpSpPr>
        <p:sp>
          <p:nvSpPr>
            <p:cNvPr id="2" name="Cloud Callout 1">
              <a:extLst>
                <a:ext uri="{FF2B5EF4-FFF2-40B4-BE49-F238E27FC236}">
                  <a16:creationId xmlns:a16="http://schemas.microsoft.com/office/drawing/2014/main" id="{0C7078FD-FD4B-A149-81F8-C0F8F6FBF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169446"/>
              <a:ext cx="2362200" cy="1659354"/>
            </a:xfrm>
            <a:prstGeom prst="cloudCallout">
              <a:avLst>
                <a:gd name="adj1" fmla="val 85449"/>
                <a:gd name="adj2" fmla="val 12667"/>
              </a:avLst>
            </a:prstGeom>
            <a:gradFill rotWithShape="1">
              <a:gsLst>
                <a:gs pos="0">
                  <a:srgbClr val="EDEDED"/>
                </a:gs>
                <a:gs pos="64999">
                  <a:srgbClr val="D0D0D0"/>
                </a:gs>
                <a:gs pos="100000">
                  <a:srgbClr val="BCBCBC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3600" b="1">
                <a:solidFill>
                  <a:srgbClr val="000000"/>
                </a:solidFill>
              </a:endParaRPr>
            </a:p>
          </p:txBody>
        </p:sp>
        <p:sp>
          <p:nvSpPr>
            <p:cNvPr id="29704" name="Rectangle 2">
              <a:extLst>
                <a:ext uri="{FF2B5EF4-FFF2-40B4-BE49-F238E27FC236}">
                  <a16:creationId xmlns:a16="http://schemas.microsoft.com/office/drawing/2014/main" id="{B850129E-B8EA-124E-BA95-D2DD7112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457199"/>
              <a:ext cx="1752600" cy="923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algn="ctr"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800" i="1"/>
                <a:t>I wonder how much it costs to live there!</a:t>
              </a:r>
            </a:p>
          </p:txBody>
        </p:sp>
      </p:grpSp>
    </p:spTree>
    <p:custDataLst>
      <p:tags r:id="rId1"/>
    </p:custDataLst>
  </p:cSld>
  <p:clrMapOvr>
    <a:masterClrMapping/>
  </p:clrMapOvr>
  <p:transition advTm="1114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0.4665 -0.35533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316" y="-17778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6D7E3119-1B4F-0843-9EA7-17D806FA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Enabling Technology</a:t>
            </a:r>
          </a:p>
        </p:txBody>
      </p:sp>
      <p:grpSp>
        <p:nvGrpSpPr>
          <p:cNvPr id="31746" name="Group 13">
            <a:extLst>
              <a:ext uri="{FF2B5EF4-FFF2-40B4-BE49-F238E27FC236}">
                <a16:creationId xmlns:a16="http://schemas.microsoft.com/office/drawing/2014/main" id="{13DDA27F-D54F-E34A-B4EC-38051A1E61B0}"/>
              </a:ext>
            </a:extLst>
          </p:cNvPr>
          <p:cNvGrpSpPr>
            <a:grpSpLocks/>
          </p:cNvGrpSpPr>
          <p:nvPr/>
        </p:nvGrpSpPr>
        <p:grpSpPr bwMode="auto">
          <a:xfrm>
            <a:off x="234950" y="2667000"/>
            <a:ext cx="8680450" cy="714375"/>
            <a:chOff x="326717" y="2958068"/>
            <a:chExt cx="8588683" cy="714177"/>
          </a:xfrm>
        </p:grpSpPr>
        <p:sp>
          <p:nvSpPr>
            <p:cNvPr id="31749" name="Rectangle 63">
              <a:extLst>
                <a:ext uri="{FF2B5EF4-FFF2-40B4-BE49-F238E27FC236}">
                  <a16:creationId xmlns:a16="http://schemas.microsoft.com/office/drawing/2014/main" id="{ABFE49C7-E886-0B4D-869A-7030F1D32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17" y="3364468"/>
              <a:ext cx="16530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Localization</a:t>
              </a:r>
            </a:p>
          </p:txBody>
        </p:sp>
        <p:sp>
          <p:nvSpPr>
            <p:cNvPr id="31750" name="Line 62">
              <a:extLst>
                <a:ext uri="{FF2B5EF4-FFF2-40B4-BE49-F238E27FC236}">
                  <a16:creationId xmlns:a16="http://schemas.microsoft.com/office/drawing/2014/main" id="{E9FF5C8D-180A-4D48-8965-155F64FAF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99" y="3364468"/>
              <a:ext cx="85344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1" name="Rectangle 63">
              <a:extLst>
                <a:ext uri="{FF2B5EF4-FFF2-40B4-BE49-F238E27FC236}">
                  <a16:creationId xmlns:a16="http://schemas.microsoft.com/office/drawing/2014/main" id="{11C855A7-36C8-A74E-9F8C-A2250CD53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55" y="2958068"/>
              <a:ext cx="1212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Apps</a:t>
              </a:r>
            </a:p>
          </p:txBody>
        </p:sp>
      </p:grpSp>
      <p:pic>
        <p:nvPicPr>
          <p:cNvPr id="31747" name="Picture 48">
            <a:extLst>
              <a:ext uri="{FF2B5EF4-FFF2-40B4-BE49-F238E27FC236}">
                <a16:creationId xmlns:a16="http://schemas.microsoft.com/office/drawing/2014/main" id="{B24BF5BD-DDBC-884B-B86F-A15775FCD1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075" y="1219200"/>
            <a:ext cx="2286000" cy="171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49">
            <a:extLst>
              <a:ext uri="{FF2B5EF4-FFF2-40B4-BE49-F238E27FC236}">
                <a16:creationId xmlns:a16="http://schemas.microsoft.com/office/drawing/2014/main" id="{585187E9-8DF2-8442-8189-3AB698DDB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1255713"/>
            <a:ext cx="2471737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7633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E5E332BE-3BD2-6F45-B2E0-E8EFEE2D0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Enabling Technology</a:t>
            </a:r>
          </a:p>
        </p:txBody>
      </p:sp>
      <p:grpSp>
        <p:nvGrpSpPr>
          <p:cNvPr id="32770" name="Group 13">
            <a:extLst>
              <a:ext uri="{FF2B5EF4-FFF2-40B4-BE49-F238E27FC236}">
                <a16:creationId xmlns:a16="http://schemas.microsoft.com/office/drawing/2014/main" id="{518CE13E-1ADF-CA43-AE83-B45F755CE504}"/>
              </a:ext>
            </a:extLst>
          </p:cNvPr>
          <p:cNvGrpSpPr>
            <a:grpSpLocks/>
          </p:cNvGrpSpPr>
          <p:nvPr/>
        </p:nvGrpSpPr>
        <p:grpSpPr bwMode="auto">
          <a:xfrm>
            <a:off x="234950" y="2667000"/>
            <a:ext cx="8680450" cy="714375"/>
            <a:chOff x="326717" y="2958068"/>
            <a:chExt cx="8588683" cy="714177"/>
          </a:xfrm>
        </p:grpSpPr>
        <p:sp>
          <p:nvSpPr>
            <p:cNvPr id="32780" name="Rectangle 63">
              <a:extLst>
                <a:ext uri="{FF2B5EF4-FFF2-40B4-BE49-F238E27FC236}">
                  <a16:creationId xmlns:a16="http://schemas.microsoft.com/office/drawing/2014/main" id="{247340F9-CCBB-E54A-85AC-67FA87A1B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17" y="3364468"/>
              <a:ext cx="16530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Localization</a:t>
              </a:r>
            </a:p>
          </p:txBody>
        </p:sp>
        <p:sp>
          <p:nvSpPr>
            <p:cNvPr id="32781" name="Line 62">
              <a:extLst>
                <a:ext uri="{FF2B5EF4-FFF2-40B4-BE49-F238E27FC236}">
                  <a16:creationId xmlns:a16="http://schemas.microsoft.com/office/drawing/2014/main" id="{73B54CFB-46DC-C649-97CD-AF6440BA2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99" y="3364468"/>
              <a:ext cx="85344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2" name="Rectangle 63">
              <a:extLst>
                <a:ext uri="{FF2B5EF4-FFF2-40B4-BE49-F238E27FC236}">
                  <a16:creationId xmlns:a16="http://schemas.microsoft.com/office/drawing/2014/main" id="{25EE4EC9-CF17-E047-B8CD-364C8CA76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55" y="2958068"/>
              <a:ext cx="1212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Apps</a:t>
              </a:r>
            </a:p>
          </p:txBody>
        </p:sp>
      </p:grpSp>
      <p:grpSp>
        <p:nvGrpSpPr>
          <p:cNvPr id="32771" name="Group 52">
            <a:extLst>
              <a:ext uri="{FF2B5EF4-FFF2-40B4-BE49-F238E27FC236}">
                <a16:creationId xmlns:a16="http://schemas.microsoft.com/office/drawing/2014/main" id="{B5E5D2AF-E1DF-8F4B-89C4-01CD00B7CCB5}"/>
              </a:ext>
            </a:extLst>
          </p:cNvPr>
          <p:cNvGrpSpPr>
            <a:grpSpLocks/>
          </p:cNvGrpSpPr>
          <p:nvPr/>
        </p:nvGrpSpPr>
        <p:grpSpPr bwMode="auto">
          <a:xfrm>
            <a:off x="1971675" y="1219200"/>
            <a:ext cx="4343400" cy="4440238"/>
            <a:chOff x="2438400" y="1219200"/>
            <a:chExt cx="4343400" cy="4439851"/>
          </a:xfrm>
        </p:grpSpPr>
        <p:pic>
          <p:nvPicPr>
            <p:cNvPr id="32772" name="Picture 53">
              <a:extLst>
                <a:ext uri="{FF2B5EF4-FFF2-40B4-BE49-F238E27FC236}">
                  <a16:creationId xmlns:a16="http://schemas.microsoft.com/office/drawing/2014/main" id="{2A7EC70B-1E4F-5C45-A605-428D5D3BD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1219200"/>
              <a:ext cx="2286000" cy="1712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73" name="Picture 54">
              <a:extLst>
                <a:ext uri="{FF2B5EF4-FFF2-40B4-BE49-F238E27FC236}">
                  <a16:creationId xmlns:a16="http://schemas.microsoft.com/office/drawing/2014/main" id="{78517D63-B01D-6046-B337-7C982CB81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2420" y="1255094"/>
              <a:ext cx="2470580" cy="1619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774" name="Group 33">
              <a:extLst>
                <a:ext uri="{FF2B5EF4-FFF2-40B4-BE49-F238E27FC236}">
                  <a16:creationId xmlns:a16="http://schemas.microsoft.com/office/drawing/2014/main" id="{A712E178-B537-D743-A193-117E6BD965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8400" y="3187700"/>
              <a:ext cx="4279900" cy="2471351"/>
              <a:chOff x="1968500" y="3200400"/>
              <a:chExt cx="4279900" cy="2471351"/>
            </a:xfrm>
          </p:grpSpPr>
          <p:sp>
            <p:nvSpPr>
              <p:cNvPr id="59" name="Rectangle 51">
                <a:extLst>
                  <a:ext uri="{FF2B5EF4-FFF2-40B4-BE49-F238E27FC236}">
                    <a16:creationId xmlns:a16="http://schemas.microsoft.com/office/drawing/2014/main" id="{9DAD7415-4320-6240-B3D6-03D72E76F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500" y="3200228"/>
                <a:ext cx="4279900" cy="2471523"/>
              </a:xfrm>
              <a:prstGeom prst="rect">
                <a:avLst/>
              </a:prstGeom>
              <a:solidFill>
                <a:srgbClr val="CC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2000"/>
              </a:p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2000"/>
              </a:p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1600">
                  <a:latin typeface="Comic Sans MS" panose="030F0902030302020204" pitchFamily="66" charset="0"/>
                </a:endParaRPr>
              </a:p>
            </p:txBody>
          </p:sp>
          <p:sp>
            <p:nvSpPr>
              <p:cNvPr id="60" name="Rectangle 54">
                <a:extLst>
                  <a:ext uri="{FF2B5EF4-FFF2-40B4-BE49-F238E27FC236}">
                    <a16:creationId xmlns:a16="http://schemas.microsoft.com/office/drawing/2014/main" id="{3F8CACDE-04EE-D645-9EC3-72A8E108C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00" y="3309756"/>
                <a:ext cx="3670300" cy="4952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1. Outdoor Continuous</a:t>
                </a:r>
              </a:p>
            </p:txBody>
          </p:sp>
          <p:sp>
            <p:nvSpPr>
              <p:cNvPr id="61" name="Rectangle 54">
                <a:extLst>
                  <a:ext uri="{FF2B5EF4-FFF2-40B4-BE49-F238E27FC236}">
                    <a16:creationId xmlns:a16="http://schemas.microsoft.com/office/drawing/2014/main" id="{5D9DA7C3-94D9-134A-BEE8-C28767FCE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00" y="3903430"/>
                <a:ext cx="3060700" cy="4936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2. Indoor Semantic</a:t>
                </a:r>
              </a:p>
            </p:txBody>
          </p:sp>
          <p:sp>
            <p:nvSpPr>
              <p:cNvPr id="62" name="Rectangle 54">
                <a:extLst>
                  <a:ext uri="{FF2B5EF4-FFF2-40B4-BE49-F238E27FC236}">
                    <a16:creationId xmlns:a16="http://schemas.microsoft.com/office/drawing/2014/main" id="{9E790129-8B9B-0041-889B-5166A80A2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00" y="4495515"/>
                <a:ext cx="3822700" cy="4936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3. High Precision Indoor</a:t>
                </a:r>
              </a:p>
            </p:txBody>
          </p:sp>
          <p:sp>
            <p:nvSpPr>
              <p:cNvPr id="63" name="Rectangle 54">
                <a:extLst>
                  <a:ext uri="{FF2B5EF4-FFF2-40B4-BE49-F238E27FC236}">
                    <a16:creationId xmlns:a16="http://schemas.microsoft.com/office/drawing/2014/main" id="{1EA4F52F-0116-2D49-8CD5-6BE5F85E42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00" y="5105062"/>
                <a:ext cx="3365500" cy="4571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4. Object localization</a:t>
                </a:r>
              </a:p>
            </p:txBody>
          </p:sp>
        </p:grpSp>
      </p:grpSp>
    </p:spTree>
  </p:cSld>
  <p:clrMapOvr>
    <a:masterClrMapping/>
  </p:clrMapOvr>
  <p:transition advTm="39516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40462EFC-D4A9-0240-A9B6-C77E317F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Enabling Technology</a:t>
            </a:r>
          </a:p>
        </p:txBody>
      </p:sp>
      <p:grpSp>
        <p:nvGrpSpPr>
          <p:cNvPr id="33794" name="Group 13">
            <a:extLst>
              <a:ext uri="{FF2B5EF4-FFF2-40B4-BE49-F238E27FC236}">
                <a16:creationId xmlns:a16="http://schemas.microsoft.com/office/drawing/2014/main" id="{926FC013-DEB3-394F-872B-1CC105FA6B56}"/>
              </a:ext>
            </a:extLst>
          </p:cNvPr>
          <p:cNvGrpSpPr>
            <a:grpSpLocks/>
          </p:cNvGrpSpPr>
          <p:nvPr/>
        </p:nvGrpSpPr>
        <p:grpSpPr bwMode="auto">
          <a:xfrm>
            <a:off x="234950" y="2667000"/>
            <a:ext cx="8680450" cy="714375"/>
            <a:chOff x="326717" y="2958068"/>
            <a:chExt cx="8588683" cy="714177"/>
          </a:xfrm>
        </p:grpSpPr>
        <p:sp>
          <p:nvSpPr>
            <p:cNvPr id="33806" name="Rectangle 63">
              <a:extLst>
                <a:ext uri="{FF2B5EF4-FFF2-40B4-BE49-F238E27FC236}">
                  <a16:creationId xmlns:a16="http://schemas.microsoft.com/office/drawing/2014/main" id="{AF1E53DD-6CD1-AE48-B8A9-0F467A698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17" y="3364468"/>
              <a:ext cx="16530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Localization</a:t>
              </a:r>
            </a:p>
          </p:txBody>
        </p:sp>
        <p:sp>
          <p:nvSpPr>
            <p:cNvPr id="33807" name="Line 62">
              <a:extLst>
                <a:ext uri="{FF2B5EF4-FFF2-40B4-BE49-F238E27FC236}">
                  <a16:creationId xmlns:a16="http://schemas.microsoft.com/office/drawing/2014/main" id="{9FB2F75E-BAE3-9A45-B781-775728F21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99" y="3364468"/>
              <a:ext cx="85344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8" name="Rectangle 63">
              <a:extLst>
                <a:ext uri="{FF2B5EF4-FFF2-40B4-BE49-F238E27FC236}">
                  <a16:creationId xmlns:a16="http://schemas.microsoft.com/office/drawing/2014/main" id="{B17A8BBC-1B44-0943-BC65-43A37654A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55" y="2958068"/>
              <a:ext cx="1212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Apps</a:t>
              </a:r>
            </a:p>
          </p:txBody>
        </p:sp>
      </p:grpSp>
      <p:grpSp>
        <p:nvGrpSpPr>
          <p:cNvPr id="33795" name="Group 26">
            <a:extLst>
              <a:ext uri="{FF2B5EF4-FFF2-40B4-BE49-F238E27FC236}">
                <a16:creationId xmlns:a16="http://schemas.microsoft.com/office/drawing/2014/main" id="{6DFF634D-BBB1-B243-8D99-E0600432B69C}"/>
              </a:ext>
            </a:extLst>
          </p:cNvPr>
          <p:cNvGrpSpPr>
            <a:grpSpLocks/>
          </p:cNvGrpSpPr>
          <p:nvPr/>
        </p:nvGrpSpPr>
        <p:grpSpPr bwMode="auto">
          <a:xfrm>
            <a:off x="1971675" y="1219200"/>
            <a:ext cx="7056438" cy="4440238"/>
            <a:chOff x="2438400" y="1219200"/>
            <a:chExt cx="7057425" cy="4439851"/>
          </a:xfrm>
        </p:grpSpPr>
        <p:pic>
          <p:nvPicPr>
            <p:cNvPr id="33796" name="Picture 27">
              <a:extLst>
                <a:ext uri="{FF2B5EF4-FFF2-40B4-BE49-F238E27FC236}">
                  <a16:creationId xmlns:a16="http://schemas.microsoft.com/office/drawing/2014/main" id="{D94D756C-B686-484F-A893-88282C8B7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1219200"/>
              <a:ext cx="2286000" cy="1712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797" name="Picture 29">
              <a:extLst>
                <a:ext uri="{FF2B5EF4-FFF2-40B4-BE49-F238E27FC236}">
                  <a16:creationId xmlns:a16="http://schemas.microsoft.com/office/drawing/2014/main" id="{5030B3E1-9281-454F-9F25-5F9EB5945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2420" y="1255094"/>
              <a:ext cx="2470580" cy="1619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798" name="Group 33">
              <a:extLst>
                <a:ext uri="{FF2B5EF4-FFF2-40B4-BE49-F238E27FC236}">
                  <a16:creationId xmlns:a16="http://schemas.microsoft.com/office/drawing/2014/main" id="{1464CE7C-F18D-3143-8D21-54923CE24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8400" y="3187700"/>
              <a:ext cx="4279900" cy="2471351"/>
              <a:chOff x="1968500" y="3200400"/>
              <a:chExt cx="4279900" cy="2471351"/>
            </a:xfrm>
          </p:grpSpPr>
          <p:sp>
            <p:nvSpPr>
              <p:cNvPr id="36" name="Rectangle 51">
                <a:extLst>
                  <a:ext uri="{FF2B5EF4-FFF2-40B4-BE49-F238E27FC236}">
                    <a16:creationId xmlns:a16="http://schemas.microsoft.com/office/drawing/2014/main" id="{E5B65C36-6F24-3C43-9703-7702F188D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500" y="3200228"/>
                <a:ext cx="4280499" cy="2471523"/>
              </a:xfrm>
              <a:prstGeom prst="rect">
                <a:avLst/>
              </a:prstGeom>
              <a:solidFill>
                <a:srgbClr val="CC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2000"/>
              </a:p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2000"/>
              </a:p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1600">
                  <a:latin typeface="Comic Sans MS" panose="030F0902030302020204" pitchFamily="66" charset="0"/>
                </a:endParaRPr>
              </a:p>
            </p:txBody>
          </p:sp>
          <p:sp>
            <p:nvSpPr>
              <p:cNvPr id="37" name="Rectangle 54">
                <a:extLst>
                  <a:ext uri="{FF2B5EF4-FFF2-40B4-BE49-F238E27FC236}">
                    <a16:creationId xmlns:a16="http://schemas.microsoft.com/office/drawing/2014/main" id="{BDD30F18-0427-774E-BA95-630F6B45AE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3309756"/>
                <a:ext cx="3670814" cy="4952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1. Outdoor Continuous</a:t>
                </a:r>
              </a:p>
            </p:txBody>
          </p:sp>
          <p:sp>
            <p:nvSpPr>
              <p:cNvPr id="38" name="Rectangle 54">
                <a:extLst>
                  <a:ext uri="{FF2B5EF4-FFF2-40B4-BE49-F238E27FC236}">
                    <a16:creationId xmlns:a16="http://schemas.microsoft.com/office/drawing/2014/main" id="{8362AA64-1611-FE4A-8567-3B73D85BB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3903430"/>
                <a:ext cx="3061128" cy="4936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2. Indoor Semantic</a:t>
                </a:r>
              </a:p>
            </p:txBody>
          </p:sp>
          <p:sp>
            <p:nvSpPr>
              <p:cNvPr id="39" name="Rectangle 54">
                <a:extLst>
                  <a:ext uri="{FF2B5EF4-FFF2-40B4-BE49-F238E27FC236}">
                    <a16:creationId xmlns:a16="http://schemas.microsoft.com/office/drawing/2014/main" id="{7CE3F158-82E1-E84D-84D5-A1946535B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4495515"/>
                <a:ext cx="3823235" cy="4936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3. High Precision Indoor</a:t>
                </a:r>
              </a:p>
            </p:txBody>
          </p:sp>
          <p:sp>
            <p:nvSpPr>
              <p:cNvPr id="40" name="Rectangle 54">
                <a:extLst>
                  <a:ext uri="{FF2B5EF4-FFF2-40B4-BE49-F238E27FC236}">
                    <a16:creationId xmlns:a16="http://schemas.microsoft.com/office/drawing/2014/main" id="{1B0DB67F-60C2-E14D-ACDC-C0FAFC5C6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5105062"/>
                <a:ext cx="3365971" cy="4571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4. Object localization</a:t>
                </a:r>
              </a:p>
            </p:txBody>
          </p:sp>
        </p:grpSp>
        <p:sp>
          <p:nvSpPr>
            <p:cNvPr id="33799" name="Curved Left Arrow 33">
              <a:extLst>
                <a:ext uri="{FF2B5EF4-FFF2-40B4-BE49-F238E27FC236}">
                  <a16:creationId xmlns:a16="http://schemas.microsoft.com/office/drawing/2014/main" id="{52C44D81-8EF0-9842-A9A7-2A76871E5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133600"/>
              <a:ext cx="914400" cy="2133600"/>
            </a:xfrm>
            <a:prstGeom prst="curvedLeftArrow">
              <a:avLst>
                <a:gd name="adj1" fmla="val 19023"/>
                <a:gd name="adj2" fmla="val 46505"/>
                <a:gd name="adj3" fmla="val 44606"/>
              </a:avLst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Char char="•"/>
              </a:pPr>
              <a:endParaRPr lang="en-US" altLang="en-US" sz="1800">
                <a:latin typeface="Comic Sans MS" panose="030F0902030302020204" pitchFamily="66" charset="0"/>
              </a:endParaRPr>
            </a:p>
          </p:txBody>
        </p:sp>
        <p:sp>
          <p:nvSpPr>
            <p:cNvPr id="33800" name="TextBox 34">
              <a:extLst>
                <a:ext uri="{FF2B5EF4-FFF2-40B4-BE49-F238E27FC236}">
                  <a16:creationId xmlns:a16="http://schemas.microsoft.com/office/drawing/2014/main" id="{30261471-96DE-8B46-A5F4-2178149BC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5100" y="2184400"/>
              <a:ext cx="1710725" cy="1581971"/>
            </a:xfrm>
            <a:prstGeom prst="rect">
              <a:avLst/>
            </a:prstGeom>
            <a:solidFill>
              <a:srgbClr val="D1D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2000" b="1"/>
                <a:t>Constraints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Accuracy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Energy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Calibration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Infrastructure</a:t>
              </a:r>
            </a:p>
          </p:txBody>
        </p:sp>
      </p:grpSp>
    </p:spTree>
  </p:cSld>
  <p:clrMapOvr>
    <a:masterClrMapping/>
  </p:clrMapOvr>
  <p:transition advTm="34816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D489170B-5CAD-8748-9FAC-3178C26E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Enabling Technology</a:t>
            </a:r>
          </a:p>
        </p:txBody>
      </p:sp>
      <p:grpSp>
        <p:nvGrpSpPr>
          <p:cNvPr id="34818" name="Group 13">
            <a:extLst>
              <a:ext uri="{FF2B5EF4-FFF2-40B4-BE49-F238E27FC236}">
                <a16:creationId xmlns:a16="http://schemas.microsoft.com/office/drawing/2014/main" id="{E6A5B33F-EE54-7F44-99C6-C33DC2FFD241}"/>
              </a:ext>
            </a:extLst>
          </p:cNvPr>
          <p:cNvGrpSpPr>
            <a:grpSpLocks/>
          </p:cNvGrpSpPr>
          <p:nvPr/>
        </p:nvGrpSpPr>
        <p:grpSpPr bwMode="auto">
          <a:xfrm>
            <a:off x="234950" y="2667000"/>
            <a:ext cx="8680450" cy="714375"/>
            <a:chOff x="326717" y="2958068"/>
            <a:chExt cx="8588683" cy="714177"/>
          </a:xfrm>
        </p:grpSpPr>
        <p:sp>
          <p:nvSpPr>
            <p:cNvPr id="34833" name="Rectangle 63">
              <a:extLst>
                <a:ext uri="{FF2B5EF4-FFF2-40B4-BE49-F238E27FC236}">
                  <a16:creationId xmlns:a16="http://schemas.microsoft.com/office/drawing/2014/main" id="{D0A4CFBE-9C7D-4F4D-8E6B-149268EA9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17" y="3364468"/>
              <a:ext cx="16530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Localization</a:t>
              </a:r>
            </a:p>
          </p:txBody>
        </p:sp>
        <p:sp>
          <p:nvSpPr>
            <p:cNvPr id="34834" name="Line 62">
              <a:extLst>
                <a:ext uri="{FF2B5EF4-FFF2-40B4-BE49-F238E27FC236}">
                  <a16:creationId xmlns:a16="http://schemas.microsoft.com/office/drawing/2014/main" id="{7A476AF2-1D69-1B49-96E9-A317BF89A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99" y="3364468"/>
              <a:ext cx="85344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35" name="Rectangle 63">
              <a:extLst>
                <a:ext uri="{FF2B5EF4-FFF2-40B4-BE49-F238E27FC236}">
                  <a16:creationId xmlns:a16="http://schemas.microsoft.com/office/drawing/2014/main" id="{8F49D5B5-126D-714D-B134-B1E008877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55" y="2958068"/>
              <a:ext cx="12128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1400"/>
                <a:t>Apps</a:t>
              </a:r>
            </a:p>
          </p:txBody>
        </p:sp>
      </p:grpSp>
      <p:grpSp>
        <p:nvGrpSpPr>
          <p:cNvPr id="3" name="Group 41">
            <a:extLst>
              <a:ext uri="{FF2B5EF4-FFF2-40B4-BE49-F238E27FC236}">
                <a16:creationId xmlns:a16="http://schemas.microsoft.com/office/drawing/2014/main" id="{A4C83E61-6275-F242-9448-DA10F4B15C91}"/>
              </a:ext>
            </a:extLst>
          </p:cNvPr>
          <p:cNvGrpSpPr/>
          <p:nvPr/>
        </p:nvGrpSpPr>
        <p:grpSpPr>
          <a:xfrm>
            <a:off x="533400" y="5791200"/>
            <a:ext cx="7848600" cy="457200"/>
            <a:chOff x="533400" y="5791200"/>
            <a:chExt cx="7848600" cy="4572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" name="Rectangle 53">
              <a:extLst>
                <a:ext uri="{FF2B5EF4-FFF2-40B4-BE49-F238E27FC236}">
                  <a16:creationId xmlns:a16="http://schemas.microsoft.com/office/drawing/2014/main" id="{B95573E6-AA9A-E047-9C08-7B2440BAE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4900" y="5918886"/>
              <a:ext cx="736600" cy="32951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spcBef>
                  <a:spcPct val="20000"/>
                </a:spcBef>
                <a:buFont typeface="Wingdings" charset="2"/>
                <a:buNone/>
                <a:defRPr/>
              </a:pPr>
              <a:r>
                <a:rPr lang="en-US" sz="1700">
                  <a:latin typeface="Lucida Bright" charset="0"/>
                </a:rPr>
                <a:t>WiFi</a:t>
              </a:r>
            </a:p>
          </p:txBody>
        </p:sp>
        <p:sp>
          <p:nvSpPr>
            <p:cNvPr id="21" name="Rectangle 55">
              <a:extLst>
                <a:ext uri="{FF2B5EF4-FFF2-40B4-BE49-F238E27FC236}">
                  <a16:creationId xmlns:a16="http://schemas.microsoft.com/office/drawing/2014/main" id="{B8291A1A-314F-1F49-A5C9-F3625E355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0100" y="5918886"/>
              <a:ext cx="1092200" cy="32951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spcBef>
                  <a:spcPct val="20000"/>
                </a:spcBef>
                <a:buFont typeface="Wingdings" charset="2"/>
                <a:buNone/>
                <a:defRPr/>
              </a:pPr>
              <a:r>
                <a:rPr lang="en-US" sz="1700">
                  <a:latin typeface="Lucida Bright" charset="0"/>
                </a:rPr>
                <a:t>Camera</a:t>
              </a:r>
            </a:p>
          </p:txBody>
        </p:sp>
        <p:sp>
          <p:nvSpPr>
            <p:cNvPr id="23" name="Rectangle 55">
              <a:extLst>
                <a:ext uri="{FF2B5EF4-FFF2-40B4-BE49-F238E27FC236}">
                  <a16:creationId xmlns:a16="http://schemas.microsoft.com/office/drawing/2014/main" id="{02F5A5CA-B912-BE48-849C-8F3227ADA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0" y="5918886"/>
              <a:ext cx="762000" cy="32951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spcBef>
                  <a:spcPct val="20000"/>
                </a:spcBef>
                <a:buFont typeface="Wingdings" charset="2"/>
                <a:buNone/>
                <a:defRPr/>
              </a:pPr>
              <a:r>
                <a:rPr lang="en-US" sz="1700">
                  <a:latin typeface="Lucida Bright" charset="0"/>
                </a:rPr>
                <a:t>GPS</a:t>
              </a:r>
            </a:p>
          </p:txBody>
        </p:sp>
        <p:sp>
          <p:nvSpPr>
            <p:cNvPr id="24" name="Rectangle 54">
              <a:extLst>
                <a:ext uri="{FF2B5EF4-FFF2-40B4-BE49-F238E27FC236}">
                  <a16:creationId xmlns:a16="http://schemas.microsoft.com/office/drawing/2014/main" id="{D10A01D2-188B-2142-B0EE-561150CB2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5918886"/>
              <a:ext cx="2501900" cy="32951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spcBef>
                  <a:spcPct val="20000"/>
                </a:spcBef>
                <a:buFont typeface="Wingdings" charset="2"/>
                <a:buNone/>
                <a:defRPr/>
              </a:pPr>
              <a:r>
                <a:rPr lang="en-US" sz="1700">
                  <a:latin typeface="Lucida Bright" charset="0"/>
                </a:rPr>
                <a:t>Inertial / Mag. Sensors</a:t>
              </a:r>
            </a:p>
          </p:txBody>
        </p:sp>
        <p:sp>
          <p:nvSpPr>
            <p:cNvPr id="29" name="Rectangle 55">
              <a:extLst>
                <a:ext uri="{FF2B5EF4-FFF2-40B4-BE49-F238E27FC236}">
                  <a16:creationId xmlns:a16="http://schemas.microsoft.com/office/drawing/2014/main" id="{B0B5B133-B51E-E448-A0E0-053D84C0A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7400" y="5918886"/>
              <a:ext cx="711200" cy="32951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>
              <a:outerShdw blurRad="63500"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 eaLnBrk="1" hangingPunct="1">
                <a:spcBef>
                  <a:spcPct val="20000"/>
                </a:spcBef>
                <a:buFont typeface="Wingdings" charset="2"/>
                <a:buNone/>
                <a:defRPr/>
              </a:pPr>
              <a:r>
                <a:rPr lang="en-US" sz="1700">
                  <a:latin typeface="Lucida Bright" charset="0"/>
                </a:rPr>
                <a:t>Mic.</a:t>
              </a:r>
            </a:p>
          </p:txBody>
        </p:sp>
        <p:sp>
          <p:nvSpPr>
            <p:cNvPr id="32" name="Line 62">
              <a:extLst>
                <a:ext uri="{FF2B5EF4-FFF2-40B4-BE49-F238E27FC236}">
                  <a16:creationId xmlns:a16="http://schemas.microsoft.com/office/drawing/2014/main" id="{A0C158FD-B5A5-C24E-A1CD-0B95DE163A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" y="5791200"/>
              <a:ext cx="7848600" cy="0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  <a:buFont typeface="Wingdings" charset="2"/>
                <a:buChar char="•"/>
                <a:defRPr/>
              </a:pPr>
              <a:endParaRPr lang="en-US">
                <a:latin typeface="Comic Sans MS" charset="0"/>
              </a:endParaRPr>
            </a:p>
          </p:txBody>
        </p:sp>
      </p:grpSp>
      <p:grpSp>
        <p:nvGrpSpPr>
          <p:cNvPr id="34820" name="Group 29">
            <a:extLst>
              <a:ext uri="{FF2B5EF4-FFF2-40B4-BE49-F238E27FC236}">
                <a16:creationId xmlns:a16="http://schemas.microsoft.com/office/drawing/2014/main" id="{D8DEE1C3-DBDE-D94B-A240-303691C845DB}"/>
              </a:ext>
            </a:extLst>
          </p:cNvPr>
          <p:cNvGrpSpPr>
            <a:grpSpLocks/>
          </p:cNvGrpSpPr>
          <p:nvPr/>
        </p:nvGrpSpPr>
        <p:grpSpPr bwMode="auto">
          <a:xfrm>
            <a:off x="1971675" y="1219200"/>
            <a:ext cx="7056438" cy="4440238"/>
            <a:chOff x="2438400" y="1219200"/>
            <a:chExt cx="7057425" cy="4439851"/>
          </a:xfrm>
        </p:grpSpPr>
        <p:pic>
          <p:nvPicPr>
            <p:cNvPr id="34823" name="Picture 9">
              <a:extLst>
                <a:ext uri="{FF2B5EF4-FFF2-40B4-BE49-F238E27FC236}">
                  <a16:creationId xmlns:a16="http://schemas.microsoft.com/office/drawing/2014/main" id="{8B59292F-4163-FB42-92EE-E62BFAC37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5800" y="1219200"/>
              <a:ext cx="2286000" cy="1712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824" name="Picture 3">
              <a:extLst>
                <a:ext uri="{FF2B5EF4-FFF2-40B4-BE49-F238E27FC236}">
                  <a16:creationId xmlns:a16="http://schemas.microsoft.com/office/drawing/2014/main" id="{6B96B16B-49DF-B846-A0D5-BE416EA31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2420" y="1255094"/>
              <a:ext cx="2470580" cy="1619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4825" name="Group 33">
              <a:extLst>
                <a:ext uri="{FF2B5EF4-FFF2-40B4-BE49-F238E27FC236}">
                  <a16:creationId xmlns:a16="http://schemas.microsoft.com/office/drawing/2014/main" id="{1E95D0DB-F2A4-4E44-9A0F-40B392370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8400" y="3187700"/>
              <a:ext cx="4279900" cy="2471351"/>
              <a:chOff x="1968500" y="3200400"/>
              <a:chExt cx="4279900" cy="2471351"/>
            </a:xfrm>
          </p:grpSpPr>
          <p:sp>
            <p:nvSpPr>
              <p:cNvPr id="16" name="Rectangle 51">
                <a:extLst>
                  <a:ext uri="{FF2B5EF4-FFF2-40B4-BE49-F238E27FC236}">
                    <a16:creationId xmlns:a16="http://schemas.microsoft.com/office/drawing/2014/main" id="{A9408FBF-7CF9-CC4B-9F66-B57EFAC58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500" y="3200228"/>
                <a:ext cx="4280499" cy="2471523"/>
              </a:xfrm>
              <a:prstGeom prst="rect">
                <a:avLst/>
              </a:prstGeom>
              <a:solidFill>
                <a:srgbClr val="CCFF66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A6A6A6"/>
                  </a:buClr>
                  <a:buSzPct val="120000"/>
                  <a:buFont typeface="Lucida Grande" panose="020B0600040502020204" pitchFamily="34" charset="0"/>
                  <a:buChar char="●"/>
                  <a:defRPr sz="24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1pPr>
                <a:lvl2pPr marL="37931725" indent="-37474525">
                  <a:spcBef>
                    <a:spcPct val="20000"/>
                  </a:spcBef>
                  <a:buClr>
                    <a:srgbClr val="A6A6A6"/>
                  </a:buClr>
                  <a:buSzPct val="80000"/>
                  <a:buFont typeface="Lucida Grande" panose="020B0600040502020204" pitchFamily="34" charset="0"/>
                  <a:buChar char="●"/>
                  <a:defRPr sz="2000">
                    <a:solidFill>
                      <a:srgbClr val="7F7F7F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CC0000"/>
                  </a:buClr>
                  <a:buSzPct val="125000"/>
                  <a:buChar char="•"/>
                  <a:defRPr>
                    <a:solidFill>
                      <a:srgbClr val="800000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Lucida Bright" panose="02040602050505020304" pitchFamily="18" charset="77"/>
                    <a:ea typeface="Gungsuh" panose="02030600000101010101" pitchFamily="18" charset="-127"/>
                  </a:defRPr>
                </a:lvl9pPr>
              </a:lstStyle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2000"/>
              </a:p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2000"/>
              </a:p>
              <a:p>
                <a:pPr algn="ctr" eaLnBrk="1" hangingPunct="1">
                  <a:buClrTx/>
                  <a:buSzTx/>
                  <a:buFont typeface="Wingdings" pitchFamily="2" charset="2"/>
                  <a:buNone/>
                </a:pPr>
                <a:endParaRPr lang="en-US" altLang="en-US" sz="1600">
                  <a:latin typeface="Comic Sans MS" panose="030F0902030302020204" pitchFamily="66" charset="0"/>
                </a:endParaRPr>
              </a:p>
            </p:txBody>
          </p:sp>
          <p:sp>
            <p:nvSpPr>
              <p:cNvPr id="19" name="Rectangle 54">
                <a:extLst>
                  <a:ext uri="{FF2B5EF4-FFF2-40B4-BE49-F238E27FC236}">
                    <a16:creationId xmlns:a16="http://schemas.microsoft.com/office/drawing/2014/main" id="{64CCF498-3736-ED45-B142-36ACA96E2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3309756"/>
                <a:ext cx="3670814" cy="4952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1. Outdoor Continuous</a:t>
                </a:r>
              </a:p>
            </p:txBody>
          </p:sp>
          <p:sp>
            <p:nvSpPr>
              <p:cNvPr id="25" name="Rectangle 54">
                <a:extLst>
                  <a:ext uri="{FF2B5EF4-FFF2-40B4-BE49-F238E27FC236}">
                    <a16:creationId xmlns:a16="http://schemas.microsoft.com/office/drawing/2014/main" id="{460AFD28-7D94-7644-8D6D-A4BB0DC29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3903430"/>
                <a:ext cx="3061128" cy="4936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2. Indoor Semantic</a:t>
                </a:r>
              </a:p>
            </p:txBody>
          </p:sp>
          <p:sp>
            <p:nvSpPr>
              <p:cNvPr id="26" name="Rectangle 54">
                <a:extLst>
                  <a:ext uri="{FF2B5EF4-FFF2-40B4-BE49-F238E27FC236}">
                    <a16:creationId xmlns:a16="http://schemas.microsoft.com/office/drawing/2014/main" id="{82490388-08E6-9644-844E-F98C72E23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4495515"/>
                <a:ext cx="3823235" cy="4936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3. High Precision Indoor</a:t>
                </a:r>
              </a:p>
            </p:txBody>
          </p:sp>
          <p:sp>
            <p:nvSpPr>
              <p:cNvPr id="33" name="Rectangle 54">
                <a:extLst>
                  <a:ext uri="{FF2B5EF4-FFF2-40B4-BE49-F238E27FC236}">
                    <a16:creationId xmlns:a16="http://schemas.microsoft.com/office/drawing/2014/main" id="{6D4F534A-BF58-8A47-9C06-A080A63D6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132" y="5105062"/>
                <a:ext cx="3365971" cy="4571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1" hangingPunct="1">
                  <a:spcBef>
                    <a:spcPct val="20000"/>
                  </a:spcBef>
                  <a:buFont typeface="Wingdings" charset="2"/>
                  <a:buNone/>
                  <a:defRPr/>
                </a:pPr>
                <a:r>
                  <a:rPr lang="en-US" sz="2400">
                    <a:latin typeface="Lucida Bright" charset="0"/>
                  </a:rPr>
                  <a:t>4. Object localization</a:t>
                </a:r>
              </a:p>
            </p:txBody>
          </p:sp>
        </p:grpSp>
        <p:sp>
          <p:nvSpPr>
            <p:cNvPr id="39947" name="Curved Left Arrow 26">
              <a:extLst>
                <a:ext uri="{FF2B5EF4-FFF2-40B4-BE49-F238E27FC236}">
                  <a16:creationId xmlns:a16="http://schemas.microsoft.com/office/drawing/2014/main" id="{5F260271-0E22-8C43-87F7-50F72DEA9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2408" y="2133520"/>
              <a:ext cx="914528" cy="2133414"/>
            </a:xfrm>
            <a:prstGeom prst="curvedLeftArrow">
              <a:avLst>
                <a:gd name="adj1" fmla="val 19023"/>
                <a:gd name="adj2" fmla="val 46505"/>
                <a:gd name="adj3" fmla="val 44606"/>
              </a:avLst>
            </a:prstGeom>
            <a:solidFill>
              <a:schemeClr val="bg1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Font typeface="Wingdings" charset="2"/>
                <a:buChar char="•"/>
                <a:defRPr/>
              </a:pPr>
              <a:endParaRPr lang="en-US">
                <a:latin typeface="Comic Sans MS" charset="0"/>
              </a:endParaRPr>
            </a:p>
          </p:txBody>
        </p:sp>
        <p:sp>
          <p:nvSpPr>
            <p:cNvPr id="34827" name="TextBox 27">
              <a:extLst>
                <a:ext uri="{FF2B5EF4-FFF2-40B4-BE49-F238E27FC236}">
                  <a16:creationId xmlns:a16="http://schemas.microsoft.com/office/drawing/2014/main" id="{FDD8E8D5-277B-DC4E-99D1-27464D801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5100" y="2184400"/>
              <a:ext cx="1710725" cy="1581971"/>
            </a:xfrm>
            <a:prstGeom prst="rect">
              <a:avLst/>
            </a:prstGeom>
            <a:solidFill>
              <a:srgbClr val="D1D1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A6A6A6"/>
                </a:buClr>
                <a:buSzPct val="120000"/>
                <a:buFont typeface="Lucida Grande" panose="020B0600040502020204" pitchFamily="34" charset="0"/>
                <a:buChar char="●"/>
                <a:defRPr sz="24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1pPr>
              <a:lvl2pPr marL="37931725" indent="-37474525">
                <a:spcBef>
                  <a:spcPct val="20000"/>
                </a:spcBef>
                <a:buClr>
                  <a:srgbClr val="A6A6A6"/>
                </a:buClr>
                <a:buSzPct val="80000"/>
                <a:buFont typeface="Lucida Grande" panose="020B0600040502020204" pitchFamily="34" charset="0"/>
                <a:buChar char="●"/>
                <a:defRPr sz="2000">
                  <a:solidFill>
                    <a:srgbClr val="7F7F7F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2pPr>
              <a:lvl3pPr marL="1143000" indent="-228600">
                <a:spcBef>
                  <a:spcPct val="20000"/>
                </a:spcBef>
                <a:buClr>
                  <a:srgbClr val="CC0000"/>
                </a:buClr>
                <a:buSzPct val="125000"/>
                <a:buChar char="•"/>
                <a:defRPr>
                  <a:solidFill>
                    <a:srgbClr val="800000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Lucida Bright" panose="02040602050505020304" pitchFamily="18" charset="77"/>
                  <a:ea typeface="Gungsuh" panose="02030600000101010101" pitchFamily="18" charset="-127"/>
                </a:defRPr>
              </a:lvl9pPr>
            </a:lstStyle>
            <a:p>
              <a:pPr eaLnBrk="1" hangingPunct="1">
                <a:buClrTx/>
                <a:buSzTx/>
                <a:buFont typeface="Wingdings" pitchFamily="2" charset="2"/>
                <a:buNone/>
              </a:pPr>
              <a:r>
                <a:rPr lang="en-US" altLang="en-US" sz="2000" b="1"/>
                <a:t>Constraints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Accuracy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Energy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Calibration</a:t>
              </a:r>
            </a:p>
            <a:p>
              <a:pPr eaLnBrk="1" hangingPunct="1">
                <a:buClrTx/>
                <a:buSzTx/>
                <a:buFontTx/>
                <a:buChar char="-"/>
              </a:pPr>
              <a:r>
                <a:rPr lang="en-US" altLang="en-US" sz="1600"/>
                <a:t> Infrastructure</a:t>
              </a:r>
            </a:p>
          </p:txBody>
        </p:sp>
      </p:grpSp>
      <p:sp>
        <p:nvSpPr>
          <p:cNvPr id="34821" name="Rectangle 63">
            <a:extLst>
              <a:ext uri="{FF2B5EF4-FFF2-40B4-BE49-F238E27FC236}">
                <a16:creationId xmlns:a16="http://schemas.microsoft.com/office/drawing/2014/main" id="{8A7A5F63-F722-5447-B9EB-B36AEBBCD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788025"/>
            <a:ext cx="1670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400"/>
              <a:t>Hardware</a:t>
            </a:r>
          </a:p>
        </p:txBody>
      </p:sp>
      <p:sp>
        <p:nvSpPr>
          <p:cNvPr id="34822" name="Rectangle 63">
            <a:extLst>
              <a:ext uri="{FF2B5EF4-FFF2-40B4-BE49-F238E27FC236}">
                <a16:creationId xmlns:a16="http://schemas.microsoft.com/office/drawing/2014/main" id="{93DEFDA9-C8E2-0545-8CE9-A7DC534DA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5470525"/>
            <a:ext cx="12255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None/>
            </a:pPr>
            <a:r>
              <a:rPr lang="en-US" altLang="en-US" sz="1400"/>
              <a:t>Software</a:t>
            </a:r>
          </a:p>
        </p:txBody>
      </p:sp>
    </p:spTree>
  </p:cSld>
  <p:clrMapOvr>
    <a:masterClrMapping/>
  </p:clrMapOvr>
  <p:transition advTm="23983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29BDA9BF-E374-DF4B-A984-A5ACEE8B701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3124200"/>
            <a:ext cx="9144000" cy="1828800"/>
          </a:xfrm>
        </p:spPr>
        <p:txBody>
          <a:bodyPr anchor="b"/>
          <a:lstStyle/>
          <a:p>
            <a:pPr algn="ctr"/>
            <a:r>
              <a:rPr lang="en-US" altLang="en-US" sz="4000" b="1">
                <a:latin typeface="Lucida Bright" panose="02040602050505020304" pitchFamily="18" charset="77"/>
              </a:rPr>
              <a:t>RADAR:</a:t>
            </a:r>
            <a:br>
              <a:rPr lang="en-US" altLang="en-US" sz="4000" b="1">
                <a:latin typeface="Lucida Bright" panose="02040602050505020304" pitchFamily="18" charset="77"/>
              </a:rPr>
            </a:br>
            <a:r>
              <a:rPr lang="en-US" altLang="en-US" sz="2000" b="1">
                <a:latin typeface="Lucida Bright" panose="02040602050505020304" pitchFamily="18" charset="77"/>
              </a:rPr>
              <a:t>An In-Building RF-based User Location and Tracking System</a:t>
            </a:r>
          </a:p>
        </p:txBody>
      </p:sp>
      <p:pic>
        <p:nvPicPr>
          <p:cNvPr id="35842" name="Picture 12" descr="florence_radar">
            <a:extLst>
              <a:ext uri="{FF2B5EF4-FFF2-40B4-BE49-F238E27FC236}">
                <a16:creationId xmlns:a16="http://schemas.microsoft.com/office/drawing/2014/main" id="{130BCA29-0AD2-F844-8FAA-7F461B744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164" b="2362"/>
          <a:stretch>
            <a:fillRect/>
          </a:stretch>
        </p:blipFill>
        <p:spPr bwMode="auto">
          <a:xfrm>
            <a:off x="3505200" y="20574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B792F9C7-986A-8F49-82A1-3E69A451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4495800"/>
            <a:ext cx="7696200" cy="990600"/>
          </a:xfrm>
        </p:spPr>
        <p:txBody>
          <a:bodyPr/>
          <a:lstStyle/>
          <a:p>
            <a:pPr algn="ctr"/>
            <a:r>
              <a:rPr lang="en-US" altLang="en-US" sz="4800" b="1">
                <a:latin typeface="Lucida Bright" panose="02040602050505020304" pitchFamily="18" charset="77"/>
              </a:rPr>
              <a:t>The Idea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944E5394-C5A9-984C-A04A-4F1E7D6F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Overview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B0408C1E-DB8A-D146-9799-44D948A0A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Main Goal: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Locate/Track users INSIDE a building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Method: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Recording/Processing signal strength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Overlapping Coverage </a:t>
            </a:r>
            <a:r>
              <a:rPr lang="en-US" altLang="en-US">
                <a:latin typeface="Lucida Bright" panose="02040602050505020304" pitchFamily="18" charset="77"/>
                <a:sym typeface="Wingdings" pitchFamily="2" charset="2"/>
              </a:rPr>
              <a:t> triangulation</a:t>
            </a:r>
            <a:endParaRPr lang="en-US" altLang="en-US">
              <a:latin typeface="Lucida Bright" panose="02040602050505020304" pitchFamily="18" charset="77"/>
            </a:endParaRPr>
          </a:p>
          <a:p>
            <a:r>
              <a:rPr lang="en-US" altLang="en-US">
                <a:latin typeface="Lucida Bright" panose="02040602050505020304" pitchFamily="18" charset="77"/>
              </a:rPr>
              <a:t>Motivation: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Location aware services/applications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BD3A0186-BCEB-644D-9495-2762715A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Previous Work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37242ADA-0132-2A43-8674-44B2E7A99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Focused on IR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Limited range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Does not allow for traditional transmitting of data (aka limited to just locating people)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Scales poorly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Installation/maintenance limitations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Authors argue that RF solves problems above 		</a:t>
            </a:r>
            <a:r>
              <a:rPr lang="en-US" altLang="en-US" sz="1600">
                <a:latin typeface="Lucida Bright" panose="02040602050505020304" pitchFamily="18" charset="77"/>
              </a:rPr>
              <a:t>(range, scalability, deployment, maintenance)</a:t>
            </a:r>
          </a:p>
          <a:p>
            <a:pPr lvl="2"/>
            <a:endParaRPr lang="en-US" altLang="en-US">
              <a:latin typeface="Lucida Bright" panose="02040602050505020304" pitchFamily="18" charset="77"/>
            </a:endParaRPr>
          </a:p>
          <a:p>
            <a:pPr lvl="3">
              <a:buClr>
                <a:schemeClr val="accent1"/>
              </a:buClr>
              <a:buFont typeface="Wingdings" pitchFamily="2" charset="2"/>
              <a:buChar char="n"/>
            </a:pPr>
            <a:endParaRPr lang="en-US" altLang="en-US">
              <a:latin typeface="Lucida Bright" panose="02040602050505020304" pitchFamily="18" charset="77"/>
            </a:endParaRPr>
          </a:p>
          <a:p>
            <a:pPr lvl="2"/>
            <a:endParaRPr lang="en-US" altLang="en-US">
              <a:latin typeface="Lucida Bright" panose="02040602050505020304" pitchFamily="18" charset="7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67DC72A0-0F2B-D540-9445-4E8A227C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4495800"/>
            <a:ext cx="7696200" cy="990600"/>
          </a:xfrm>
        </p:spPr>
        <p:txBody>
          <a:bodyPr/>
          <a:lstStyle/>
          <a:p>
            <a:pPr algn="ctr"/>
            <a:r>
              <a:rPr lang="en-US" altLang="en-US" sz="4800" b="1" dirty="0">
                <a:latin typeface="Lucida Bright" panose="02040602050505020304" pitchFamily="18" charset="77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70680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2">
            <a:extLst>
              <a:ext uri="{FF2B5EF4-FFF2-40B4-BE49-F238E27FC236}">
                <a16:creationId xmlns:a16="http://schemas.microsoft.com/office/drawing/2014/main" id="{19F28033-2505-0D42-9AB5-0C73E9E8A6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Building Floor Layout</a:t>
            </a:r>
          </a:p>
        </p:txBody>
      </p:sp>
      <p:pic>
        <p:nvPicPr>
          <p:cNvPr id="46082" name="Picture 6">
            <a:extLst>
              <a:ext uri="{FF2B5EF4-FFF2-40B4-BE49-F238E27FC236}">
                <a16:creationId xmlns:a16="http://schemas.microsoft.com/office/drawing/2014/main" id="{48336FDC-4F18-0F42-9EA1-89CE0ED81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524000"/>
            <a:ext cx="2598738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Rectangle 10">
            <a:extLst>
              <a:ext uri="{FF2B5EF4-FFF2-40B4-BE49-F238E27FC236}">
                <a16:creationId xmlns:a16="http://schemas.microsoft.com/office/drawing/2014/main" id="{C3F46ACC-F676-D84C-991D-DAC28FF4E340}"/>
              </a:ext>
            </a:extLst>
          </p:cNvPr>
          <p:cNvSpPr>
            <a:spLocks/>
          </p:cNvSpPr>
          <p:nvPr/>
        </p:nvSpPr>
        <p:spPr bwMode="auto">
          <a:xfrm>
            <a:off x="457200" y="1447800"/>
            <a:ext cx="5029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Figure Notation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Black Dots = locations where empirical signal strength info was collected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Large Stars = Base Stations (BS)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Orientation – North (up); East (right)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endParaRPr lang="en-US" altLang="en-US">
              <a:solidFill>
                <a:schemeClr val="tx1"/>
              </a:solidFill>
              <a:latin typeface="Comic Sans MS" panose="030F0902030302020204" pitchFamily="66" charset="0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Ranges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Open along hallways w/ base stations (200m)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Closes elsewhere (25m)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Base stations overlap in parts and cover the entire floor</a:t>
            </a:r>
          </a:p>
        </p:txBody>
      </p:sp>
      <p:sp>
        <p:nvSpPr>
          <p:cNvPr id="46084" name="Oval 11">
            <a:extLst>
              <a:ext uri="{FF2B5EF4-FFF2-40B4-BE49-F238E27FC236}">
                <a16:creationId xmlns:a16="http://schemas.microsoft.com/office/drawing/2014/main" id="{ECB2B9AB-6A7F-DC44-8844-9F9A3CE75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743200"/>
            <a:ext cx="304800" cy="3048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46085" name="Oval 12">
            <a:extLst>
              <a:ext uri="{FF2B5EF4-FFF2-40B4-BE49-F238E27FC236}">
                <a16:creationId xmlns:a16="http://schemas.microsoft.com/office/drawing/2014/main" id="{45E4F699-F63B-9645-8BF8-661DEEB25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4038600"/>
            <a:ext cx="304800" cy="304800"/>
          </a:xfrm>
          <a:prstGeom prst="ellips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46086" name="Oval 13">
            <a:extLst>
              <a:ext uri="{FF2B5EF4-FFF2-40B4-BE49-F238E27FC236}">
                <a16:creationId xmlns:a16="http://schemas.microsoft.com/office/drawing/2014/main" id="{C4A702C0-90B7-6C45-B64B-E8E81E4CC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6019800"/>
            <a:ext cx="304800" cy="304800"/>
          </a:xfrm>
          <a:prstGeom prst="ellips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buClrTx/>
              <a:buSzTx/>
              <a:buFont typeface="Wingdings" pitchFamily="2" charset="2"/>
              <a:buChar char="•"/>
            </a:pPr>
            <a:endParaRPr lang="en-US" altLang="en-US" sz="1800">
              <a:latin typeface="Comic Sans MS" panose="030F0902030302020204" pitchFamily="66" charset="0"/>
            </a:endParaRPr>
          </a:p>
        </p:txBody>
      </p:sp>
      <p:sp>
        <p:nvSpPr>
          <p:cNvPr id="46087" name="Rectangle 14">
            <a:extLst>
              <a:ext uri="{FF2B5EF4-FFF2-40B4-BE49-F238E27FC236}">
                <a16:creationId xmlns:a16="http://schemas.microsoft.com/office/drawing/2014/main" id="{CB6B7724-F83D-394B-94AF-7B8281562FAB}"/>
              </a:ext>
            </a:extLst>
          </p:cNvPr>
          <p:cNvSpPr>
            <a:spLocks/>
          </p:cNvSpPr>
          <p:nvPr/>
        </p:nvSpPr>
        <p:spPr bwMode="auto">
          <a:xfrm>
            <a:off x="2971800" y="6096000"/>
            <a:ext cx="3124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3" algn="ctr" eaLnBrk="1" hangingPunct="1">
              <a:spcBef>
                <a:spcPts val="400"/>
              </a:spcBef>
              <a:buClr>
                <a:srgbClr val="A5AB81"/>
              </a:buClr>
              <a:buFont typeface="Wingdings" pitchFamily="2" charset="2"/>
              <a:buNone/>
            </a:pPr>
            <a:endParaRPr lang="en-US" altLang="en-US">
              <a:solidFill>
                <a:schemeClr val="folHlink"/>
              </a:solidFill>
              <a:latin typeface="Comic Sans MS" panose="030F09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46088" name="TextBox 8">
            <a:extLst>
              <a:ext uri="{FF2B5EF4-FFF2-40B4-BE49-F238E27FC236}">
                <a16:creationId xmlns:a16="http://schemas.microsoft.com/office/drawing/2014/main" id="{9A7982F3-1C7D-D54E-9337-18B860ED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990600"/>
            <a:ext cx="27813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marL="0" lvl="3" eaLnBrk="1" hangingPunct="1"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Figure 1: Floor Layout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2D64F4A7-30D7-0843-A4CC-F43664DA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Lucida Bright" panose="02040602050505020304" pitchFamily="18" charset="77"/>
              </a:rPr>
              <a:t>Key Idea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033FAED0-966E-4742-8820-9510EA2EA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Lucida Bright" panose="02040602050505020304" pitchFamily="18" charset="77"/>
              </a:rPr>
              <a:t>Use signal information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Training Phase</a:t>
            </a:r>
          </a:p>
          <a:p>
            <a:pPr lvl="3"/>
            <a:r>
              <a:rPr lang="en-US" altLang="en-US" dirty="0">
                <a:latin typeface="Lucida Bright" panose="02040602050505020304" pitchFamily="18" charset="77"/>
              </a:rPr>
              <a:t>Construct/validate models for signal propagation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Real-Time Phase</a:t>
            </a:r>
          </a:p>
          <a:p>
            <a:pPr lvl="3"/>
            <a:r>
              <a:rPr lang="en-US" altLang="en-US" dirty="0">
                <a:latin typeface="Lucida Bright" panose="02040602050505020304" pitchFamily="18" charset="77"/>
              </a:rPr>
              <a:t>Infer location of user</a:t>
            </a:r>
          </a:p>
        </p:txBody>
      </p:sp>
    </p:spTree>
    <p:extLst>
      <p:ext uri="{BB962C8B-B14F-4D97-AF65-F5344CB8AC3E}">
        <p14:creationId xmlns:p14="http://schemas.microsoft.com/office/powerpoint/2010/main" val="573134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D3B0548F-E49A-4E4B-A979-F544B6DA0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Lucida Bright" panose="02040602050505020304" pitchFamily="18" charset="77"/>
              </a:rPr>
              <a:t>Data Collection Process for training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893F45F4-8C36-6649-AA30-C507F46DD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Lucida Bright" panose="02040602050505020304" pitchFamily="18" charset="77"/>
              </a:rPr>
              <a:t>Synchronize clocks on mobile host (MH) &amp; BS</a:t>
            </a:r>
          </a:p>
          <a:p>
            <a:r>
              <a:rPr lang="en-US" altLang="en-US" dirty="0">
                <a:latin typeface="Lucida Bright" panose="02040602050505020304" pitchFamily="18" charset="77"/>
              </a:rPr>
              <a:t>MH broadcasts UDP packets</a:t>
            </a:r>
          </a:p>
          <a:p>
            <a:r>
              <a:rPr lang="en-US" altLang="en-US" dirty="0">
                <a:latin typeface="Lucida Bright" panose="02040602050505020304" pitchFamily="18" charset="77"/>
              </a:rPr>
              <a:t>BS records SS at (t, x, y, d)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Time stamp (t); direction user is facing (d); location (</a:t>
            </a:r>
            <a:r>
              <a:rPr lang="en-US" altLang="en-US" dirty="0" err="1">
                <a:latin typeface="Lucida Bright" panose="02040602050505020304" pitchFamily="18" charset="77"/>
              </a:rPr>
              <a:t>x,y</a:t>
            </a:r>
            <a:r>
              <a:rPr lang="en-US" altLang="en-US" dirty="0">
                <a:latin typeface="Lucida Bright" panose="02040602050505020304" pitchFamily="18" charset="77"/>
              </a:rPr>
              <a:t>)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If off-line, user indicates location by clicking map on floor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Signal strength varies w/</a:t>
            </a:r>
            <a:r>
              <a:rPr lang="en-US" altLang="en-US" dirty="0" err="1">
                <a:latin typeface="Lucida Bright" panose="02040602050505020304" pitchFamily="18" charset="77"/>
              </a:rPr>
              <a:t>i</a:t>
            </a:r>
            <a:r>
              <a:rPr lang="en-US" altLang="en-US" dirty="0">
                <a:latin typeface="Lucida Bright" panose="02040602050505020304" pitchFamily="18" charset="77"/>
              </a:rPr>
              <a:t> a single location based on d</a:t>
            </a:r>
          </a:p>
          <a:p>
            <a:r>
              <a:rPr lang="en-US" altLang="en-US" dirty="0">
                <a:latin typeface="Lucida Bright" panose="02040602050505020304" pitchFamily="18" charset="77"/>
              </a:rPr>
              <a:t>SS in each of the 4 d’s at 70 (</a:t>
            </a:r>
            <a:r>
              <a:rPr lang="en-US" altLang="en-US" dirty="0" err="1">
                <a:latin typeface="Lucida Bright" panose="02040602050505020304" pitchFamily="18" charset="77"/>
              </a:rPr>
              <a:t>x,y</a:t>
            </a:r>
            <a:r>
              <a:rPr lang="en-US" altLang="en-US" dirty="0">
                <a:latin typeface="Lucida Bright" panose="02040602050505020304" pitchFamily="18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65556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F575A7B4-83C2-214E-808D-398EFE1A9F1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Signal Strength</a:t>
            </a:r>
          </a:p>
        </p:txBody>
      </p:sp>
      <p:pic>
        <p:nvPicPr>
          <p:cNvPr id="52226" name="Picture 6">
            <a:extLst>
              <a:ext uri="{FF2B5EF4-FFF2-40B4-BE49-F238E27FC236}">
                <a16:creationId xmlns:a16="http://schemas.microsoft.com/office/drawing/2014/main" id="{2F346514-566F-BE40-BBBA-D71785F2B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75" t="37000" r="50624" b="25000"/>
          <a:stretch>
            <a:fillRect/>
          </a:stretch>
        </p:blipFill>
        <p:spPr bwMode="auto">
          <a:xfrm>
            <a:off x="3733800" y="1524000"/>
            <a:ext cx="5562600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7" name="Rectangle 7">
            <a:extLst>
              <a:ext uri="{FF2B5EF4-FFF2-40B4-BE49-F238E27FC236}">
                <a16:creationId xmlns:a16="http://schemas.microsoft.com/office/drawing/2014/main" id="{C5A9651E-58EF-0E4C-BB77-8C99B38D85E2}"/>
              </a:ext>
            </a:extLst>
          </p:cNvPr>
          <p:cNvSpPr>
            <a:spLocks/>
          </p:cNvSpPr>
          <p:nvPr/>
        </p:nvSpPr>
        <p:spPr bwMode="auto">
          <a:xfrm>
            <a:off x="3124200" y="5562600"/>
            <a:ext cx="6019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3" algn="ctr" eaLnBrk="1" hangingPunct="1">
              <a:spcBef>
                <a:spcPts val="400"/>
              </a:spcBef>
              <a:buClr>
                <a:srgbClr val="A5AB81"/>
              </a:buClr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Figure 2: Signal strength recorded at the BS as the user walks around the floor.</a:t>
            </a:r>
          </a:p>
        </p:txBody>
      </p:sp>
      <p:sp>
        <p:nvSpPr>
          <p:cNvPr id="52228" name="Rectangle 9">
            <a:extLst>
              <a:ext uri="{FF2B5EF4-FFF2-40B4-BE49-F238E27FC236}">
                <a16:creationId xmlns:a16="http://schemas.microsoft.com/office/drawing/2014/main" id="{FB514E97-5D84-2449-AB8B-0898AB9A5287}"/>
              </a:ext>
            </a:extLst>
          </p:cNvPr>
          <p:cNvSpPr>
            <a:spLocks/>
          </p:cNvSpPr>
          <p:nvPr/>
        </p:nvSpPr>
        <p:spPr bwMode="auto">
          <a:xfrm>
            <a:off x="152400" y="1676400"/>
            <a:ext cx="2971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Why?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Need accurate SS to help determine location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How?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Stronger signal = closer to BS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Modeling (see next slide)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en-US" altLang="en-US" sz="29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E490364E-9B12-E648-98F5-33925345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4495800"/>
            <a:ext cx="7696200" cy="990600"/>
          </a:xfrm>
        </p:spPr>
        <p:txBody>
          <a:bodyPr/>
          <a:lstStyle/>
          <a:p>
            <a:pPr algn="ctr"/>
            <a:r>
              <a:rPr lang="en-US" altLang="en-US" sz="4800" b="1" dirty="0">
                <a:latin typeface="Lucida Bright" panose="02040602050505020304" pitchFamily="18" charset="77"/>
              </a:rPr>
              <a:t>Model 1: Experimental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3C70D1B8-CCBC-9F4F-B66B-3080EE87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The Empirical Method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052E4C11-7ECD-C541-9564-4EE748A8A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Lucida Bright" panose="02040602050505020304" pitchFamily="18" charset="77"/>
              </a:rPr>
              <a:t>Empirical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Use the data points gathered from training phase to construct search space for NNSS</a:t>
            </a:r>
          </a:p>
          <a:p>
            <a:r>
              <a:rPr lang="en-US" altLang="en-US" dirty="0">
                <a:latin typeface="Lucida Bright" panose="02040602050505020304" pitchFamily="18" charset="77"/>
              </a:rPr>
              <a:t>Nearest Neighbor (NNSS)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User sends SS and t</a:t>
            </a:r>
          </a:p>
          <a:p>
            <a:pPr lvl="2"/>
            <a:r>
              <a:rPr lang="en-US" altLang="en-US" dirty="0">
                <a:latin typeface="Lucida Bright" panose="02040602050505020304" pitchFamily="18" charset="77"/>
              </a:rPr>
              <a:t>Search previous data for (</a:t>
            </a:r>
            <a:r>
              <a:rPr lang="en-US" altLang="en-US" dirty="0" err="1">
                <a:latin typeface="Lucida Bright" panose="02040602050505020304" pitchFamily="18" charset="77"/>
              </a:rPr>
              <a:t>x,y,d</a:t>
            </a:r>
            <a:r>
              <a:rPr lang="en-US" altLang="en-US" dirty="0">
                <a:latin typeface="Lucida Bright" panose="02040602050505020304" pitchFamily="18" charset="77"/>
              </a:rPr>
              <a:t>) that corresponds</a:t>
            </a:r>
          </a:p>
        </p:txBody>
      </p:sp>
      <p:sp>
        <p:nvSpPr>
          <p:cNvPr id="56323" name="Rectangle 5">
            <a:extLst>
              <a:ext uri="{FF2B5EF4-FFF2-40B4-BE49-F238E27FC236}">
                <a16:creationId xmlns:a16="http://schemas.microsoft.com/office/drawing/2014/main" id="{ECCC2E4B-99ED-1945-BF2C-300B5FA90A74}"/>
              </a:ext>
            </a:extLst>
          </p:cNvPr>
          <p:cNvSpPr>
            <a:spLocks/>
          </p:cNvSpPr>
          <p:nvPr/>
        </p:nvSpPr>
        <p:spPr bwMode="auto">
          <a:xfrm>
            <a:off x="-1600200" y="6324600"/>
            <a:ext cx="6858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19812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438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895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352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10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4" eaLnBrk="1" hangingPunct="1">
              <a:spcBef>
                <a:spcPts val="400"/>
              </a:spcBef>
              <a:buClr>
                <a:srgbClr val="A5AB81"/>
              </a:buClr>
              <a:buSzPct val="65000"/>
              <a:buFont typeface="Wingdings" pitchFamily="2" charset="2"/>
              <a:buChar char="•"/>
            </a:pPr>
            <a:r>
              <a:rPr lang="en-US" altLang="en-US">
                <a:latin typeface="Comic Sans MS" panose="030F0902030302020204" pitchFamily="66" charset="0"/>
                <a:ea typeface="ＭＳ Ｐゴシック" panose="020B0600070205080204" pitchFamily="34" charset="-128"/>
              </a:rPr>
              <a:t>assumes user is stationary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652BF3FF-85A9-8846-816C-E2430151B0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Location Estimate Error</a:t>
            </a:r>
          </a:p>
        </p:txBody>
      </p:sp>
      <p:pic>
        <p:nvPicPr>
          <p:cNvPr id="58370" name="Picture 9">
            <a:extLst>
              <a:ext uri="{FF2B5EF4-FFF2-40B4-BE49-F238E27FC236}">
                <a16:creationId xmlns:a16="http://schemas.microsoft.com/office/drawing/2014/main" id="{4E7E2B4F-CF24-8C44-910D-A5F0792CE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5" t="49001" r="51250" b="17999"/>
          <a:stretch>
            <a:fillRect/>
          </a:stretch>
        </p:blipFill>
        <p:spPr bwMode="auto">
          <a:xfrm>
            <a:off x="1143000" y="1600200"/>
            <a:ext cx="7162800" cy="463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1" name="Rectangle 10">
            <a:extLst>
              <a:ext uri="{FF2B5EF4-FFF2-40B4-BE49-F238E27FC236}">
                <a16:creationId xmlns:a16="http://schemas.microsoft.com/office/drawing/2014/main" id="{463F47FD-E0C2-3140-82A5-0390FEDE2504}"/>
              </a:ext>
            </a:extLst>
          </p:cNvPr>
          <p:cNvSpPr>
            <a:spLocks/>
          </p:cNvSpPr>
          <p:nvPr/>
        </p:nvSpPr>
        <p:spPr bwMode="auto">
          <a:xfrm>
            <a:off x="1066800" y="6019800"/>
            <a:ext cx="6629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3" algn="ctr" eaLnBrk="1" hangingPunct="1">
              <a:spcBef>
                <a:spcPts val="400"/>
              </a:spcBef>
              <a:buClr>
                <a:srgbClr val="A5AB81"/>
              </a:buClr>
              <a:buFont typeface="Wingdings" pitchFamily="2" charset="2"/>
              <a:buNone/>
            </a:pPr>
            <a:r>
              <a:rPr lang="en-US" altLang="en-US">
                <a:solidFill>
                  <a:schemeClr val="folHlink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Figure 3: CDF of error distance for different location methods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121D9391-1BD9-474A-8B23-321F43F6B2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Multiple Nearest Neighbors</a:t>
            </a:r>
          </a:p>
        </p:txBody>
      </p:sp>
      <p:pic>
        <p:nvPicPr>
          <p:cNvPr id="60418" name="Picture 6">
            <a:extLst>
              <a:ext uri="{FF2B5EF4-FFF2-40B4-BE49-F238E27FC236}">
                <a16:creationId xmlns:a16="http://schemas.microsoft.com/office/drawing/2014/main" id="{DDBF4B58-E771-B64E-A23C-91B695A1B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5" t="64999" r="18750" b="12000"/>
          <a:stretch>
            <a:fillRect/>
          </a:stretch>
        </p:blipFill>
        <p:spPr bwMode="auto">
          <a:xfrm>
            <a:off x="4114800" y="2590800"/>
            <a:ext cx="4724400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7">
            <a:extLst>
              <a:ext uri="{FF2B5EF4-FFF2-40B4-BE49-F238E27FC236}">
                <a16:creationId xmlns:a16="http://schemas.microsoft.com/office/drawing/2014/main" id="{AEFAA591-E718-A54E-B8C4-327EECA2F0B4}"/>
              </a:ext>
            </a:extLst>
          </p:cNvPr>
          <p:cNvSpPr>
            <a:spLocks/>
          </p:cNvSpPr>
          <p:nvPr/>
        </p:nvSpPr>
        <p:spPr bwMode="auto">
          <a:xfrm>
            <a:off x="685800" y="12192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Do not limit to just nearest data point (neighbor)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Expand to k neighbors</a:t>
            </a:r>
          </a:p>
          <a:p>
            <a:pPr lvl="2" eaLnBrk="1" hangingPunct="1">
              <a:buClrTx/>
              <a:buSzTx/>
              <a:buFont typeface="Wingdings" pitchFamily="2" charset="2"/>
              <a:buNone/>
            </a:pPr>
            <a:endParaRPr lang="en-US" altLang="en-US">
              <a:solidFill>
                <a:schemeClr val="tx1"/>
              </a:solidFill>
              <a:latin typeface="Comic Sans MS" panose="030F0902030302020204" pitchFamily="66" charset="0"/>
              <a:ea typeface="ＭＳ Ｐゴシック" panose="020B0600070205080204" pitchFamily="34" charset="-128"/>
            </a:endParaRPr>
          </a:p>
        </p:txBody>
      </p:sp>
      <p:sp>
        <p:nvSpPr>
          <p:cNvPr id="60420" name="Rectangle 8">
            <a:extLst>
              <a:ext uri="{FF2B5EF4-FFF2-40B4-BE49-F238E27FC236}">
                <a16:creationId xmlns:a16="http://schemas.microsoft.com/office/drawing/2014/main" id="{8F98E979-412D-C040-95D5-091EE5A0C63F}"/>
              </a:ext>
            </a:extLst>
          </p:cNvPr>
          <p:cNvSpPr>
            <a:spLocks/>
          </p:cNvSpPr>
          <p:nvPr/>
        </p:nvSpPr>
        <p:spPr bwMode="auto">
          <a:xfrm>
            <a:off x="3429000" y="5562600"/>
            <a:ext cx="5715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3" algn="ctr" eaLnBrk="1" hangingPunct="1">
              <a:spcBef>
                <a:spcPts val="400"/>
              </a:spcBef>
              <a:buClr>
                <a:srgbClr val="A5AB81"/>
              </a:buClr>
              <a:buFont typeface="Wingdings" pitchFamily="2" charset="2"/>
              <a:buNone/>
            </a:pPr>
            <a:r>
              <a:rPr lang="en-US" altLang="en-US">
                <a:solidFill>
                  <a:srgbClr val="FF0000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Figure 4: Example of how multiple nearest neighbors can be more accurate (k=3)</a:t>
            </a:r>
          </a:p>
        </p:txBody>
      </p:sp>
      <p:sp>
        <p:nvSpPr>
          <p:cNvPr id="60421" name="Rectangle 10">
            <a:extLst>
              <a:ext uri="{FF2B5EF4-FFF2-40B4-BE49-F238E27FC236}">
                <a16:creationId xmlns:a16="http://schemas.microsoft.com/office/drawing/2014/main" id="{1C31220E-BF97-134C-A85E-31799512AD46}"/>
              </a:ext>
            </a:extLst>
          </p:cNvPr>
          <p:cNvSpPr>
            <a:spLocks/>
          </p:cNvSpPr>
          <p:nvPr/>
        </p:nvSpPr>
        <p:spPr bwMode="auto">
          <a:xfrm>
            <a:off x="685800" y="2590800"/>
            <a:ext cx="3962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 dirty="0">
                <a:latin typeface="Comic Sans MS" panose="030F0902030302020204" pitchFamily="66" charset="0"/>
              </a:rPr>
              <a:t>May not work well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Next closest “neighbors” may be same (</a:t>
            </a:r>
            <a:r>
              <a:rPr lang="en-US" altLang="en-US" dirty="0" err="1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x,y</a:t>
            </a:r>
            <a:r>
              <a:rPr lang="en-US" altLang="en-US" dirty="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) but different d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Small k </a:t>
            </a:r>
            <a:r>
              <a:rPr lang="en-US" altLang="en-US" dirty="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sym typeface="Wingdings" pitchFamily="2" charset="2"/>
              </a:rPr>
              <a:t> &lt;2m change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  <a:sym typeface="Wingdings" pitchFamily="2" charset="2"/>
              </a:rPr>
              <a:t>Big k  bad estimate</a:t>
            </a:r>
            <a:endParaRPr lang="en-US" altLang="en-US" dirty="0">
              <a:solidFill>
                <a:schemeClr val="tx1"/>
              </a:solidFill>
              <a:latin typeface="Comic Sans MS" panose="030F0902030302020204" pitchFamily="66" charset="0"/>
              <a:ea typeface="ＭＳ Ｐゴシック" panose="020B0600070205080204" pitchFamily="34" charset="-128"/>
            </a:endParaRP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 dirty="0">
                <a:latin typeface="Comic Sans MS" panose="030F0902030302020204" pitchFamily="66" charset="0"/>
              </a:rPr>
              <a:t>If ignore d, could work for small k, but still not significant enough</a:t>
            </a:r>
            <a:endParaRPr lang="en-US" altLang="en-US" sz="1400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C2D5ADD6-B562-BB4A-AD76-C9968B09BD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Number of Data Points</a:t>
            </a:r>
          </a:p>
        </p:txBody>
      </p:sp>
      <p:pic>
        <p:nvPicPr>
          <p:cNvPr id="62466" name="Picture 5">
            <a:extLst>
              <a:ext uri="{FF2B5EF4-FFF2-40B4-BE49-F238E27FC236}">
                <a16:creationId xmlns:a16="http://schemas.microsoft.com/office/drawing/2014/main" id="{7D75D2D3-5455-0744-8F8B-7A8FCF325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51" t="20000" r="10001" b="34000"/>
          <a:stretch>
            <a:fillRect/>
          </a:stretch>
        </p:blipFill>
        <p:spPr bwMode="auto">
          <a:xfrm>
            <a:off x="3200400" y="1600200"/>
            <a:ext cx="5943600" cy="471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Rectangle 6">
            <a:extLst>
              <a:ext uri="{FF2B5EF4-FFF2-40B4-BE49-F238E27FC236}">
                <a16:creationId xmlns:a16="http://schemas.microsoft.com/office/drawing/2014/main" id="{7F1E2F63-36FC-DE4F-BD43-4FA5BE5FF4FB}"/>
              </a:ext>
            </a:extLst>
          </p:cNvPr>
          <p:cNvSpPr>
            <a:spLocks/>
          </p:cNvSpPr>
          <p:nvPr/>
        </p:nvSpPr>
        <p:spPr bwMode="auto">
          <a:xfrm>
            <a:off x="1295400" y="6172200"/>
            <a:ext cx="8763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3" algn="ctr" eaLnBrk="1" hangingPunct="1">
              <a:spcBef>
                <a:spcPts val="400"/>
              </a:spcBef>
              <a:buClr>
                <a:srgbClr val="A5AB81"/>
              </a:buClr>
              <a:buFont typeface="Wingdings" pitchFamily="2" charset="2"/>
              <a:buNone/>
            </a:pPr>
            <a:r>
              <a:rPr lang="en-US" altLang="en-US">
                <a:solidFill>
                  <a:schemeClr val="folHlink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Figure 6: Error Distance as a function of data points</a:t>
            </a:r>
          </a:p>
        </p:txBody>
      </p:sp>
      <p:sp>
        <p:nvSpPr>
          <p:cNvPr id="62468" name="Rectangle 7">
            <a:extLst>
              <a:ext uri="{FF2B5EF4-FFF2-40B4-BE49-F238E27FC236}">
                <a16:creationId xmlns:a16="http://schemas.microsoft.com/office/drawing/2014/main" id="{05060DAF-5381-D742-A1CB-C9784ACCD819}"/>
              </a:ext>
            </a:extLst>
          </p:cNvPr>
          <p:cNvSpPr>
            <a:spLocks/>
          </p:cNvSpPr>
          <p:nvPr/>
        </p:nvSpPr>
        <p:spPr bwMode="auto">
          <a:xfrm>
            <a:off x="228600" y="1752600"/>
            <a:ext cx="3200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Accuracy of 40 points ~= that of 70 points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Also better if points are uniformly distributed</a:t>
            </a:r>
          </a:p>
        </p:txBody>
      </p:sp>
      <p:sp>
        <p:nvSpPr>
          <p:cNvPr id="62469" name="Rectangle 8">
            <a:extLst>
              <a:ext uri="{FF2B5EF4-FFF2-40B4-BE49-F238E27FC236}">
                <a16:creationId xmlns:a16="http://schemas.microsoft.com/office/drawing/2014/main" id="{2ABF17BB-44F7-AC4B-977C-7295656923BA}"/>
              </a:ext>
            </a:extLst>
          </p:cNvPr>
          <p:cNvSpPr>
            <a:spLocks/>
          </p:cNvSpPr>
          <p:nvPr/>
        </p:nvSpPr>
        <p:spPr bwMode="auto">
          <a:xfrm>
            <a:off x="-1447800" y="6477000"/>
            <a:ext cx="5638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1981200" indent="-381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4384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8956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3528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10000" indent="-381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4" eaLnBrk="1" hangingPunct="1">
              <a:spcBef>
                <a:spcPts val="400"/>
              </a:spcBef>
              <a:buClr>
                <a:srgbClr val="A5AB81"/>
              </a:buClr>
              <a:buSzPct val="65000"/>
              <a:buFont typeface="Wingdings" pitchFamily="2" charset="2"/>
              <a:buChar char="•"/>
            </a:pPr>
            <a:r>
              <a:rPr lang="en-US" altLang="en-US">
                <a:latin typeface="Comic Sans MS" panose="030F0902030302020204" pitchFamily="66" charset="0"/>
                <a:ea typeface="ＭＳ Ｐゴシック" panose="020B0600070205080204" pitchFamily="34" charset="-128"/>
              </a:rPr>
              <a:t>x-axis scaled logarithmically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09E15D25-B7BA-F142-A339-01160EEC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Lucida Bright" panose="02040602050505020304" pitchFamily="18" charset="77"/>
              </a:rPr>
              <a:t>Mobile User Tracking</a:t>
            </a: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F24E0CE8-DB1F-8F41-94AA-21E9FA2FD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4 SS samples/second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Sliding window of 10 samples to compute mean SS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19% worse than that of stationary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6DECFC57-8BD3-D24D-80B8-C9B29778B83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Limitations of Empirical Method</a:t>
            </a:r>
          </a:p>
        </p:txBody>
      </p:sp>
      <p:sp>
        <p:nvSpPr>
          <p:cNvPr id="66562" name="Rectangle 8">
            <a:extLst>
              <a:ext uri="{FF2B5EF4-FFF2-40B4-BE49-F238E27FC236}">
                <a16:creationId xmlns:a16="http://schemas.microsoft.com/office/drawing/2014/main" id="{B2BC0414-791F-8E40-8411-2B797AC18E13}"/>
              </a:ext>
            </a:extLst>
          </p:cNvPr>
          <p:cNvSpPr>
            <a:spLocks/>
          </p:cNvSpPr>
          <p:nvPr/>
        </p:nvSpPr>
        <p:spPr bwMode="auto">
          <a:xfrm>
            <a:off x="609600" y="16764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Long time to gather all the empirical data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1 floor</a:t>
            </a:r>
            <a:r>
              <a:rPr lang="en-US" altLang="en-US" sz="2400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*</a:t>
            </a: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= (70 locations) · (4 directions) · (20 samples)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No one wants to collect all that data for a whole office building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If BS moves, have to recollect all the data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en-US" altLang="en-US" sz="2900">
              <a:latin typeface="Comic Sans MS" panose="030F0902030302020204" pitchFamily="66" charset="0"/>
            </a:endParaRP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en-US" altLang="en-US" sz="2900">
              <a:latin typeface="Comic Sans MS" panose="030F0902030302020204" pitchFamily="66" charset="0"/>
            </a:endParaRP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en-US" altLang="en-US" sz="2900">
              <a:latin typeface="Comic Sans MS" panose="030F0902030302020204" pitchFamily="66" charset="0"/>
            </a:endParaRP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en-US" altLang="en-US" sz="2900">
              <a:latin typeface="Comic Sans MS" panose="030F0902030302020204" pitchFamily="66" charset="0"/>
            </a:endParaRP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None/>
            </a:pPr>
            <a:r>
              <a:rPr lang="en-US" altLang="en-US" sz="1200">
                <a:latin typeface="Comic Sans MS" panose="030F0902030302020204" pitchFamily="66" charset="0"/>
              </a:rPr>
              <a:t>~=*1000 square meters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en-US" altLang="en-US" sz="12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8D0B0C66-8646-864F-8B0B-F027DB24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95800"/>
            <a:ext cx="8686800" cy="990600"/>
          </a:xfrm>
        </p:spPr>
        <p:txBody>
          <a:bodyPr/>
          <a:lstStyle/>
          <a:p>
            <a:pPr algn="ctr"/>
            <a:r>
              <a:rPr lang="en-US" altLang="en-US" sz="4800" b="1" dirty="0">
                <a:latin typeface="Lucida Bright" panose="02040602050505020304" pitchFamily="18" charset="77"/>
              </a:rPr>
              <a:t>Model 2: Radio Propagation (theoretical)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2">
            <a:extLst>
              <a:ext uri="{FF2B5EF4-FFF2-40B4-BE49-F238E27FC236}">
                <a16:creationId xmlns:a16="http://schemas.microsoft.com/office/drawing/2014/main" id="{5DA0C3F3-804A-394F-9CB1-DC8508C8ED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The Radio Propagation Method</a:t>
            </a:r>
          </a:p>
        </p:txBody>
      </p:sp>
      <p:sp>
        <p:nvSpPr>
          <p:cNvPr id="70658" name="Rectangle 7">
            <a:extLst>
              <a:ext uri="{FF2B5EF4-FFF2-40B4-BE49-F238E27FC236}">
                <a16:creationId xmlns:a16="http://schemas.microsoft.com/office/drawing/2014/main" id="{0341AAE4-97D3-4449-8E5F-B0A8C8638434}"/>
              </a:ext>
            </a:extLst>
          </p:cNvPr>
          <p:cNvSpPr>
            <a:spLocks/>
          </p:cNvSpPr>
          <p:nvPr/>
        </p:nvSpPr>
        <p:spPr bwMode="auto">
          <a:xfrm>
            <a:off x="609600" y="16764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19088" indent="-319088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Create a search space for NNSS (to be used in the same way as before)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Reduce dependency on empirical data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How?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Model of indoor signal propagation</a:t>
            </a:r>
          </a:p>
          <a:p>
            <a:pPr lvl="2" eaLnBrk="1" hangingPunct="1">
              <a:buClrTx/>
              <a:buSzTx/>
              <a:buFont typeface="Wingdings" pitchFamily="2" charset="2"/>
              <a:buChar char="•"/>
            </a:pPr>
            <a:r>
              <a:rPr lang="en-US" altLang="en-US">
                <a:solidFill>
                  <a:schemeClr val="tx1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Compute (theoretically) SS data (similar to empirical) for locations (x,y) spaced uniformly along the floor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r>
              <a:rPr lang="en-US" altLang="en-US" sz="2900">
                <a:latin typeface="Comic Sans MS" panose="030F0902030302020204" pitchFamily="66" charset="0"/>
              </a:rPr>
              <a:t>Performance of method dependent of accuracy of model</a:t>
            </a:r>
          </a:p>
          <a:p>
            <a:pPr eaLnBrk="1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</a:pPr>
            <a:endParaRPr lang="en-US" altLang="en-US" sz="290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C2854978-858D-FA4C-84F9-2A05E5B1E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Challenges to Creating Model</a:t>
            </a:r>
          </a:p>
        </p:txBody>
      </p:sp>
      <p:sp>
        <p:nvSpPr>
          <p:cNvPr id="72706" name="Rectangle 5">
            <a:extLst>
              <a:ext uri="{FF2B5EF4-FFF2-40B4-BE49-F238E27FC236}">
                <a16:creationId xmlns:a16="http://schemas.microsoft.com/office/drawing/2014/main" id="{ECA8B001-AB1B-DB4A-B963-CD0D30AB4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Have to account for free-space loss / loss due to obstructions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Multipath Phenomenon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Signal arrives at user through multiple paths</a:t>
            </a:r>
          </a:p>
          <a:p>
            <a:pPr lvl="2"/>
            <a:r>
              <a:rPr lang="en-US" altLang="en-US">
                <a:latin typeface="Lucida Bright" panose="02040602050505020304" pitchFamily="18" charset="77"/>
              </a:rPr>
              <a:t>Depends on layout of building, construction material, number/type of objects in the building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Each building is different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If a wall (etc) moves, has to be recalculated</a:t>
            </a:r>
          </a:p>
          <a:p>
            <a:pPr>
              <a:buFont typeface="Wingdings" pitchFamily="2" charset="2"/>
              <a:buNone/>
            </a:pPr>
            <a:endParaRPr lang="en-US" altLang="en-US">
              <a:latin typeface="Lucida Bright" panose="02040602050505020304" pitchFamily="18" charset="7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15AD1DF4-16AE-C54A-8FE8-698F4511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Chosen Model</a:t>
            </a:r>
          </a:p>
        </p:txBody>
      </p:sp>
      <p:sp>
        <p:nvSpPr>
          <p:cNvPr id="74754" name="AutoShape 3">
            <a:extLst>
              <a:ext uri="{FF2B5EF4-FFF2-40B4-BE49-F238E27FC236}">
                <a16:creationId xmlns:a16="http://schemas.microsoft.com/office/drawing/2014/main" id="{DB346193-24F2-9842-BBB5-A44C1D1FD501}"/>
              </a:ext>
            </a:extLst>
          </p:cNvPr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612775" y="1600200"/>
            <a:ext cx="8150225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Floor Attenuation Factor propagation models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Accommodates different building layouts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Accounts for large-scale path loss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Adaptations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Do not care about attenuation due to floors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Instead focus on walls</a:t>
            </a:r>
          </a:p>
          <a:p>
            <a:pPr lvl="4"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Esp. between transmitter and receiver</a:t>
            </a:r>
          </a:p>
          <a:p>
            <a:pPr lvl="4"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Wall Attenuation Factor (WAF)</a:t>
            </a:r>
          </a:p>
          <a:p>
            <a:pPr>
              <a:lnSpc>
                <a:spcPct val="90000"/>
              </a:lnSpc>
            </a:pPr>
            <a:r>
              <a:rPr lang="en-US" altLang="en-US">
                <a:latin typeface="Lucida Bright" panose="02040602050505020304" pitchFamily="18" charset="77"/>
              </a:rPr>
              <a:t>Testing “suggests that the entire system can be relocation to a different part of the building, but the same parameter values can be used” (p 9)</a:t>
            </a:r>
          </a:p>
          <a:p>
            <a:pPr lvl="4">
              <a:lnSpc>
                <a:spcPct val="90000"/>
              </a:lnSpc>
            </a:pPr>
            <a:endParaRPr lang="en-US" altLang="en-US">
              <a:latin typeface="Lucida Bright" panose="02040602050505020304" pitchFamily="18" charset="77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CF2100FD-62F6-9C48-9692-06792CDF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Propagation Model v. Empirical</a:t>
            </a:r>
          </a:p>
        </p:txBody>
      </p:sp>
      <p:sp>
        <p:nvSpPr>
          <p:cNvPr id="76802" name="Rectangle 5">
            <a:extLst>
              <a:ext uri="{FF2B5EF4-FFF2-40B4-BE49-F238E27FC236}">
                <a16:creationId xmlns:a16="http://schemas.microsoft.com/office/drawing/2014/main" id="{04F63B27-0A5A-7E43-BF69-2A98EDDC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752600"/>
            <a:ext cx="2282825" cy="4525963"/>
          </a:xfrm>
        </p:spPr>
        <p:txBody>
          <a:bodyPr/>
          <a:lstStyle/>
          <a:p>
            <a:r>
              <a:rPr lang="en-US" altLang="en-US">
                <a:latin typeface="Lucida Bright" panose="02040602050505020304" pitchFamily="18" charset="77"/>
              </a:rPr>
              <a:t>Not as good as empirical</a:t>
            </a:r>
          </a:p>
          <a:p>
            <a:r>
              <a:rPr lang="en-US" altLang="en-US">
                <a:latin typeface="Lucida Bright" panose="02040602050505020304" pitchFamily="18" charset="77"/>
              </a:rPr>
              <a:t>Better than Strongest BS and Random Methods</a:t>
            </a:r>
          </a:p>
        </p:txBody>
      </p:sp>
      <p:pic>
        <p:nvPicPr>
          <p:cNvPr id="76803" name="Picture 6">
            <a:extLst>
              <a:ext uri="{FF2B5EF4-FFF2-40B4-BE49-F238E27FC236}">
                <a16:creationId xmlns:a16="http://schemas.microsoft.com/office/drawing/2014/main" id="{AB8553B7-C90D-E348-B8C3-EB73B8D15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25" t="17000" r="11874" b="50000"/>
          <a:stretch>
            <a:fillRect/>
          </a:stretch>
        </p:blipFill>
        <p:spPr bwMode="auto">
          <a:xfrm>
            <a:off x="2438400" y="1676400"/>
            <a:ext cx="6705600" cy="395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7">
            <a:extLst>
              <a:ext uri="{FF2B5EF4-FFF2-40B4-BE49-F238E27FC236}">
                <a16:creationId xmlns:a16="http://schemas.microsoft.com/office/drawing/2014/main" id="{00227CF2-0C3E-0C44-B71C-AC94AAD2239B}"/>
              </a:ext>
            </a:extLst>
          </p:cNvPr>
          <p:cNvSpPr>
            <a:spLocks/>
          </p:cNvSpPr>
          <p:nvPr/>
        </p:nvSpPr>
        <p:spPr bwMode="auto">
          <a:xfrm>
            <a:off x="914400" y="5638800"/>
            <a:ext cx="8763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spcBef>
                <a:spcPct val="20000"/>
              </a:spcBef>
              <a:buClr>
                <a:srgbClr val="A6A6A6"/>
              </a:buClr>
              <a:buSzPct val="120000"/>
              <a:buFont typeface="Lucida Grande" panose="020B0600040502020204" pitchFamily="34" charset="0"/>
              <a:buChar char="●"/>
              <a:defRPr sz="24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1pPr>
            <a:lvl2pPr marL="37931725" indent="-37474525">
              <a:spcBef>
                <a:spcPct val="20000"/>
              </a:spcBef>
              <a:buClr>
                <a:srgbClr val="A6A6A6"/>
              </a:buClr>
              <a:buSzPct val="80000"/>
              <a:buFont typeface="Lucida Grande" panose="020B0600040502020204" pitchFamily="34" charset="0"/>
              <a:buChar char="●"/>
              <a:defRPr sz="2000">
                <a:solidFill>
                  <a:srgbClr val="7F7F7F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2pPr>
            <a:lvl3pPr marL="1143000" indent="-228600">
              <a:spcBef>
                <a:spcPct val="20000"/>
              </a:spcBef>
              <a:buClr>
                <a:srgbClr val="CC0000"/>
              </a:buClr>
              <a:buSzPct val="125000"/>
              <a:buChar char="•"/>
              <a:defRPr>
                <a:solidFill>
                  <a:srgbClr val="800000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Lucida Bright" panose="02040602050505020304" pitchFamily="18" charset="77"/>
                <a:ea typeface="Gungsuh" panose="02030600000101010101" pitchFamily="18" charset="-127"/>
              </a:defRPr>
            </a:lvl9pPr>
          </a:lstStyle>
          <a:p>
            <a:pPr lvl="3" algn="ctr" eaLnBrk="1" hangingPunct="1">
              <a:spcBef>
                <a:spcPts val="400"/>
              </a:spcBef>
              <a:buClr>
                <a:srgbClr val="A5AB81"/>
              </a:buClr>
              <a:buFont typeface="Wingdings" pitchFamily="2" charset="2"/>
              <a:buNone/>
            </a:pPr>
            <a:r>
              <a:rPr lang="en-US" altLang="en-US">
                <a:solidFill>
                  <a:schemeClr val="folHlink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Figure 9: Predicted verses measured signal strength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5C67880D-DF35-7441-B414-BE1A2FD4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4495800"/>
            <a:ext cx="7696200" cy="990600"/>
          </a:xfrm>
        </p:spPr>
        <p:txBody>
          <a:bodyPr/>
          <a:lstStyle/>
          <a:p>
            <a:pPr algn="ctr"/>
            <a:r>
              <a:rPr lang="en-US" altLang="en-US" sz="4800" b="1">
                <a:latin typeface="Lucida Bright" panose="02040602050505020304" pitchFamily="18" charset="77"/>
              </a:rPr>
              <a:t>Final Thoughts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8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12.8|9.7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entury Gothic"/>
        <a:ea typeface="Gungsuh"/>
        <a:cs typeface="Gungsuh"/>
      </a:majorFont>
      <a:minorFont>
        <a:latin typeface="Century Gothic"/>
        <a:ea typeface="Gungsuh"/>
        <a:cs typeface="Gungsu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charset="2"/>
          <a:buChar char="•"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Gungsuh" pitchFamily="18" charset="-127"/>
            <a:cs typeface="Gungsuh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 typeface="Wingdings" charset="2"/>
          <a:buChar char="•"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Gungsuh" pitchFamily="18" charset="-127"/>
            <a:cs typeface="Gungsuh" pitchFamily="18" charset="-127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2004:Templates:Presentations:Designs:Mimosa</Template>
  <TotalTime>265841</TotalTime>
  <Words>1093</Words>
  <Application>Microsoft Macintosh PowerPoint</Application>
  <PresentationFormat>On-screen Show (4:3)</PresentationFormat>
  <Paragraphs>226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Gungsuh</vt:lpstr>
      <vt:lpstr>ＭＳ Ｐゴシック</vt:lpstr>
      <vt:lpstr>Arial</vt:lpstr>
      <vt:lpstr>Century Gothic</vt:lpstr>
      <vt:lpstr>Comic Sans MS</vt:lpstr>
      <vt:lpstr>Lucida Bright</vt:lpstr>
      <vt:lpstr>Lucida Grande</vt:lpstr>
      <vt:lpstr>Wingdings</vt:lpstr>
      <vt:lpstr>Default Design</vt:lpstr>
      <vt:lpstr>Smartphone Positioning Systems       material from UIUC, Prof. Romit Roy Choudhury  </vt:lpstr>
      <vt:lpstr>Motivation</vt:lpstr>
      <vt:lpstr>Motivation</vt:lpstr>
      <vt:lpstr>PowerPoint Presentation</vt:lpstr>
      <vt:lpstr>Apps</vt:lpstr>
      <vt:lpstr>Apps</vt:lpstr>
      <vt:lpstr>PowerPoint Presentation</vt:lpstr>
      <vt:lpstr>Enabling Technology</vt:lpstr>
      <vt:lpstr>Enabling Technology</vt:lpstr>
      <vt:lpstr>Enabling Technology</vt:lpstr>
      <vt:lpstr>Enabling Technology</vt:lpstr>
      <vt:lpstr>RADAR: An In-Building RF-based User Location and Tracking System</vt:lpstr>
      <vt:lpstr>The Idea</vt:lpstr>
      <vt:lpstr>Overview</vt:lpstr>
      <vt:lpstr>Previous Work</vt:lpstr>
      <vt:lpstr>Methodology</vt:lpstr>
      <vt:lpstr>Building Floor Layout</vt:lpstr>
      <vt:lpstr>Key Idea</vt:lpstr>
      <vt:lpstr>Data Collection Process for training</vt:lpstr>
      <vt:lpstr>Signal Strength</vt:lpstr>
      <vt:lpstr>Model 1: Experimental</vt:lpstr>
      <vt:lpstr>The Empirical Method</vt:lpstr>
      <vt:lpstr>Location Estimate Error</vt:lpstr>
      <vt:lpstr>Multiple Nearest Neighbors</vt:lpstr>
      <vt:lpstr>Number of Data Points</vt:lpstr>
      <vt:lpstr>Mobile User Tracking</vt:lpstr>
      <vt:lpstr>Limitations of Empirical Method</vt:lpstr>
      <vt:lpstr>Model 2: Radio Propagation (theoretical)</vt:lpstr>
      <vt:lpstr>The Radio Propagation Method</vt:lpstr>
      <vt:lpstr>Challenges to Creating Model</vt:lpstr>
      <vt:lpstr>Chosen Model</vt:lpstr>
      <vt:lpstr>Propagation Model v. Empirical</vt:lpstr>
      <vt:lpstr>Final Thoughts</vt:lpstr>
    </vt:vector>
  </TitlesOfParts>
  <Company>university of illinois at urbana-champaign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Routing in Sensor Networks:  Directed Diffusion and other proposals  </dc:title>
  <dc:creator>romit roy choudhury</dc:creator>
  <cp:lastModifiedBy>mahanthg74@gmail.com</cp:lastModifiedBy>
  <cp:revision>1716</cp:revision>
  <cp:lastPrinted>2012-04-02T21:09:02Z</cp:lastPrinted>
  <dcterms:created xsi:type="dcterms:W3CDTF">2012-06-22T03:32:44Z</dcterms:created>
  <dcterms:modified xsi:type="dcterms:W3CDTF">2022-02-01T18:58:09Z</dcterms:modified>
</cp:coreProperties>
</file>