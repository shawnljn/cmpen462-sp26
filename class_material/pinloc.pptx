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268" r:id="rId2"/>
    <p:sldId id="2269" r:id="rId3"/>
    <p:sldId id="2270" r:id="rId4"/>
    <p:sldId id="2271" r:id="rId5"/>
    <p:sldId id="2272" r:id="rId6"/>
    <p:sldId id="2273" r:id="rId7"/>
    <p:sldId id="2274" r:id="rId8"/>
    <p:sldId id="2275" r:id="rId9"/>
    <p:sldId id="2276" r:id="rId10"/>
    <p:sldId id="2277" r:id="rId11"/>
    <p:sldId id="2278" r:id="rId12"/>
    <p:sldId id="2279" r:id="rId13"/>
    <p:sldId id="2280" r:id="rId14"/>
    <p:sldId id="2281" r:id="rId15"/>
    <p:sldId id="2282" r:id="rId16"/>
    <p:sldId id="2286" r:id="rId17"/>
    <p:sldId id="2287" r:id="rId1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9" frame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9"/>
    <p:restoredTop sz="69272"/>
  </p:normalViewPr>
  <p:slideViewPr>
    <p:cSldViewPr>
      <p:cViewPr varScale="1">
        <p:scale>
          <a:sx n="60" d="100"/>
          <a:sy n="60" d="100"/>
        </p:scale>
        <p:origin x="148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3272"/>
    </p:cViewPr>
  </p:sorterViewPr>
  <p:notesViewPr>
    <p:cSldViewPr>
      <p:cViewPr varScale="1">
        <p:scale>
          <a:sx n="85" d="100"/>
          <a:sy n="85" d="100"/>
        </p:scale>
        <p:origin x="-2288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>
            <a:extLst>
              <a:ext uri="{FF2B5EF4-FFF2-40B4-BE49-F238E27FC236}">
                <a16:creationId xmlns:a16="http://schemas.microsoft.com/office/drawing/2014/main" id="{8E75C36D-E5D0-0D41-B276-5AA7FC9834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DC3BE346-09DF-D747-BA73-696DF0A9BE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60" name="Rectangle 4">
            <a:extLst>
              <a:ext uri="{FF2B5EF4-FFF2-40B4-BE49-F238E27FC236}">
                <a16:creationId xmlns:a16="http://schemas.microsoft.com/office/drawing/2014/main" id="{EE7478E5-690A-2349-9FFE-22AEBEFB520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BB797421-0FAB-FB46-AA93-29E62C8632A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spcBef>
                <a:spcPct val="0"/>
              </a:spcBef>
              <a:buFontTx/>
              <a:buNone/>
              <a:defRPr sz="1200" smtClean="0">
                <a:latin typeface="Arial" charset="0"/>
                <a:ea typeface="Gungsuh" charset="-127"/>
              </a:defRPr>
            </a:lvl1pPr>
          </a:lstStyle>
          <a:p>
            <a:pPr>
              <a:defRPr/>
            </a:pPr>
            <a:fld id="{15F6B689-0DA5-5143-A909-49020A4C0D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54E7728C-0321-874D-BEBF-C81B74A885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F508913F-6500-3444-AE3C-09CC4E322E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A5CD62A-0C79-B941-9B90-0706B4C28ED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6309" name="Rectangle 5">
            <a:extLst>
              <a:ext uri="{FF2B5EF4-FFF2-40B4-BE49-F238E27FC236}">
                <a16:creationId xmlns:a16="http://schemas.microsoft.com/office/drawing/2014/main" id="{BC145168-C585-5641-A06F-B9C354F366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6310" name="Rectangle 6">
            <a:extLst>
              <a:ext uri="{FF2B5EF4-FFF2-40B4-BE49-F238E27FC236}">
                <a16:creationId xmlns:a16="http://schemas.microsoft.com/office/drawing/2014/main" id="{1F0FE90A-6F56-3240-AEDE-58BCEE2273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26311" name="Rectangle 7">
            <a:extLst>
              <a:ext uri="{FF2B5EF4-FFF2-40B4-BE49-F238E27FC236}">
                <a16:creationId xmlns:a16="http://schemas.microsoft.com/office/drawing/2014/main" id="{3AA3925C-8F32-7240-9846-7EB224024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spcBef>
                <a:spcPct val="0"/>
              </a:spcBef>
              <a:buFontTx/>
              <a:buNone/>
              <a:defRPr sz="1200" smtClean="0">
                <a:latin typeface="Arial" charset="0"/>
                <a:ea typeface="Gungsuh" charset="-127"/>
              </a:defRPr>
            </a:lvl1pPr>
          </a:lstStyle>
          <a:p>
            <a:pPr>
              <a:defRPr/>
            </a:pPr>
            <a:fld id="{FAF0636F-7FE3-5A4C-A3EC-30D9E1B910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1">
            <a:extLst>
              <a:ext uri="{FF2B5EF4-FFF2-40B4-BE49-F238E27FC236}">
                <a16:creationId xmlns:a16="http://schemas.microsoft.com/office/drawing/2014/main" id="{401F2E3B-4A5D-C745-8316-4FEF909AB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F6B8BB3E-534A-A040-8ED3-6578A3774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9688"/>
            <a:endParaRPr lang="en-US" altLang="en-US" sz="1300" dirty="0">
              <a:solidFill>
                <a:srgbClr val="000000"/>
              </a:solidFill>
              <a:latin typeface="Lucida Grande" panose="020B0600040502020204" pitchFamily="34" charset="0"/>
              <a:cs typeface="Lucida Grande" panose="020B0600040502020204" pitchFamily="34" charset="0"/>
              <a:sym typeface="Lucida Grande" panose="020B06000405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1">
            <a:extLst>
              <a:ext uri="{FF2B5EF4-FFF2-40B4-BE49-F238E27FC236}">
                <a16:creationId xmlns:a16="http://schemas.microsoft.com/office/drawing/2014/main" id="{2E07BAF8-7F26-814C-A64C-F61D0A57EA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5D106BAF-05B4-F649-97FB-C3E20C494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1">
            <a:extLst>
              <a:ext uri="{FF2B5EF4-FFF2-40B4-BE49-F238E27FC236}">
                <a16:creationId xmlns:a16="http://schemas.microsoft.com/office/drawing/2014/main" id="{A3BC7D57-A58B-E642-9D7F-61C092D7D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E2134FAA-9F41-5147-8587-63F77C0F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buAutoNum type="arabicParenR"/>
            </a:pPr>
            <a:endParaRPr lang="en-US" altLang="en-US" sz="1700" dirty="0">
              <a:solidFill>
                <a:srgbClr val="000000"/>
              </a:solidFill>
              <a:latin typeface="Lucida Bright" panose="02040602050505020304" pitchFamily="18" charset="77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1">
            <a:extLst>
              <a:ext uri="{FF2B5EF4-FFF2-40B4-BE49-F238E27FC236}">
                <a16:creationId xmlns:a16="http://schemas.microsoft.com/office/drawing/2014/main" id="{68D5F2CA-D98C-584B-9E24-36B5773F6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FAE61064-9246-1245-B4D2-B73349D87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1">
            <a:extLst>
              <a:ext uri="{FF2B5EF4-FFF2-40B4-BE49-F238E27FC236}">
                <a16:creationId xmlns:a16="http://schemas.microsoft.com/office/drawing/2014/main" id="{CF57D9A4-181F-0044-B179-425C8FBD7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D81DC35E-43B5-6740-A57B-59AD5D0EA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>
            <a:extLst>
              <a:ext uri="{FF2B5EF4-FFF2-40B4-BE49-F238E27FC236}">
                <a16:creationId xmlns:a16="http://schemas.microsoft.com/office/drawing/2014/main" id="{DCD331F6-E110-BD45-9356-3B900BB331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BF3CE3B4-6EA4-664D-B4CB-885C2E36B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1">
            <a:extLst>
              <a:ext uri="{FF2B5EF4-FFF2-40B4-BE49-F238E27FC236}">
                <a16:creationId xmlns:a16="http://schemas.microsoft.com/office/drawing/2014/main" id="{70B0175C-6D8D-E24C-903E-98F0E6AFBF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67F19FF5-CF7B-E244-ADBE-734BA8C4C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">
            <a:extLst>
              <a:ext uri="{FF2B5EF4-FFF2-40B4-BE49-F238E27FC236}">
                <a16:creationId xmlns:a16="http://schemas.microsoft.com/office/drawing/2014/main" id="{80BD7D20-4C1C-314F-8141-EF50C2F6F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AA60CE01-D0FE-4444-8BDD-685E1C64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500" dirty="0">
              <a:solidFill>
                <a:srgbClr val="000000"/>
              </a:solidFill>
              <a:latin typeface="Lucida Bright" panose="02040602050505020304" pitchFamily="18" charset="77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1">
            <a:extLst>
              <a:ext uri="{FF2B5EF4-FFF2-40B4-BE49-F238E27FC236}">
                <a16:creationId xmlns:a16="http://schemas.microsoft.com/office/drawing/2014/main" id="{C55CC5C2-4AA2-2F4C-9AA5-903B4B28E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A4B755E-B0BC-D744-AD6E-C3B924A32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1">
            <a:extLst>
              <a:ext uri="{FF2B5EF4-FFF2-40B4-BE49-F238E27FC236}">
                <a16:creationId xmlns:a16="http://schemas.microsoft.com/office/drawing/2014/main" id="{5794EB57-235D-F44E-843D-D9FC2B957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22F41EA8-8BBA-8447-8C06-8E5B57FF7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1">
            <a:extLst>
              <a:ext uri="{FF2B5EF4-FFF2-40B4-BE49-F238E27FC236}">
                <a16:creationId xmlns:a16="http://schemas.microsoft.com/office/drawing/2014/main" id="{EBF73426-5BDA-494A-A5F4-D73F14DE19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56060FA7-0982-E641-99DD-60A5D0A4F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2100" dirty="0">
              <a:solidFill>
                <a:srgbClr val="000000"/>
              </a:solidFill>
              <a:latin typeface="Lucida Bright" panose="02040602050505020304" pitchFamily="18" charset="77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1">
            <a:extLst>
              <a:ext uri="{FF2B5EF4-FFF2-40B4-BE49-F238E27FC236}">
                <a16:creationId xmlns:a16="http://schemas.microsoft.com/office/drawing/2014/main" id="{5D0ED408-1FEE-BA4E-A37C-382ABEA30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221C2CA-052D-954D-BE1B-A8997F6D0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2100" dirty="0">
              <a:solidFill>
                <a:srgbClr val="000000"/>
              </a:solidFill>
              <a:latin typeface="Lucida Bright" panose="02040602050505020304" pitchFamily="18" charset="77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1">
            <a:extLst>
              <a:ext uri="{FF2B5EF4-FFF2-40B4-BE49-F238E27FC236}">
                <a16:creationId xmlns:a16="http://schemas.microsoft.com/office/drawing/2014/main" id="{DCB1262B-5F39-7543-AED2-0841432E83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023219E-2EE6-1841-B930-C1B162C99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1">
            <a:extLst>
              <a:ext uri="{FF2B5EF4-FFF2-40B4-BE49-F238E27FC236}">
                <a16:creationId xmlns:a16="http://schemas.microsoft.com/office/drawing/2014/main" id="{BD4C140F-3090-1B43-8F9E-065A9A9022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8763C47E-1C33-B24E-87EA-617A54F8B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600" dirty="0">
              <a:latin typeface="Lucida Bright" panose="02040602050505020304" pitchFamily="18" charset="77"/>
              <a:cs typeface="Arial" panose="020B0604020202020204" pitchFamily="34" charset="0"/>
              <a:sym typeface="Helvetica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39681B-8D43-704A-89B4-2A291B1E3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9EAD01-59FF-DD4F-8F32-18AE232E5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F3F70A-9FE5-DE40-B59A-EA03E0F2D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536C1E-0B2B-A04D-91FC-2014B45EB5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21F70F-712C-8D43-800E-84020D9982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7574A5-3391-9045-B9A7-8D476E350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3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8F7A4C-8795-B64D-8358-3669CD7CA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FBDB8E-BBEC-3340-BE84-E4EA740EF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EB6AE0-B5B8-8A41-94EF-ED7288D821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8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18C89-2D82-4646-AAE9-D5CAF20604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ED817-7388-C040-A04B-2CFD5FEE5F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B87B0-F787-A948-B3C8-B935D3C8DD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25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706448-940A-1C42-BE5C-DC7A008FB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8D6056B-F424-624C-91D7-8F0446BA2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BAB5BD-DB61-6142-938B-CA40CABDE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08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4BE5C4-985C-CE49-933A-7AF285143E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C2337D-4A18-2C4F-BC8E-2B73DC164F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F009B4-AF6E-1146-A3BF-359EC7104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90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A6C4A64-724E-C34A-936C-0DBF646246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E82F0E-589A-1042-BCEA-333F3BD0F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C45A40-DEAF-3542-BDF9-A266649AB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48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2586D-0E46-BF41-AFA5-746B585097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015575-282C-354C-B7E9-AEB17D912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440D4-EE81-9A45-884F-1EB0F5CCA2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E0385-998F-0743-8757-4BAEEFCBD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DB866-FCD8-ED4A-AB5F-07B49D564D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52173-0018-CE48-B66A-715F1C7950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09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89B50B-469E-E547-AAF6-ED66B8A26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1CCAEA-0917-3046-B198-996FB9B50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ED1391-63C1-2B4C-B5F4-71535D4308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42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6354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6354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2CD19-170F-C347-BFCD-9D997F9F1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4C53B6-5AD8-5849-8EC9-84E91E31FB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4C2283-98A6-DD42-B86D-7F48CC77D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461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40386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0386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76688"/>
            <a:ext cx="40386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76688"/>
            <a:ext cx="40386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1F952A-39FE-EE45-A45A-52F23EE561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0AB9644-4DC7-3249-863D-5FC2B4AA89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950971-DCCA-1A41-93C4-FD04FD7C90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8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7B3014-17D1-2541-9E5C-619FE1BEC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9B981F-4FFF-2944-B8CA-45D0526BC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5172AD-5FD9-A842-827C-9F43CE810A0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07F9542-087C-7C41-B2AA-20FF8D3A27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935758-BA8C-8F42-B6D6-21FD27167B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752D9B4-D598-D94D-AEC9-74FF8B7755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575" y="11430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en-US" altLang="en-US" sz="2400">
              <a:latin typeface="Lucida Bright" panose="02040602050505020304" pitchFamily="18" charset="7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6A6A6"/>
        </a:buClr>
        <a:buSzPct val="120000"/>
        <a:buFont typeface="Lucida Grande" panose="020B0600040502020204" pitchFamily="34" charset="0"/>
        <a:buChar char="●"/>
        <a:defRPr sz="2400">
          <a:solidFill>
            <a:schemeClr val="tx1"/>
          </a:solidFill>
          <a:latin typeface="Lucida Brigh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A6A6A6"/>
        </a:buClr>
        <a:buSzPct val="80000"/>
        <a:buFont typeface="Lucida Grande" panose="020B0600040502020204" pitchFamily="34" charset="0"/>
        <a:buChar char="●"/>
        <a:defRPr sz="2000">
          <a:solidFill>
            <a:srgbClr val="7F7F7F"/>
          </a:solidFill>
          <a:latin typeface="Lucida Brigh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125000"/>
        <a:buChar char="•"/>
        <a:defRPr>
          <a:solidFill>
            <a:srgbClr val="800000"/>
          </a:solidFill>
          <a:latin typeface="Lucida Brigh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Lucida Brigh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Lucida Brigh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3">
            <a:extLst>
              <a:ext uri="{FF2B5EF4-FFF2-40B4-BE49-F238E27FC236}">
                <a16:creationId xmlns:a16="http://schemas.microsoft.com/office/drawing/2014/main" id="{E8249242-BAC5-3D41-9C3E-982EA733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8E6653-EB14-544D-A231-8735090CCF0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EE2FA-1503-E04F-B83F-D8B934181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algn="ctr"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1D609A14-A27F-A345-A72A-617C4A2E7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82296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>
              <a:buFont typeface="Wingdings" pitchFamily="2" charset="2"/>
              <a:buNone/>
            </a:pPr>
            <a:endParaRPr lang="en-US" altLang="en-US"/>
          </a:p>
          <a:p>
            <a:pPr algn="ctr">
              <a:buFont typeface="Wingdings" pitchFamily="2" charset="2"/>
              <a:buNone/>
            </a:pPr>
            <a:endParaRPr lang="en-US" altLang="en-US"/>
          </a:p>
          <a:p>
            <a:pPr algn="ctr">
              <a:buFont typeface="Wingdings" pitchFamily="2" charset="2"/>
              <a:buNone/>
            </a:pPr>
            <a:endParaRPr lang="en-US" altLang="en-US"/>
          </a:p>
          <a:p>
            <a:pPr algn="ctr">
              <a:buFont typeface="Wingdings" pitchFamily="2" charset="2"/>
              <a:buNone/>
            </a:pPr>
            <a:endParaRPr lang="en-US" altLang="en-US"/>
          </a:p>
          <a:p>
            <a:pPr algn="ctr">
              <a:buFont typeface="Wingdings" pitchFamily="2" charset="2"/>
              <a:buNone/>
            </a:pPr>
            <a:endParaRPr lang="en-US" altLang="en-US"/>
          </a:p>
          <a:p>
            <a:pPr algn="ctr">
              <a:buFont typeface="Wingdings" pitchFamily="2" charset="2"/>
              <a:buNone/>
            </a:pPr>
            <a:endParaRPr lang="en-US" altLang="en-US"/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r>
              <a:rPr lang="en-US" altLang="en-US">
                <a:solidFill>
                  <a:srgbClr val="FFFFFF"/>
                </a:solidFill>
              </a:rPr>
              <a:t>Precise Indoor Localization</a:t>
            </a: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r>
              <a:rPr lang="en-US" altLang="en-US">
                <a:solidFill>
                  <a:srgbClr val="FFFFFF"/>
                </a:solidFill>
              </a:rPr>
              <a:t>(</a:t>
            </a:r>
            <a:r>
              <a:rPr lang="en-US" altLang="en-US">
                <a:solidFill>
                  <a:srgbClr val="FF0000"/>
                </a:solidFill>
              </a:rPr>
              <a:t>PinLoc*</a:t>
            </a:r>
            <a:r>
              <a:rPr lang="en-US" altLang="en-US">
                <a:solidFill>
                  <a:srgbClr val="FFFFFF"/>
                </a:solidFill>
              </a:rPr>
              <a:t>)</a:t>
            </a: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endParaRPr lang="en-US" altLang="en-US" sz="1400">
              <a:solidFill>
                <a:srgbClr val="BFBFBF"/>
              </a:solidFill>
            </a:endParaRP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r>
              <a:rPr lang="en-US" altLang="en-US" sz="1400">
                <a:solidFill>
                  <a:srgbClr val="FF0000"/>
                </a:solidFill>
              </a:rPr>
              <a:t>*</a:t>
            </a:r>
            <a:r>
              <a:rPr lang="en-US" altLang="en-US" sz="1400">
                <a:solidFill>
                  <a:srgbClr val="BFBFBF"/>
                </a:solidFill>
              </a:rPr>
              <a:t>Planned for deployment in Duke’s Nasher Art Museum </a:t>
            </a:r>
          </a:p>
        </p:txBody>
      </p:sp>
      <p:pic>
        <p:nvPicPr>
          <p:cNvPr id="82948" name="Picture 9">
            <a:extLst>
              <a:ext uri="{FF2B5EF4-FFF2-40B4-BE49-F238E27FC236}">
                <a16:creationId xmlns:a16="http://schemas.microsoft.com/office/drawing/2014/main" id="{761DADB8-F854-0445-A85D-C58673219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52600"/>
            <a:ext cx="25908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Picture 5">
            <a:extLst>
              <a:ext uri="{FF2B5EF4-FFF2-40B4-BE49-F238E27FC236}">
                <a16:creationId xmlns:a16="http://schemas.microsoft.com/office/drawing/2014/main" id="{7AC1493A-8997-034D-893C-2251D4659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3739357" y="977106"/>
            <a:ext cx="152400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83970" name="Picture 6">
            <a:extLst>
              <a:ext uri="{FF2B5EF4-FFF2-40B4-BE49-F238E27FC236}">
                <a16:creationId xmlns:a16="http://schemas.microsoft.com/office/drawing/2014/main" id="{1D8F42DA-91DF-0049-9C11-50EBA442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14650"/>
            <a:ext cx="102870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83971" name="Picture 7">
            <a:extLst>
              <a:ext uri="{FF2B5EF4-FFF2-40B4-BE49-F238E27FC236}">
                <a16:creationId xmlns:a16="http://schemas.microsoft.com/office/drawing/2014/main" id="{ABD60B6B-16E6-7E44-B491-DB377DCBA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6993540">
            <a:off x="3790157" y="3321844"/>
            <a:ext cx="198437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83972" name="Picture 8">
            <a:extLst>
              <a:ext uri="{FF2B5EF4-FFF2-40B4-BE49-F238E27FC236}">
                <a16:creationId xmlns:a16="http://schemas.microsoft.com/office/drawing/2014/main" id="{C6981A46-FFB0-FA42-9324-67554F3D4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76225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22" name="Line 10">
            <a:extLst>
              <a:ext uri="{FF2B5EF4-FFF2-40B4-BE49-F238E27FC236}">
                <a16:creationId xmlns:a16="http://schemas.microsoft.com/office/drawing/2014/main" id="{AAF48412-6648-1F4A-92D6-F4921FB2B69F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1714500" y="3152775"/>
            <a:ext cx="5257800" cy="29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5725" name="Line 13">
            <a:extLst>
              <a:ext uri="{FF2B5EF4-FFF2-40B4-BE49-F238E27FC236}">
                <a16:creationId xmlns:a16="http://schemas.microsoft.com/office/drawing/2014/main" id="{81CC5AC5-6436-BA46-94DE-5459E6BDC8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25600" y="3448050"/>
            <a:ext cx="5080000" cy="1166813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 type="arrow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0A505B54-8227-554F-A0C5-9564CECD2E0B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2320925"/>
            <a:ext cx="5295900" cy="1127125"/>
            <a:chOff x="1866304" y="3157537"/>
            <a:chExt cx="6499729" cy="1126927"/>
          </a:xfrm>
        </p:grpSpPr>
        <p:sp>
          <p:nvSpPr>
            <p:cNvPr id="83980" name="Line 11">
              <a:extLst>
                <a:ext uri="{FF2B5EF4-FFF2-40B4-BE49-F238E27FC236}">
                  <a16:creationId xmlns:a16="http://schemas.microsoft.com/office/drawing/2014/main" id="{BED8B3BD-76CF-A941-8AE5-FBA87526D3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6304" y="3157537"/>
              <a:ext cx="3600896" cy="11269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3981" name="Line 19">
              <a:extLst>
                <a:ext uri="{FF2B5EF4-FFF2-40B4-BE49-F238E27FC236}">
                  <a16:creationId xmlns:a16="http://schemas.microsoft.com/office/drawing/2014/main" id="{C1B36CDD-6157-9943-B7E8-67A83F4C46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467197" y="3157537"/>
              <a:ext cx="2898836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pic>
        <p:nvPicPr>
          <p:cNvPr id="83976" name="Picture 25">
            <a:extLst>
              <a:ext uri="{FF2B5EF4-FFF2-40B4-BE49-F238E27FC236}">
                <a16:creationId xmlns:a16="http://schemas.microsoft.com/office/drawing/2014/main" id="{04905945-B4A6-0940-9EAC-200928A19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005263"/>
            <a:ext cx="795337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9">
            <a:extLst>
              <a:ext uri="{FF2B5EF4-FFF2-40B4-BE49-F238E27FC236}">
                <a16:creationId xmlns:a16="http://schemas.microsoft.com/office/drawing/2014/main" id="{F79DC671-3D41-5248-ABC0-AF52D21A5B0E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2305050"/>
            <a:ext cx="5219700" cy="2081213"/>
            <a:chOff x="1866304" y="2776537"/>
            <a:chExt cx="6405382" cy="2675807"/>
          </a:xfrm>
        </p:grpSpPr>
        <p:sp>
          <p:nvSpPr>
            <p:cNvPr id="83978" name="Line 11">
              <a:extLst>
                <a:ext uri="{FF2B5EF4-FFF2-40B4-BE49-F238E27FC236}">
                  <a16:creationId xmlns:a16="http://schemas.microsoft.com/office/drawing/2014/main" id="{FAF1873E-EFBF-0843-815B-18E27788D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6304" y="2776537"/>
              <a:ext cx="2337769" cy="15079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3979" name="Line 19">
              <a:extLst>
                <a:ext uri="{FF2B5EF4-FFF2-40B4-BE49-F238E27FC236}">
                  <a16:creationId xmlns:a16="http://schemas.microsoft.com/office/drawing/2014/main" id="{46AC1093-8F8D-1B41-AB05-8B76ED520C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204073" y="2776537"/>
              <a:ext cx="4067613" cy="26758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ash"/>
              <a:round/>
              <a:headEnd type="arrow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1">
            <a:extLst>
              <a:ext uri="{FF2B5EF4-FFF2-40B4-BE49-F238E27FC236}">
                <a16:creationId xmlns:a16="http://schemas.microsoft.com/office/drawing/2014/main" id="{95BB9F1E-DDBF-7448-99E2-1CED865D918F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86018" name="Rectangle 3">
            <a:extLst>
              <a:ext uri="{FF2B5EF4-FFF2-40B4-BE49-F238E27FC236}">
                <a16:creationId xmlns:a16="http://schemas.microsoft.com/office/drawing/2014/main" id="{3CB2AC62-0FAD-5A4A-B13A-65DFC8032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95400"/>
            <a:ext cx="8840787" cy="3048000"/>
          </a:xfrm>
        </p:spPr>
        <p:txBody>
          <a:bodyPr/>
          <a:lstStyle/>
          <a:p>
            <a:pPr marL="212725" indent="-212725"/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 802.11 a/g/n implements OFDM</a:t>
            </a:r>
          </a:p>
          <a:p>
            <a:pPr lvl="1"/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Wideband channel divided into subcarrie</a:t>
            </a:r>
            <a:r>
              <a:rPr lang="en-US" altLang="en-US" sz="1800">
                <a:latin typeface="Lucida Bright" panose="02040602050505020304" pitchFamily="18" charset="77"/>
                <a:sym typeface="Helvetica" pitchFamily="2" charset="0"/>
              </a:rPr>
              <a:t>rs</a:t>
            </a:r>
          </a:p>
          <a:p>
            <a:pPr lvl="1"/>
            <a:endParaRPr lang="en-US" altLang="en-US" sz="1800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endParaRPr lang="en-US" altLang="en-US" sz="1800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endParaRPr lang="en-US" altLang="en-US" sz="1800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endParaRPr lang="en-US" altLang="en-US" sz="1800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endParaRPr lang="en-US" altLang="en-US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Intel 5300 card exports frequency response per subcarrier</a:t>
            </a:r>
          </a:p>
          <a:p>
            <a:pPr marL="212725" indent="-212725"/>
            <a:endParaRPr lang="en-US" altLang="en-US" sz="2200">
              <a:latin typeface="Lucida Bright" panose="02040602050505020304" pitchFamily="18" charset="77"/>
              <a:sym typeface="Helvetica" pitchFamily="2" charset="0"/>
            </a:endParaRPr>
          </a:p>
          <a:p>
            <a:pPr lvl="1"/>
            <a:endParaRPr lang="en-US" altLang="en-US" sz="1800">
              <a:latin typeface="Lucida Bright" panose="02040602050505020304" pitchFamily="18" charset="77"/>
              <a:sym typeface="Helvetica" pitchFamily="2" charset="0"/>
            </a:endParaRPr>
          </a:p>
          <a:p>
            <a:pPr marL="212725" indent="-212725">
              <a:buFont typeface="Lucida Grande" panose="020B0600040502020204" pitchFamily="34" charset="0"/>
              <a:buNone/>
            </a:pPr>
            <a:endParaRPr lang="en-US" altLang="en-US" sz="2100">
              <a:latin typeface="Lucida Bright" panose="02040602050505020304" pitchFamily="18" charset="77"/>
              <a:sym typeface="Helvetica" pitchFamily="2" charset="0"/>
            </a:endParaRPr>
          </a:p>
          <a:p>
            <a:pPr marL="212725" indent="-212725"/>
            <a:endParaRPr lang="en-US" altLang="en-US" sz="2100">
              <a:latin typeface="Lucida Bright" panose="02040602050505020304" pitchFamily="18" charset="77"/>
              <a:sym typeface="Helvetica" pitchFamily="2" charset="0"/>
            </a:endParaRPr>
          </a:p>
        </p:txBody>
      </p:sp>
      <p:pic>
        <p:nvPicPr>
          <p:cNvPr id="86019" name="Picture 4">
            <a:extLst>
              <a:ext uri="{FF2B5EF4-FFF2-40B4-BE49-F238E27FC236}">
                <a16:creationId xmlns:a16="http://schemas.microsoft.com/office/drawing/2014/main" id="{023A7559-0C99-354C-A5CF-D21E20A3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4267200"/>
            <a:ext cx="4140200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Rectangle 4">
            <a:extLst>
              <a:ext uri="{FF2B5EF4-FFF2-40B4-BE49-F238E27FC236}">
                <a16:creationId xmlns:a16="http://schemas.microsoft.com/office/drawing/2014/main" id="{37D33BF9-03CB-544E-A79C-7DE15C1E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Fingerprinting Wireless Channel</a:t>
            </a:r>
          </a:p>
        </p:txBody>
      </p:sp>
      <p:pic>
        <p:nvPicPr>
          <p:cNvPr id="86021" name="Picture 9">
            <a:extLst>
              <a:ext uri="{FF2B5EF4-FFF2-40B4-BE49-F238E27FC236}">
                <a16:creationId xmlns:a16="http://schemas.microsoft.com/office/drawing/2014/main" id="{7EB23BA9-960F-3B4C-87F4-3EC9A263E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5720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6022" name="Group 45">
            <a:extLst>
              <a:ext uri="{FF2B5EF4-FFF2-40B4-BE49-F238E27FC236}">
                <a16:creationId xmlns:a16="http://schemas.microsoft.com/office/drawing/2014/main" id="{7EF49E76-4031-1542-9420-F22886612D2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362200"/>
            <a:ext cx="6777038" cy="889000"/>
            <a:chOff x="1833314" y="2204382"/>
            <a:chExt cx="6777286" cy="888899"/>
          </a:xfrm>
        </p:grpSpPr>
        <p:pic>
          <p:nvPicPr>
            <p:cNvPr id="86023" name="Picture 6">
              <a:extLst>
                <a:ext uri="{FF2B5EF4-FFF2-40B4-BE49-F238E27FC236}">
                  <a16:creationId xmlns:a16="http://schemas.microsoft.com/office/drawing/2014/main" id="{01DA755D-FB27-084B-81DB-1CA7A2A1BA7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7578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4" name="Picture 7">
              <a:extLst>
                <a:ext uri="{FF2B5EF4-FFF2-40B4-BE49-F238E27FC236}">
                  <a16:creationId xmlns:a16="http://schemas.microsoft.com/office/drawing/2014/main" id="{344DC18B-C1B1-314A-950E-69BF0868FFD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8596" y="2395065"/>
              <a:ext cx="262971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5" name="Picture 8">
              <a:extLst>
                <a:ext uri="{FF2B5EF4-FFF2-40B4-BE49-F238E27FC236}">
                  <a16:creationId xmlns:a16="http://schemas.microsoft.com/office/drawing/2014/main" id="{32BA5A43-9D0B-344C-A436-65101F5AA3C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323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6" name="Picture 9">
              <a:extLst>
                <a:ext uri="{FF2B5EF4-FFF2-40B4-BE49-F238E27FC236}">
                  <a16:creationId xmlns:a16="http://schemas.microsoft.com/office/drawing/2014/main" id="{E1028A8C-A2F4-B04C-8121-3BC1BB9E0E3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5194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7" name="Picture 10">
              <a:extLst>
                <a:ext uri="{FF2B5EF4-FFF2-40B4-BE49-F238E27FC236}">
                  <a16:creationId xmlns:a16="http://schemas.microsoft.com/office/drawing/2014/main" id="{12E400AF-4E55-FC4C-891D-268CE3DD37E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069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8" name="Picture 11">
              <a:extLst>
                <a:ext uri="{FF2B5EF4-FFF2-40B4-BE49-F238E27FC236}">
                  <a16:creationId xmlns:a16="http://schemas.microsoft.com/office/drawing/2014/main" id="{531A1E57-C2F6-2247-AC94-932DB6B8E55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5796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29" name="Picture 12">
              <a:extLst>
                <a:ext uri="{FF2B5EF4-FFF2-40B4-BE49-F238E27FC236}">
                  <a16:creationId xmlns:a16="http://schemas.microsoft.com/office/drawing/2014/main" id="{A6BE0087-8720-D440-9612-89B23263873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7670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30" name="Picture 13">
              <a:extLst>
                <a:ext uri="{FF2B5EF4-FFF2-40B4-BE49-F238E27FC236}">
                  <a16:creationId xmlns:a16="http://schemas.microsoft.com/office/drawing/2014/main" id="{AF943EC0-72FD-6E43-9C15-513E3C37CBA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9545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31" name="Picture 14">
              <a:extLst>
                <a:ext uri="{FF2B5EF4-FFF2-40B4-BE49-F238E27FC236}">
                  <a16:creationId xmlns:a16="http://schemas.microsoft.com/office/drawing/2014/main" id="{7422F8B5-9B7F-0343-BCAE-769DFD9DD43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0563" y="2395065"/>
              <a:ext cx="262971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86032" name="Picture 15">
              <a:extLst>
                <a:ext uri="{FF2B5EF4-FFF2-40B4-BE49-F238E27FC236}">
                  <a16:creationId xmlns:a16="http://schemas.microsoft.com/office/drawing/2014/main" id="{78C663DA-D0E3-A441-87D9-4D7EC7E42C9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2438" y="2395065"/>
              <a:ext cx="262114" cy="43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grpSp>
          <p:nvGrpSpPr>
            <p:cNvPr id="86033" name="Group 27">
              <a:extLst>
                <a:ext uri="{FF2B5EF4-FFF2-40B4-BE49-F238E27FC236}">
                  <a16:creationId xmlns:a16="http://schemas.microsoft.com/office/drawing/2014/main" id="{85EDB686-8498-4748-8229-4FC70FCDE3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7904" y="2390088"/>
              <a:ext cx="2151737" cy="430513"/>
              <a:chOff x="0" y="0"/>
              <a:chExt cx="2512" cy="1384"/>
            </a:xfrm>
          </p:grpSpPr>
          <p:pic>
            <p:nvPicPr>
              <p:cNvPr id="86044" name="Picture 17">
                <a:extLst>
                  <a:ext uri="{FF2B5EF4-FFF2-40B4-BE49-F238E27FC236}">
                    <a16:creationId xmlns:a16="http://schemas.microsoft.com/office/drawing/2014/main" id="{A89B7CDE-8D18-0641-BFE2-FEED234215FD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45" name="Picture 18">
                <a:extLst>
                  <a:ext uri="{FF2B5EF4-FFF2-40B4-BE49-F238E27FC236}">
                    <a16:creationId xmlns:a16="http://schemas.microsoft.com/office/drawing/2014/main" id="{B9D6B17A-0F8D-B143-9129-AFC1A1CEB3B9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46" name="Picture 19">
                <a:extLst>
                  <a:ext uri="{FF2B5EF4-FFF2-40B4-BE49-F238E27FC236}">
                    <a16:creationId xmlns:a16="http://schemas.microsoft.com/office/drawing/2014/main" id="{0B343298-B22C-6A4D-8C75-CEF7CD5E432A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47" name="Picture 20">
                <a:extLst>
                  <a:ext uri="{FF2B5EF4-FFF2-40B4-BE49-F238E27FC236}">
                    <a16:creationId xmlns:a16="http://schemas.microsoft.com/office/drawing/2014/main" id="{D0158CA2-24C3-E342-939F-E4A9EBEEC10D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48" name="Picture 21">
                <a:extLst>
                  <a:ext uri="{FF2B5EF4-FFF2-40B4-BE49-F238E27FC236}">
                    <a16:creationId xmlns:a16="http://schemas.microsoft.com/office/drawing/2014/main" id="{EDA8A789-EDAD-D24F-969E-8940897C148A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6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49" name="Picture 22">
                <a:extLst>
                  <a:ext uri="{FF2B5EF4-FFF2-40B4-BE49-F238E27FC236}">
                    <a16:creationId xmlns:a16="http://schemas.microsoft.com/office/drawing/2014/main" id="{11855C3D-2A3D-2C4D-8A2C-A16D6482409D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4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50" name="Picture 23">
                <a:extLst>
                  <a:ext uri="{FF2B5EF4-FFF2-40B4-BE49-F238E27FC236}">
                    <a16:creationId xmlns:a16="http://schemas.microsoft.com/office/drawing/2014/main" id="{A0310590-B0D9-474D-A457-A75AE6756C56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4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51" name="Picture 24">
                <a:extLst>
                  <a:ext uri="{FF2B5EF4-FFF2-40B4-BE49-F238E27FC236}">
                    <a16:creationId xmlns:a16="http://schemas.microsoft.com/office/drawing/2014/main" id="{6648FE75-7D7B-9242-A28F-355C309C6EA0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4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52" name="Picture 25">
                <a:extLst>
                  <a:ext uri="{FF2B5EF4-FFF2-40B4-BE49-F238E27FC236}">
                    <a16:creationId xmlns:a16="http://schemas.microsoft.com/office/drawing/2014/main" id="{6DC45093-6E1C-6745-99C5-9930E52DEDC6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4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  <p:pic>
            <p:nvPicPr>
              <p:cNvPr id="86053" name="Picture 26">
                <a:extLst>
                  <a:ext uri="{FF2B5EF4-FFF2-40B4-BE49-F238E27FC236}">
                    <a16:creationId xmlns:a16="http://schemas.microsoft.com/office/drawing/2014/main" id="{5F838CC2-6810-8F48-99B9-B2D4DFD30F6E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4" y="0"/>
                <a:ext cx="328" cy="1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86034" name="Rectangle 28">
              <a:extLst>
                <a:ext uri="{FF2B5EF4-FFF2-40B4-BE49-F238E27FC236}">
                  <a16:creationId xmlns:a16="http://schemas.microsoft.com/office/drawing/2014/main" id="{2786C77C-12DD-BF4F-AF8E-404D05920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600" y="2877837"/>
              <a:ext cx="336389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108373" bIns="0">
              <a:spAutoFit/>
            </a:bodyPr>
            <a:lstStyle>
              <a:lvl1pPr marL="107950"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>
                  <a:latin typeface="Helvetica" pitchFamily="2" charset="0"/>
                  <a:sym typeface="Helvetica" pitchFamily="2" charset="0"/>
                </a:rPr>
                <a:t>Frequency subcarriers</a:t>
              </a:r>
            </a:p>
          </p:txBody>
        </p:sp>
        <p:sp>
          <p:nvSpPr>
            <p:cNvPr id="86035" name="Line 29">
              <a:extLst>
                <a:ext uri="{FF2B5EF4-FFF2-40B4-BE49-F238E27FC236}">
                  <a16:creationId xmlns:a16="http://schemas.microsoft.com/office/drawing/2014/main" id="{940C9FFC-403D-E244-8C64-A0488A4E6F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837597" y="2815313"/>
              <a:ext cx="67730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36" name="Rectangle 31">
              <a:extLst>
                <a:ext uri="{FF2B5EF4-FFF2-40B4-BE49-F238E27FC236}">
                  <a16:creationId xmlns:a16="http://schemas.microsoft.com/office/drawing/2014/main" id="{360F99CE-433C-5A4E-9647-E4ADFCAE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314" y="2204382"/>
              <a:ext cx="6777286" cy="215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108373" bIns="0">
              <a:spAutoFit/>
            </a:bodyPr>
            <a:lstStyle>
              <a:lvl1pPr marL="107950"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>
                  <a:latin typeface="Helvetica" pitchFamily="2" charset="0"/>
                  <a:sym typeface="Helvetica" pitchFamily="2" charset="0"/>
                </a:rPr>
                <a:t>1  2  3  4  5  6  7  8 9 10                                                39                                  48</a:t>
              </a:r>
            </a:p>
          </p:txBody>
        </p:sp>
        <p:sp>
          <p:nvSpPr>
            <p:cNvPr id="86037" name="Oval 32">
              <a:extLst>
                <a:ext uri="{FF2B5EF4-FFF2-40B4-BE49-F238E27FC236}">
                  <a16:creationId xmlns:a16="http://schemas.microsoft.com/office/drawing/2014/main" id="{74B1F03A-1BCD-284E-A517-9F6BADEC5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042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38" name="Oval 33">
              <a:extLst>
                <a:ext uri="{FF2B5EF4-FFF2-40B4-BE49-F238E27FC236}">
                  <a16:creationId xmlns:a16="http://schemas.microsoft.com/office/drawing/2014/main" id="{65C28FE1-1500-404B-8772-391510EFA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443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39" name="Oval 34">
              <a:extLst>
                <a:ext uri="{FF2B5EF4-FFF2-40B4-BE49-F238E27FC236}">
                  <a16:creationId xmlns:a16="http://schemas.microsoft.com/office/drawing/2014/main" id="{5F10AE68-B3A1-B847-94EA-EAD272F79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286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40" name="Oval 35">
              <a:extLst>
                <a:ext uri="{FF2B5EF4-FFF2-40B4-BE49-F238E27FC236}">
                  <a16:creationId xmlns:a16="http://schemas.microsoft.com/office/drawing/2014/main" id="{E3E94186-87E5-F34E-A324-EB9458AA9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277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41" name="Oval 36">
              <a:extLst>
                <a:ext uri="{FF2B5EF4-FFF2-40B4-BE49-F238E27FC236}">
                  <a16:creationId xmlns:a16="http://schemas.microsoft.com/office/drawing/2014/main" id="{D02178E6-72AC-2D46-8F45-DACE7B182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120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42" name="Oval 37">
              <a:extLst>
                <a:ext uri="{FF2B5EF4-FFF2-40B4-BE49-F238E27FC236}">
                  <a16:creationId xmlns:a16="http://schemas.microsoft.com/office/drawing/2014/main" id="{CCB2A4CE-1585-8340-876B-1574DB11B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111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6043" name="Oval 38">
              <a:extLst>
                <a:ext uri="{FF2B5EF4-FFF2-40B4-BE49-F238E27FC236}">
                  <a16:creationId xmlns:a16="http://schemas.microsoft.com/office/drawing/2014/main" id="{B9C827B3-8A5B-5A4D-BBA4-BB5D595C9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6543" y="2586680"/>
              <a:ext cx="137053" cy="49770"/>
            </a:xfrm>
            <a:prstGeom prst="ellipse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1">
            <a:extLst>
              <a:ext uri="{FF2B5EF4-FFF2-40B4-BE49-F238E27FC236}">
                <a16:creationId xmlns:a16="http://schemas.microsoft.com/office/drawing/2014/main" id="{6C0099DE-C921-FC44-AC50-0E6F0D3F4178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0681C042-BAB7-C644-BA02-492CC8067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889000"/>
            <a:ext cx="8232775" cy="1046163"/>
          </a:xfrm>
          <a:noFill/>
        </p:spPr>
        <p:txBody>
          <a:bodyPr lIns="26788" tIns="26788" rIns="26788" bIns="26788"/>
          <a:lstStyle/>
          <a:p>
            <a:pPr marL="338138" indent="-255588"/>
            <a:endParaRPr lang="en-US" altLang="en-US">
              <a:latin typeface="Lucida Bright" panose="02040602050505020304" pitchFamily="18" charset="77"/>
            </a:endParaRPr>
          </a:p>
          <a:p>
            <a:pPr marL="338138" indent="-255588">
              <a:spcBef>
                <a:spcPts val="425"/>
              </a:spcBef>
            </a:pPr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 Two key hypotheses need to hold</a:t>
            </a:r>
            <a:r>
              <a:rPr lang="en-US" altLang="en-US" sz="1900">
                <a:latin typeface="Lucida Bright" panose="02040602050505020304" pitchFamily="18" charset="77"/>
                <a:sym typeface="Helvetica" pitchFamily="2" charset="0"/>
              </a:rPr>
              <a:t>: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E10CDC8-B34F-B94D-A437-56677DDB45FF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2057400"/>
            <a:ext cx="8389937" cy="1206500"/>
            <a:chOff x="152" y="0"/>
            <a:chExt cx="7305" cy="1080"/>
          </a:xfrm>
        </p:grpSpPr>
        <p:sp>
          <p:nvSpPr>
            <p:cNvPr id="88074" name="Rectangle 4">
              <a:extLst>
                <a:ext uri="{FF2B5EF4-FFF2-40B4-BE49-F238E27FC236}">
                  <a16:creationId xmlns:a16="http://schemas.microsoft.com/office/drawing/2014/main" id="{171AE144-1AF8-534B-9B74-002BF341E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103"/>
              <a:ext cx="6848" cy="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500063" indent="-179388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spcBef>
                  <a:spcPts val="425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ym typeface="Helvetica" pitchFamily="2" charset="0"/>
                </a:rPr>
                <a:t> Temporal</a:t>
              </a:r>
              <a:r>
                <a:rPr lang="en-US" altLang="en-US" sz="1800">
                  <a:sym typeface="Helvetica" pitchFamily="2" charset="0"/>
                </a:rPr>
                <a:t> </a:t>
              </a: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Channel responses at a given location may vary over time </a:t>
              </a: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However, variations must exhibit a pattern – a signature</a:t>
              </a:r>
            </a:p>
          </p:txBody>
        </p:sp>
        <p:sp>
          <p:nvSpPr>
            <p:cNvPr id="88075" name="AutoShape 5">
              <a:extLst>
                <a:ext uri="{FF2B5EF4-FFF2-40B4-BE49-F238E27FC236}">
                  <a16:creationId xmlns:a16="http://schemas.microsoft.com/office/drawing/2014/main" id="{5A937E98-9503-7A43-9E07-5100926A8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0"/>
              <a:ext cx="6976" cy="1080"/>
            </a:xfrm>
            <a:prstGeom prst="roundRect">
              <a:avLst>
                <a:gd name="adj" fmla="val 1111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8076" name="Rectangle 6">
              <a:extLst>
                <a:ext uri="{FF2B5EF4-FFF2-40B4-BE49-F238E27FC236}">
                  <a16:creationId xmlns:a16="http://schemas.microsoft.com/office/drawing/2014/main" id="{94E11911-2D7C-C147-8506-A1C9E7538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" y="256"/>
              <a:ext cx="505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600" b="1">
                  <a:sym typeface="Century Gothic" panose="020B0502020202020204" pitchFamily="34" charset="0"/>
                </a:rPr>
                <a:t>1.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DE9E36BB-146E-524B-BC93-CE898B72D9CC}"/>
              </a:ext>
            </a:extLst>
          </p:cNvPr>
          <p:cNvGrpSpPr>
            <a:grpSpLocks/>
          </p:cNvGrpSpPr>
          <p:nvPr/>
        </p:nvGrpSpPr>
        <p:grpSpPr bwMode="auto">
          <a:xfrm>
            <a:off x="452438" y="3727450"/>
            <a:ext cx="8450262" cy="857250"/>
            <a:chOff x="150" y="0"/>
            <a:chExt cx="7570" cy="768"/>
          </a:xfrm>
        </p:grpSpPr>
        <p:sp>
          <p:nvSpPr>
            <p:cNvPr id="88071" name="AutoShape 8">
              <a:extLst>
                <a:ext uri="{FF2B5EF4-FFF2-40B4-BE49-F238E27FC236}">
                  <a16:creationId xmlns:a16="http://schemas.microsoft.com/office/drawing/2014/main" id="{579B0E73-0106-034E-BBB8-6E8691F64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0"/>
              <a:ext cx="7248" cy="768"/>
            </a:xfrm>
            <a:prstGeom prst="roundRect">
              <a:avLst>
                <a:gd name="adj" fmla="val 1562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88072" name="Rectangle 9">
              <a:extLst>
                <a:ext uri="{FF2B5EF4-FFF2-40B4-BE49-F238E27FC236}">
                  <a16:creationId xmlns:a16="http://schemas.microsoft.com/office/drawing/2014/main" id="{453AF9C1-F9B7-EA47-ACDD-1AC462B3A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80"/>
              <a:ext cx="6736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500063" indent="-179388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spcBef>
                  <a:spcPts val="425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en-US" sz="1900" b="1">
                  <a:sym typeface="Helvetica" pitchFamily="2" charset="0"/>
                </a:rPr>
                <a:t> Spatial</a:t>
              </a:r>
              <a:endParaRPr lang="en-US" altLang="en-US" sz="1900">
                <a:sym typeface="Helvetica" pitchFamily="2" charset="0"/>
              </a:endParaRP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Channel responses at different locations need to be different</a:t>
              </a:r>
            </a:p>
          </p:txBody>
        </p:sp>
        <p:sp>
          <p:nvSpPr>
            <p:cNvPr id="88073" name="Rectangle 10">
              <a:extLst>
                <a:ext uri="{FF2B5EF4-FFF2-40B4-BE49-F238E27FC236}">
                  <a16:creationId xmlns:a16="http://schemas.microsoft.com/office/drawing/2014/main" id="{39D506B5-058D-C14C-8829-E8834DEB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" y="107"/>
              <a:ext cx="368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600" b="1">
                  <a:sym typeface="Century Gothic" panose="020B0502020202020204" pitchFamily="34" charset="0"/>
                </a:rPr>
                <a:t>2.</a:t>
              </a:r>
            </a:p>
          </p:txBody>
        </p:sp>
      </p:grpSp>
      <p:sp>
        <p:nvSpPr>
          <p:cNvPr id="88069" name="Rectangle 4">
            <a:extLst>
              <a:ext uri="{FF2B5EF4-FFF2-40B4-BE49-F238E27FC236}">
                <a16:creationId xmlns:a16="http://schemas.microsoft.com/office/drawing/2014/main" id="{2CD1819A-A5FE-BF4B-B3D0-0CF7A7B1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Is WiFi Channel Amenable to Localization?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D4538BE-0792-8945-965E-91F38CFA2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7543800" cy="11430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1">
            <a:extLst>
              <a:ext uri="{FF2B5EF4-FFF2-40B4-BE49-F238E27FC236}">
                <a16:creationId xmlns:a16="http://schemas.microsoft.com/office/drawing/2014/main" id="{98462E0C-15DD-2C42-962A-BFD06ABD6616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C23D199A-C39F-9649-89F7-2DDB12F0E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95400"/>
            <a:ext cx="8456612" cy="901700"/>
          </a:xfrm>
        </p:spPr>
        <p:txBody>
          <a:bodyPr/>
          <a:lstStyle/>
          <a:p>
            <a:pPr marL="212725" indent="-212725"/>
            <a:r>
              <a:rPr lang="en-US" altLang="en-US" sz="2100">
                <a:latin typeface="Lucida Bright" panose="02040602050505020304" pitchFamily="18" charset="77"/>
                <a:sym typeface="Helvetica" pitchFamily="2" charset="0"/>
              </a:rPr>
              <a:t> </a:t>
            </a:r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Measured channel response at different times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Using Intel cards</a:t>
            </a:r>
          </a:p>
        </p:txBody>
      </p:sp>
      <p:pic>
        <p:nvPicPr>
          <p:cNvPr id="90115" name="Picture 4">
            <a:extLst>
              <a:ext uri="{FF2B5EF4-FFF2-40B4-BE49-F238E27FC236}">
                <a16:creationId xmlns:a16="http://schemas.microsoft.com/office/drawing/2014/main" id="{EF15483B-230E-F645-BE8F-2A961E023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2270125"/>
            <a:ext cx="464343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8">
            <a:extLst>
              <a:ext uri="{FF2B5EF4-FFF2-40B4-BE49-F238E27FC236}">
                <a16:creationId xmlns:a16="http://schemas.microsoft.com/office/drawing/2014/main" id="{8460941E-949F-A74C-B424-506A1FB0A210}"/>
              </a:ext>
            </a:extLst>
          </p:cNvPr>
          <p:cNvGrpSpPr>
            <a:grpSpLocks/>
          </p:cNvGrpSpPr>
          <p:nvPr/>
        </p:nvGrpSpPr>
        <p:grpSpPr bwMode="auto">
          <a:xfrm>
            <a:off x="2138363" y="2271713"/>
            <a:ext cx="4643437" cy="3671887"/>
            <a:chOff x="0" y="0"/>
            <a:chExt cx="4160" cy="3289"/>
          </a:xfrm>
        </p:grpSpPr>
        <p:pic>
          <p:nvPicPr>
            <p:cNvPr id="90122" name="Picture 5">
              <a:extLst>
                <a:ext uri="{FF2B5EF4-FFF2-40B4-BE49-F238E27FC236}">
                  <a16:creationId xmlns:a16="http://schemas.microsoft.com/office/drawing/2014/main" id="{6A99BA96-21CA-2645-829D-2CCC8F0B92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60" cy="3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3" name="Rectangle 6">
              <a:extLst>
                <a:ext uri="{FF2B5EF4-FFF2-40B4-BE49-F238E27FC236}">
                  <a16:creationId xmlns:a16="http://schemas.microsoft.com/office/drawing/2014/main" id="{7A5149ED-BEE7-3143-B328-AD9E6B623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016"/>
              <a:ext cx="767" cy="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700">
                  <a:sym typeface="Helvetica" pitchFamily="2" charset="0"/>
                </a:rPr>
                <a:t>cluster2</a:t>
              </a:r>
            </a:p>
          </p:txBody>
        </p:sp>
        <p:sp>
          <p:nvSpPr>
            <p:cNvPr id="90124" name="Rectangle 7">
              <a:extLst>
                <a:ext uri="{FF2B5EF4-FFF2-40B4-BE49-F238E27FC236}">
                  <a16:creationId xmlns:a16="http://schemas.microsoft.com/office/drawing/2014/main" id="{705A636D-392D-7E4C-B108-31D91BFF5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2294"/>
              <a:ext cx="767" cy="2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700">
                  <a:sym typeface="Helvetica" pitchFamily="2" charset="0"/>
                </a:rPr>
                <a:t>cluster2</a:t>
              </a:r>
            </a:p>
          </p:txBody>
        </p:sp>
      </p:grpSp>
      <p:sp>
        <p:nvSpPr>
          <p:cNvPr id="90117" name="Rectangle 9">
            <a:extLst>
              <a:ext uri="{FF2B5EF4-FFF2-40B4-BE49-F238E27FC236}">
                <a16:creationId xmlns:a16="http://schemas.microsoft.com/office/drawing/2014/main" id="{1A6D3502-C667-F149-BFBF-38BFD7202C9D}"/>
              </a:ext>
            </a:extLst>
          </p:cNvPr>
          <p:cNvSpPr>
            <a:spLocks/>
          </p:cNvSpPr>
          <p:nvPr/>
        </p:nvSpPr>
        <p:spPr bwMode="auto">
          <a:xfrm>
            <a:off x="5559425" y="2693988"/>
            <a:ext cx="855663" cy="2619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700">
                <a:sym typeface="Helvetica" pitchFamily="2" charset="0"/>
              </a:rPr>
              <a:t>cluster1</a:t>
            </a:r>
          </a:p>
        </p:txBody>
      </p:sp>
      <p:sp>
        <p:nvSpPr>
          <p:cNvPr id="90118" name="Rectangle 10">
            <a:extLst>
              <a:ext uri="{FF2B5EF4-FFF2-40B4-BE49-F238E27FC236}">
                <a16:creationId xmlns:a16="http://schemas.microsoft.com/office/drawing/2014/main" id="{2943B09E-04D8-0842-B4B9-93D42ECCEF5A}"/>
              </a:ext>
            </a:extLst>
          </p:cNvPr>
          <p:cNvSpPr>
            <a:spLocks/>
          </p:cNvSpPr>
          <p:nvPr/>
        </p:nvSpPr>
        <p:spPr bwMode="auto">
          <a:xfrm>
            <a:off x="3352800" y="4067175"/>
            <a:ext cx="855663" cy="2619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700">
                <a:sym typeface="Helvetica" pitchFamily="2" charset="0"/>
              </a:rPr>
              <a:t>cluster1</a:t>
            </a:r>
          </a:p>
        </p:txBody>
      </p: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0CC8307A-2A08-9E46-933A-26285C0EA766}"/>
              </a:ext>
            </a:extLst>
          </p:cNvPr>
          <p:cNvSpPr>
            <a:spLocks/>
          </p:cNvSpPr>
          <p:nvPr/>
        </p:nvSpPr>
        <p:spPr bwMode="auto">
          <a:xfrm>
            <a:off x="685800" y="5943600"/>
            <a:ext cx="8153400" cy="477838"/>
          </a:xfrm>
          <a:prstGeom prst="rect">
            <a:avLst/>
          </a:prstGeom>
          <a:solidFill>
            <a:srgbClr val="CCFF66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35717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eaLnBrk="1" hangingPunct="1">
              <a:spcBef>
                <a:spcPts val="525"/>
              </a:spcBef>
              <a:buFont typeface="Wingdings" charset="2"/>
              <a:buNone/>
              <a:defRPr/>
            </a:pPr>
            <a:r>
              <a:rPr lang="en-US" altLang="en-US" sz="2100" b="1">
                <a:latin typeface="Lucida Bright" charset="0"/>
                <a:sym typeface="Century Gothic" charset="0"/>
              </a:rPr>
              <a:t> Observe: Frequency responses often clustered at a location</a:t>
            </a:r>
          </a:p>
        </p:txBody>
      </p:sp>
      <p:sp>
        <p:nvSpPr>
          <p:cNvPr id="90120" name="Rectangle 4">
            <a:extLst>
              <a:ext uri="{FF2B5EF4-FFF2-40B4-BE49-F238E27FC236}">
                <a16:creationId xmlns:a16="http://schemas.microsoft.com/office/drawing/2014/main" id="{704509CD-085A-CE46-B916-7D84EC0FB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Variation over Time</a:t>
            </a: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54680940-1732-8E48-BF75-BD8C895CA53C}"/>
              </a:ext>
            </a:extLst>
          </p:cNvPr>
          <p:cNvSpPr>
            <a:spLocks/>
          </p:cNvSpPr>
          <p:nvPr/>
        </p:nvSpPr>
        <p:spPr bwMode="auto">
          <a:xfrm>
            <a:off x="762000" y="6032500"/>
            <a:ext cx="8001000" cy="455613"/>
          </a:xfrm>
          <a:prstGeom prst="rect">
            <a:avLst/>
          </a:prstGeom>
          <a:solidFill>
            <a:srgbClr val="A40800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64291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algn="ctr" eaLnBrk="1" hangingPunct="1">
              <a:spcBef>
                <a:spcPts val="488"/>
              </a:spcBef>
              <a:buFont typeface="Wingdings" charset="2"/>
              <a:buNone/>
              <a:defRPr/>
            </a:pPr>
            <a:r>
              <a:rPr lang="en-US" altLang="en-US" sz="2500" b="1">
                <a:solidFill>
                  <a:srgbClr val="FFFFFF"/>
                </a:solidFill>
                <a:latin typeface="Lucida Bright" charset="0"/>
                <a:sym typeface="Helvetica" charset="0"/>
              </a:rPr>
              <a:t> But not necessarily one cluster per location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8" grpId="0" animBg="1"/>
      <p:bldP spid="1946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2">
            <a:extLst>
              <a:ext uri="{FF2B5EF4-FFF2-40B4-BE49-F238E27FC236}">
                <a16:creationId xmlns:a16="http://schemas.microsoft.com/office/drawing/2014/main" id="{3B3D6462-8316-6C46-B607-83CAF55499E7}"/>
              </a:ext>
            </a:extLst>
          </p:cNvPr>
          <p:cNvGrpSpPr>
            <a:grpSpLocks/>
          </p:cNvGrpSpPr>
          <p:nvPr/>
        </p:nvGrpSpPr>
        <p:grpSpPr bwMode="auto">
          <a:xfrm>
            <a:off x="2138363" y="2270125"/>
            <a:ext cx="4643437" cy="3673475"/>
            <a:chOff x="2138363" y="2270125"/>
            <a:chExt cx="4643437" cy="3673475"/>
          </a:xfrm>
        </p:grpSpPr>
        <p:pic>
          <p:nvPicPr>
            <p:cNvPr id="92174" name="Picture 4">
              <a:extLst>
                <a:ext uri="{FF2B5EF4-FFF2-40B4-BE49-F238E27FC236}">
                  <a16:creationId xmlns:a16="http://schemas.microsoft.com/office/drawing/2014/main" id="{FD981B2A-49E4-B94E-BB5B-779DEDCEEB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8363" y="2270125"/>
              <a:ext cx="4643437" cy="3673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175" name="Group 8">
              <a:extLst>
                <a:ext uri="{FF2B5EF4-FFF2-40B4-BE49-F238E27FC236}">
                  <a16:creationId xmlns:a16="http://schemas.microsoft.com/office/drawing/2014/main" id="{AC335445-CBD3-0648-A726-B04BFFF437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8363" y="2271712"/>
              <a:ext cx="4643437" cy="3671888"/>
              <a:chOff x="0" y="0"/>
              <a:chExt cx="4160" cy="3289"/>
            </a:xfrm>
          </p:grpSpPr>
          <p:pic>
            <p:nvPicPr>
              <p:cNvPr id="92178" name="Picture 5">
                <a:extLst>
                  <a:ext uri="{FF2B5EF4-FFF2-40B4-BE49-F238E27FC236}">
                    <a16:creationId xmlns:a16="http://schemas.microsoft.com/office/drawing/2014/main" id="{1485360A-DA3D-9040-8877-2C2949A3F9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160" cy="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179" name="Rectangle 6">
                <a:extLst>
                  <a:ext uri="{FF2B5EF4-FFF2-40B4-BE49-F238E27FC236}">
                    <a16:creationId xmlns:a16="http://schemas.microsoft.com/office/drawing/2014/main" id="{81A3ECF1-6F4D-4B47-84AA-57281FB47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1016"/>
                <a:ext cx="767" cy="2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None/>
                </a:pPr>
                <a:r>
                  <a:rPr lang="en-US" altLang="en-US" sz="1700">
                    <a:sym typeface="Helvetica" pitchFamily="2" charset="0"/>
                  </a:rPr>
                  <a:t>cluster2</a:t>
                </a:r>
              </a:p>
            </p:txBody>
          </p:sp>
          <p:sp>
            <p:nvSpPr>
              <p:cNvPr id="92180" name="Rectangle 7">
                <a:extLst>
                  <a:ext uri="{FF2B5EF4-FFF2-40B4-BE49-F238E27FC236}">
                    <a16:creationId xmlns:a16="http://schemas.microsoft.com/office/drawing/2014/main" id="{D17A32E3-752D-2044-981A-E79BA60ED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5" y="2294"/>
                <a:ext cx="767" cy="23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None/>
                </a:pPr>
                <a:r>
                  <a:rPr lang="en-US" altLang="en-US" sz="1700">
                    <a:sym typeface="Helvetica" pitchFamily="2" charset="0"/>
                  </a:rPr>
                  <a:t>cluster2</a:t>
                </a:r>
              </a:p>
            </p:txBody>
          </p:sp>
        </p:grpSp>
        <p:sp>
          <p:nvSpPr>
            <p:cNvPr id="92176" name="Rectangle 9">
              <a:extLst>
                <a:ext uri="{FF2B5EF4-FFF2-40B4-BE49-F238E27FC236}">
                  <a16:creationId xmlns:a16="http://schemas.microsoft.com/office/drawing/2014/main" id="{8F2CEF37-E6BE-DD49-A505-10704C2D7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425" y="2693987"/>
              <a:ext cx="856386" cy="2616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700">
                  <a:sym typeface="Helvetica" pitchFamily="2" charset="0"/>
                </a:rPr>
                <a:t>cluster1</a:t>
              </a:r>
            </a:p>
          </p:txBody>
        </p:sp>
        <p:sp>
          <p:nvSpPr>
            <p:cNvPr id="92177" name="Rectangle 10">
              <a:extLst>
                <a:ext uri="{FF2B5EF4-FFF2-40B4-BE49-F238E27FC236}">
                  <a16:creationId xmlns:a16="http://schemas.microsoft.com/office/drawing/2014/main" id="{FB47B850-3B3E-9D45-9F99-6DEECE267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800" y="4067175"/>
              <a:ext cx="856386" cy="2616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700">
                  <a:sym typeface="Helvetica" pitchFamily="2" charset="0"/>
                </a:rPr>
                <a:t>cluster1</a:t>
              </a:r>
            </a:p>
          </p:txBody>
        </p:sp>
      </p:grpSp>
      <p:pic>
        <p:nvPicPr>
          <p:cNvPr id="21513" name="Picture 9">
            <a:extLst>
              <a:ext uri="{FF2B5EF4-FFF2-40B4-BE49-F238E27FC236}">
                <a16:creationId xmlns:a16="http://schemas.microsoft.com/office/drawing/2014/main" id="{73D010C8-409E-E84C-88BD-96B38FCAA349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589463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6">
            <a:extLst>
              <a:ext uri="{FF2B5EF4-FFF2-40B4-BE49-F238E27FC236}">
                <a16:creationId xmlns:a16="http://schemas.microsoft.com/office/drawing/2014/main" id="{EF1DBB70-0EC7-4542-A36C-0ABFD47302B2}"/>
              </a:ext>
            </a:extLst>
          </p:cNvPr>
          <p:cNvGrpSpPr>
            <a:grpSpLocks/>
          </p:cNvGrpSpPr>
          <p:nvPr/>
        </p:nvGrpSpPr>
        <p:grpSpPr bwMode="auto">
          <a:xfrm>
            <a:off x="5272088" y="2514600"/>
            <a:ext cx="2713037" cy="2155825"/>
            <a:chOff x="68" y="0"/>
            <a:chExt cx="2430" cy="1931"/>
          </a:xfrm>
        </p:grpSpPr>
        <p:grpSp>
          <p:nvGrpSpPr>
            <p:cNvPr id="92168" name="Group 12">
              <a:extLst>
                <a:ext uri="{FF2B5EF4-FFF2-40B4-BE49-F238E27FC236}">
                  <a16:creationId xmlns:a16="http://schemas.microsoft.com/office/drawing/2014/main" id="{8C48D7FB-0F3A-4E40-A7C1-0F3237821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" y="742"/>
              <a:ext cx="2266" cy="1189"/>
              <a:chOff x="0" y="0"/>
              <a:chExt cx="2265" cy="1188"/>
            </a:xfrm>
          </p:grpSpPr>
          <p:sp>
            <p:nvSpPr>
              <p:cNvPr id="92172" name="Oval 10">
                <a:extLst>
                  <a:ext uri="{FF2B5EF4-FFF2-40B4-BE49-F238E27FC236}">
                    <a16:creationId xmlns:a16="http://schemas.microsoft.com/office/drawing/2014/main" id="{02ACD3BE-1C3B-8F43-A9B4-436F096F9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0"/>
                <a:ext cx="913" cy="913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Char char="•"/>
                </a:pPr>
                <a:endParaRPr lang="en-US" altLang="en-US" sz="1800">
                  <a:latin typeface="Comic Sans MS" panose="030F0902030302020204" pitchFamily="66" charset="0"/>
                </a:endParaRPr>
              </a:p>
            </p:txBody>
          </p:sp>
          <p:sp>
            <p:nvSpPr>
              <p:cNvPr id="92173" name="Oval 11">
                <a:extLst>
                  <a:ext uri="{FF2B5EF4-FFF2-40B4-BE49-F238E27FC236}">
                    <a16:creationId xmlns:a16="http://schemas.microsoft.com/office/drawing/2014/main" id="{1BB0FF48-D346-2046-AB37-A0049D509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689"/>
                <a:ext cx="499" cy="49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Char char="•"/>
                </a:pPr>
                <a:endParaRPr lang="en-US" altLang="en-US" sz="180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92169" name="Line 13">
              <a:extLst>
                <a:ext uri="{FF2B5EF4-FFF2-40B4-BE49-F238E27FC236}">
                  <a16:creationId xmlns:a16="http://schemas.microsoft.com/office/drawing/2014/main" id="{CC2590F3-17B3-5B48-94DA-BAEAA11D9D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37" y="570"/>
              <a:ext cx="249" cy="2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2170" name="Rectangle 14">
              <a:extLst>
                <a:ext uri="{FF2B5EF4-FFF2-40B4-BE49-F238E27FC236}">
                  <a16:creationId xmlns:a16="http://schemas.microsoft.com/office/drawing/2014/main" id="{3527457E-CEF6-2941-AD98-C1982F800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0"/>
              <a:ext cx="243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olidFill>
                    <a:srgbClr val="FF3333"/>
                  </a:solidFill>
                  <a:sym typeface="Helvetica" pitchFamily="2" charset="0"/>
                </a:rPr>
                <a:t>2 clusters with different 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olidFill>
                    <a:srgbClr val="FF3333"/>
                  </a:solidFill>
                  <a:sym typeface="Helvetica" pitchFamily="2" charset="0"/>
                </a:rPr>
                <a:t>mean and variance</a:t>
              </a:r>
            </a:p>
          </p:txBody>
        </p:sp>
        <p:sp>
          <p:nvSpPr>
            <p:cNvPr id="92171" name="Line 15">
              <a:extLst>
                <a:ext uri="{FF2B5EF4-FFF2-40B4-BE49-F238E27FC236}">
                  <a16:creationId xmlns:a16="http://schemas.microsoft.com/office/drawing/2014/main" id="{DFF1B52A-1EB1-BE4C-B4ED-A6D321DFBE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97" y="573"/>
              <a:ext cx="110" cy="8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92164" name="Rectangle 17">
            <a:extLst>
              <a:ext uri="{FF2B5EF4-FFF2-40B4-BE49-F238E27FC236}">
                <a16:creationId xmlns:a16="http://schemas.microsoft.com/office/drawing/2014/main" id="{78046FDC-47C8-1C4B-AF4B-4F9C1623E3E1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92165" name="Rectangle 4">
            <a:extLst>
              <a:ext uri="{FF2B5EF4-FFF2-40B4-BE49-F238E27FC236}">
                <a16:creationId xmlns:a16="http://schemas.microsoft.com/office/drawing/2014/main" id="{E89D5DA4-7085-F14C-B996-A735A594F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Variation over Time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AD9343B-A5A3-8645-9313-20C631FD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1295400"/>
            <a:ext cx="8456612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12725" indent="-212725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120000"/>
              <a:buFont typeface="Lucida Grande"/>
              <a:buChar char="●"/>
              <a:defRPr/>
            </a:pPr>
            <a:r>
              <a:rPr lang="en-US" sz="2100" kern="0">
                <a:latin typeface="Lucida Bright" charset="0"/>
                <a:ea typeface="Lucida Bright" charset="0"/>
                <a:cs typeface="Lucida Bright" charset="0"/>
                <a:sym typeface="Helvetica" charset="0"/>
              </a:rPr>
              <a:t> </a:t>
            </a:r>
            <a:r>
              <a:rPr lang="en-US" sz="2400" kern="0">
                <a:latin typeface="Lucida Bright" charset="0"/>
                <a:ea typeface="Lucida Bright" charset="0"/>
                <a:cs typeface="Lucida Bright" charset="0"/>
                <a:sym typeface="Helvetica" charset="0"/>
              </a:rPr>
              <a:t>Measured channel response at different times</a:t>
            </a:r>
          </a:p>
          <a:p>
            <a:pPr marL="612775" lvl="1" indent="-212725">
              <a:spcBef>
                <a:spcPct val="20000"/>
              </a:spcBef>
              <a:buClr>
                <a:schemeClr val="bg1">
                  <a:lumMod val="65000"/>
                </a:schemeClr>
              </a:buClr>
              <a:buSzPct val="80000"/>
              <a:buFont typeface="Lucida Grande"/>
              <a:buChar char="●"/>
              <a:defRPr/>
            </a:pPr>
            <a:r>
              <a:rPr lang="en-US" sz="2000" kern="0">
                <a:solidFill>
                  <a:schemeClr val="tx1">
                    <a:lumMod val="50000"/>
                    <a:lumOff val="50000"/>
                  </a:schemeClr>
                </a:solidFill>
                <a:latin typeface="Lucida Bright" charset="0"/>
                <a:ea typeface="Lucida Bright" charset="0"/>
                <a:cs typeface="Lucida Bright" charset="0"/>
                <a:sym typeface="Helvetica" charset="0"/>
              </a:rPr>
              <a:t>Using Intel cards</a:t>
            </a: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A271B90A-BA24-B04C-B113-035E4D3588FD}"/>
              </a:ext>
            </a:extLst>
          </p:cNvPr>
          <p:cNvSpPr>
            <a:spLocks/>
          </p:cNvSpPr>
          <p:nvPr/>
        </p:nvSpPr>
        <p:spPr bwMode="auto">
          <a:xfrm>
            <a:off x="762000" y="6032500"/>
            <a:ext cx="8001000" cy="455613"/>
          </a:xfrm>
          <a:prstGeom prst="rect">
            <a:avLst/>
          </a:prstGeom>
          <a:solidFill>
            <a:srgbClr val="A40800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64291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algn="ctr" eaLnBrk="1" hangingPunct="1">
              <a:spcBef>
                <a:spcPts val="488"/>
              </a:spcBef>
              <a:buFont typeface="Wingdings" charset="2"/>
              <a:buNone/>
              <a:defRPr/>
            </a:pPr>
            <a:r>
              <a:rPr lang="en-US" altLang="en-US" sz="2500" b="1">
                <a:solidFill>
                  <a:srgbClr val="FFFFFF"/>
                </a:solidFill>
                <a:latin typeface="Lucida Bright" charset="0"/>
                <a:sym typeface="Helvetica" charset="0"/>
              </a:rPr>
              <a:t> But not necessarily one cluster per location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59259E-6 L -0.21267 0.0011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4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09" name="Group 3">
            <a:extLst>
              <a:ext uri="{FF2B5EF4-FFF2-40B4-BE49-F238E27FC236}">
                <a16:creationId xmlns:a16="http://schemas.microsoft.com/office/drawing/2014/main" id="{C894072A-3FEA-B447-A8F6-8CCB8E42F863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1624013"/>
            <a:ext cx="4868862" cy="3948112"/>
            <a:chOff x="0" y="0"/>
            <a:chExt cx="4361" cy="3536"/>
          </a:xfrm>
        </p:grpSpPr>
        <p:pic>
          <p:nvPicPr>
            <p:cNvPr id="94218" name="Picture 1">
              <a:extLst>
                <a:ext uri="{FF2B5EF4-FFF2-40B4-BE49-F238E27FC236}">
                  <a16:creationId xmlns:a16="http://schemas.microsoft.com/office/drawing/2014/main" id="{9925DCA8-C6E7-4F43-8240-51A0D5533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15" cy="3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19" name="Rectangle 2">
              <a:extLst>
                <a:ext uri="{FF2B5EF4-FFF2-40B4-BE49-F238E27FC236}">
                  <a16:creationId xmlns:a16="http://schemas.microsoft.com/office/drawing/2014/main" id="{D0344D93-549E-B149-BF12-76880BF8C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" y="3129"/>
              <a:ext cx="4175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900">
                  <a:sym typeface="Helvetica" pitchFamily="2" charset="0"/>
                </a:rPr>
                <a:t>Unique clusters per location</a:t>
              </a:r>
            </a:p>
          </p:txBody>
        </p:sp>
      </p:grpSp>
      <p:sp>
        <p:nvSpPr>
          <p:cNvPr id="23556" name="Rectangle 4">
            <a:extLst>
              <a:ext uri="{FF2B5EF4-FFF2-40B4-BE49-F238E27FC236}">
                <a16:creationId xmlns:a16="http://schemas.microsoft.com/office/drawing/2014/main" id="{89D8378A-F29A-7848-AE7F-4827FF6ED37F}"/>
              </a:ext>
            </a:extLst>
          </p:cNvPr>
          <p:cNvSpPr>
            <a:spLocks/>
          </p:cNvSpPr>
          <p:nvPr/>
        </p:nvSpPr>
        <p:spPr bwMode="auto">
          <a:xfrm>
            <a:off x="1066800" y="1581150"/>
            <a:ext cx="1179513" cy="3338513"/>
          </a:xfrm>
          <a:prstGeom prst="rect">
            <a:avLst/>
          </a:prstGeom>
          <a:solidFill>
            <a:srgbClr val="CDCDCD">
              <a:alpha val="29803"/>
            </a:srgbClr>
          </a:solidFill>
          <a:ln w="28575">
            <a:solidFill>
              <a:srgbClr val="3F691E">
                <a:alpha val="29803"/>
              </a:srgbClr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94211" name="Rectangle 5">
            <a:extLst>
              <a:ext uri="{FF2B5EF4-FFF2-40B4-BE49-F238E27FC236}">
                <a16:creationId xmlns:a16="http://schemas.microsoft.com/office/drawing/2014/main" id="{1C8BEEED-C077-CA44-9042-88A43935EF98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448F25E0-9B14-4549-B795-F550ECDB0D8E}"/>
              </a:ext>
            </a:extLst>
          </p:cNvPr>
          <p:cNvSpPr>
            <a:spLocks/>
          </p:cNvSpPr>
          <p:nvPr/>
        </p:nvSpPr>
        <p:spPr bwMode="auto">
          <a:xfrm>
            <a:off x="2298700" y="1581150"/>
            <a:ext cx="2465388" cy="3338513"/>
          </a:xfrm>
          <a:prstGeom prst="rect">
            <a:avLst/>
          </a:prstGeom>
          <a:solidFill>
            <a:srgbClr val="CDCDCD">
              <a:alpha val="29803"/>
            </a:srgbClr>
          </a:solidFill>
          <a:ln w="28575">
            <a:solidFill>
              <a:srgbClr val="3F691E">
                <a:alpha val="29803"/>
              </a:srgbClr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94213" name="Rectangle 4">
            <a:extLst>
              <a:ext uri="{FF2B5EF4-FFF2-40B4-BE49-F238E27FC236}">
                <a16:creationId xmlns:a16="http://schemas.microsoft.com/office/drawing/2014/main" id="{3115EB9D-7A09-E34D-9CCD-518BF79E6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How Many Clusters per Location?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463CC776-4F9B-7640-AFBB-65201712682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828800"/>
            <a:ext cx="4130675" cy="3087688"/>
            <a:chOff x="4648200" y="1828800"/>
            <a:chExt cx="4130675" cy="3087688"/>
          </a:xfrm>
        </p:grpSpPr>
        <p:sp>
          <p:nvSpPr>
            <p:cNvPr id="94215" name="Line 9">
              <a:extLst>
                <a:ext uri="{FF2B5EF4-FFF2-40B4-BE49-F238E27FC236}">
                  <a16:creationId xmlns:a16="http://schemas.microsoft.com/office/drawing/2014/main" id="{AA45ED80-FDF6-4340-B212-0F3BD56C1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1828800"/>
              <a:ext cx="609600" cy="1422400"/>
            </a:xfrm>
            <a:prstGeom prst="line">
              <a:avLst/>
            </a:prstGeom>
            <a:noFill/>
            <a:ln w="28575">
              <a:solidFill>
                <a:srgbClr val="CC3333"/>
              </a:solidFill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6" name="Line 10">
              <a:extLst>
                <a:ext uri="{FF2B5EF4-FFF2-40B4-BE49-F238E27FC236}">
                  <a16:creationId xmlns:a16="http://schemas.microsoft.com/office/drawing/2014/main" id="{89B59B30-EEB6-6744-9ABF-9B04D386D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1828800"/>
              <a:ext cx="0" cy="3087688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3560" name="Rectangle 8">
              <a:extLst>
                <a:ext uri="{FF2B5EF4-FFF2-40B4-BE49-F238E27FC236}">
                  <a16:creationId xmlns:a16="http://schemas.microsoft.com/office/drawing/2014/main" id="{9638E61E-BED1-BA41-B5A2-452FEBF4E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188" y="2794000"/>
              <a:ext cx="3849687" cy="901700"/>
            </a:xfrm>
            <a:prstGeom prst="rect">
              <a:avLst/>
            </a:prstGeom>
            <a:solidFill>
              <a:srgbClr val="A40800"/>
            </a:solidFill>
            <a:ln>
              <a:noFill/>
            </a:ln>
            <a:effectLst>
              <a:outerShdw blurRad="63500" dist="38099" dir="2700000" algn="ctr" rotWithShape="0">
                <a:schemeClr val="bg2">
                  <a:alpha val="74997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717" tIns="35717" rIns="64291" bIns="35717"/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5pPr>
              <a:lvl6pPr marL="45720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6pPr>
              <a:lvl7pPr marL="91440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7pPr>
              <a:lvl8pPr marL="137160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8pPr>
              <a:lvl9pPr marL="1828800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charset="0"/>
                  <a:ea typeface="Gungsuh" charset="-127"/>
                </a:defRPr>
              </a:lvl9pPr>
            </a:lstStyle>
            <a:p>
              <a:pPr algn="ctr" eaLnBrk="1" hangingPunct="1">
                <a:spcBef>
                  <a:spcPts val="488"/>
                </a:spcBef>
                <a:buFont typeface="Wingdings" charset="2"/>
                <a:buNone/>
                <a:defRPr/>
              </a:pPr>
              <a:r>
                <a:rPr lang="en-US" altLang="en-US" b="1">
                  <a:solidFill>
                    <a:srgbClr val="FFFFFF"/>
                  </a:solidFill>
                  <a:latin typeface="Lucida Bright" charset="0"/>
                  <a:sym typeface="Helvetica" charset="0"/>
                </a:rPr>
                <a:t>Do all 19 clusters occur </a:t>
              </a:r>
            </a:p>
            <a:p>
              <a:pPr algn="ctr" eaLnBrk="1" hangingPunct="1">
                <a:spcBef>
                  <a:spcPts val="488"/>
                </a:spcBef>
                <a:buFont typeface="Wingdings" charset="2"/>
                <a:buNone/>
                <a:defRPr/>
              </a:pPr>
              <a:r>
                <a:rPr lang="en-US" altLang="en-US" b="1">
                  <a:solidFill>
                    <a:srgbClr val="FFFFFF"/>
                  </a:solidFill>
                  <a:latin typeface="Lucida Bright" charset="0"/>
                  <a:sym typeface="Helvetica" charset="0"/>
                </a:rPr>
                <a:t>with same frequency?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>
            <a:extLst>
              <a:ext uri="{FF2B5EF4-FFF2-40B4-BE49-F238E27FC236}">
                <a16:creationId xmlns:a16="http://schemas.microsoft.com/office/drawing/2014/main" id="{1F90C544-AFC3-994E-AEFB-B6C29A2BAE49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1231900"/>
            <a:ext cx="5573713" cy="4406900"/>
            <a:chOff x="3951288" y="1231900"/>
            <a:chExt cx="5573712" cy="4406900"/>
          </a:xfrm>
        </p:grpSpPr>
        <p:pic>
          <p:nvPicPr>
            <p:cNvPr id="96265" name="Picture 1">
              <a:extLst>
                <a:ext uri="{FF2B5EF4-FFF2-40B4-BE49-F238E27FC236}">
                  <a16:creationId xmlns:a16="http://schemas.microsoft.com/office/drawing/2014/main" id="{3234581C-C66F-304E-BA8C-8E4C47F37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1288" y="1231900"/>
              <a:ext cx="5573712" cy="440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6" name="Rectangle 2">
              <a:extLst>
                <a:ext uri="{FF2B5EF4-FFF2-40B4-BE49-F238E27FC236}">
                  <a16:creationId xmlns:a16="http://schemas.microsoft.com/office/drawing/2014/main" id="{2E133474-463C-F543-BB31-52DE64E2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1040" y="3411329"/>
              <a:ext cx="1323087" cy="118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Most 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frequent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cluster</a:t>
              </a:r>
            </a:p>
          </p:txBody>
        </p:sp>
        <p:sp>
          <p:nvSpPr>
            <p:cNvPr id="96267" name="Rectangle 3">
              <a:extLst>
                <a:ext uri="{FF2B5EF4-FFF2-40B4-BE49-F238E27FC236}">
                  <a16:creationId xmlns:a16="http://schemas.microsoft.com/office/drawing/2014/main" id="{05D8FF5E-2C28-2C42-9B9B-859882453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6532" y="3131433"/>
              <a:ext cx="801668" cy="75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6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2nd 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6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most </a:t>
              </a:r>
            </a:p>
          </p:txBody>
        </p:sp>
        <p:sp>
          <p:nvSpPr>
            <p:cNvPr id="96268" name="Rectangle 4">
              <a:extLst>
                <a:ext uri="{FF2B5EF4-FFF2-40B4-BE49-F238E27FC236}">
                  <a16:creationId xmlns:a16="http://schemas.microsoft.com/office/drawing/2014/main" id="{A59A4397-FD3D-B940-BDBA-27827CBD9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0733" y="2509284"/>
              <a:ext cx="487923" cy="386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6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3rd</a:t>
              </a:r>
            </a:p>
          </p:txBody>
        </p:sp>
        <p:sp>
          <p:nvSpPr>
            <p:cNvPr id="96269" name="Rectangle 5">
              <a:extLst>
                <a:ext uri="{FF2B5EF4-FFF2-40B4-BE49-F238E27FC236}">
                  <a16:creationId xmlns:a16="http://schemas.microsoft.com/office/drawing/2014/main" id="{E6D5DB33-9914-D846-868B-85A282966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525" y="2164853"/>
              <a:ext cx="328259" cy="273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200" b="1">
                  <a:solidFill>
                    <a:srgbClr val="FFFFFF"/>
                  </a:solidFill>
                  <a:sym typeface="Century Gothic" panose="020B0502020202020204" pitchFamily="34" charset="0"/>
                </a:rPr>
                <a:t>4th</a:t>
              </a:r>
            </a:p>
          </p:txBody>
        </p:sp>
        <p:sp>
          <p:nvSpPr>
            <p:cNvPr id="82960" name="Rectangle 6">
              <a:extLst>
                <a:ext uri="{FF2B5EF4-FFF2-40B4-BE49-F238E27FC236}">
                  <a16:creationId xmlns:a16="http://schemas.microsoft.com/office/drawing/2014/main" id="{3864EBB0-8460-2145-9533-BF08E4896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1650" y="1951038"/>
              <a:ext cx="539750" cy="2460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050" b="1">
                  <a:latin typeface="Lucida Bright" charset="0"/>
                  <a:ea typeface="Lucida Bright" charset="0"/>
                  <a:cs typeface="Lucida Bright" charset="0"/>
                  <a:sym typeface="Century Gothic" charset="0"/>
                </a:rPr>
                <a:t>Others</a:t>
              </a:r>
            </a:p>
          </p:txBody>
        </p:sp>
      </p:grpSp>
      <p:sp>
        <p:nvSpPr>
          <p:cNvPr id="96258" name="Rectangle 11">
            <a:extLst>
              <a:ext uri="{FF2B5EF4-FFF2-40B4-BE49-F238E27FC236}">
                <a16:creationId xmlns:a16="http://schemas.microsoft.com/office/drawing/2014/main" id="{3876C158-1CB0-EF40-BEEF-85DCE4F0D757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730A7944-9214-B44D-A19C-B8C31B9AEA7B}"/>
              </a:ext>
            </a:extLst>
          </p:cNvPr>
          <p:cNvSpPr>
            <a:spLocks/>
          </p:cNvSpPr>
          <p:nvPr/>
        </p:nvSpPr>
        <p:spPr bwMode="auto">
          <a:xfrm>
            <a:off x="400050" y="5857875"/>
            <a:ext cx="8439150" cy="466725"/>
          </a:xfrm>
          <a:prstGeom prst="rect">
            <a:avLst/>
          </a:prstGeom>
          <a:solidFill>
            <a:srgbClr val="CCFF66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35717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eaLnBrk="1" hangingPunct="1">
              <a:spcBef>
                <a:spcPts val="525"/>
              </a:spcBef>
              <a:buFont typeface="Wingdings" charset="2"/>
              <a:buNone/>
              <a:defRPr/>
            </a:pPr>
            <a:r>
              <a:rPr lang="en-US" altLang="en-US" sz="2000" b="1">
                <a:solidFill>
                  <a:srgbClr val="000000"/>
                </a:solidFill>
                <a:latin typeface="Lucida Bright" charset="0"/>
                <a:sym typeface="Century Gothic" charset="0"/>
              </a:rPr>
              <a:t> 3 to 4 clusters heavily dominate, need to learn these signatures</a:t>
            </a:r>
          </a:p>
        </p:txBody>
      </p:sp>
      <p:grpSp>
        <p:nvGrpSpPr>
          <p:cNvPr id="96260" name="Group 3">
            <a:extLst>
              <a:ext uri="{FF2B5EF4-FFF2-40B4-BE49-F238E27FC236}">
                <a16:creationId xmlns:a16="http://schemas.microsoft.com/office/drawing/2014/main" id="{B80A9D70-43AB-8444-BC9C-ADAA61E1EEE4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1624013"/>
            <a:ext cx="4868862" cy="3948112"/>
            <a:chOff x="0" y="0"/>
            <a:chExt cx="4361" cy="3536"/>
          </a:xfrm>
        </p:grpSpPr>
        <p:pic>
          <p:nvPicPr>
            <p:cNvPr id="96263" name="Picture 1">
              <a:extLst>
                <a:ext uri="{FF2B5EF4-FFF2-40B4-BE49-F238E27FC236}">
                  <a16:creationId xmlns:a16="http://schemas.microsoft.com/office/drawing/2014/main" id="{9DC39575-B76B-5E49-8BBE-C0B1024112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15" cy="3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4" name="Rectangle 2">
              <a:extLst>
                <a:ext uri="{FF2B5EF4-FFF2-40B4-BE49-F238E27FC236}">
                  <a16:creationId xmlns:a16="http://schemas.microsoft.com/office/drawing/2014/main" id="{7E9D7B73-111B-2744-BFD2-8E104E58A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" y="3129"/>
              <a:ext cx="4175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900">
                  <a:sym typeface="Helvetica" pitchFamily="2" charset="0"/>
                </a:rPr>
                <a:t>Unique clusters per location</a:t>
              </a:r>
            </a:p>
          </p:txBody>
        </p:sp>
      </p:grpSp>
      <p:sp>
        <p:nvSpPr>
          <p:cNvPr id="96261" name="Rectangle 7">
            <a:extLst>
              <a:ext uri="{FF2B5EF4-FFF2-40B4-BE49-F238E27FC236}">
                <a16:creationId xmlns:a16="http://schemas.microsoft.com/office/drawing/2014/main" id="{279B40F4-8BE0-1345-B036-EA025B312117}"/>
              </a:ext>
            </a:extLst>
          </p:cNvPr>
          <p:cNvSpPr>
            <a:spLocks/>
          </p:cNvSpPr>
          <p:nvPr/>
        </p:nvSpPr>
        <p:spPr bwMode="auto">
          <a:xfrm>
            <a:off x="2298700" y="1581150"/>
            <a:ext cx="2465388" cy="3338513"/>
          </a:xfrm>
          <a:prstGeom prst="rect">
            <a:avLst/>
          </a:prstGeom>
          <a:solidFill>
            <a:srgbClr val="CDCDCD">
              <a:alpha val="29803"/>
            </a:srgbClr>
          </a:solidFill>
          <a:ln w="28575">
            <a:solidFill>
              <a:srgbClr val="3F691E">
                <a:alpha val="29803"/>
              </a:srgbClr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96262" name="Rectangle 4">
            <a:extLst>
              <a:ext uri="{FF2B5EF4-FFF2-40B4-BE49-F238E27FC236}">
                <a16:creationId xmlns:a16="http://schemas.microsoft.com/office/drawing/2014/main" id="{FB139ABE-6DC0-6D4B-9592-ABD406D4C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Cluster Occurrence Frequency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7732ED5C-B607-6740-9984-85E229A9635A}"/>
              </a:ext>
            </a:extLst>
          </p:cNvPr>
          <p:cNvGrpSpPr>
            <a:grpSpLocks/>
          </p:cNvGrpSpPr>
          <p:nvPr/>
        </p:nvGrpSpPr>
        <p:grpSpPr bwMode="auto">
          <a:xfrm>
            <a:off x="452438" y="2876550"/>
            <a:ext cx="8450262" cy="857250"/>
            <a:chOff x="150" y="0"/>
            <a:chExt cx="7570" cy="768"/>
          </a:xfrm>
        </p:grpSpPr>
        <p:sp>
          <p:nvSpPr>
            <p:cNvPr id="98330" name="AutoShape 8">
              <a:extLst>
                <a:ext uri="{FF2B5EF4-FFF2-40B4-BE49-F238E27FC236}">
                  <a16:creationId xmlns:a16="http://schemas.microsoft.com/office/drawing/2014/main" id="{1CCB6D2B-5462-ED40-BF73-CC4AF417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0"/>
              <a:ext cx="7248" cy="768"/>
            </a:xfrm>
            <a:prstGeom prst="roundRect">
              <a:avLst>
                <a:gd name="adj" fmla="val 1562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98331" name="Rectangle 9">
              <a:extLst>
                <a:ext uri="{FF2B5EF4-FFF2-40B4-BE49-F238E27FC236}">
                  <a16:creationId xmlns:a16="http://schemas.microsoft.com/office/drawing/2014/main" id="{DA4DBF7F-6BB8-F04A-8078-0E4555A35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80"/>
              <a:ext cx="6736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500063" indent="-179388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spcBef>
                  <a:spcPts val="425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en-US" sz="1900" b="1">
                  <a:sym typeface="Helvetica" pitchFamily="2" charset="0"/>
                </a:rPr>
                <a:t> Spatial</a:t>
              </a:r>
              <a:endParaRPr lang="en-US" altLang="en-US" sz="1900">
                <a:sym typeface="Helvetica" pitchFamily="2" charset="0"/>
              </a:endParaRP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Channel responses at different locations need to be different</a:t>
              </a:r>
            </a:p>
          </p:txBody>
        </p:sp>
        <p:sp>
          <p:nvSpPr>
            <p:cNvPr id="98332" name="Rectangle 10">
              <a:extLst>
                <a:ext uri="{FF2B5EF4-FFF2-40B4-BE49-F238E27FC236}">
                  <a16:creationId xmlns:a16="http://schemas.microsoft.com/office/drawing/2014/main" id="{BE47794E-DD65-F048-BEE9-95F8F763A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" y="107"/>
              <a:ext cx="368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600" b="1">
                  <a:sym typeface="Century Gothic" panose="020B0502020202020204" pitchFamily="34" charset="0"/>
                </a:rPr>
                <a:t>2.</a:t>
              </a:r>
            </a:p>
          </p:txBody>
        </p:sp>
      </p:grpSp>
      <p:pic>
        <p:nvPicPr>
          <p:cNvPr id="27649" name="Picture 1">
            <a:extLst>
              <a:ext uri="{FF2B5EF4-FFF2-40B4-BE49-F238E27FC236}">
                <a16:creationId xmlns:a16="http://schemas.microsoft.com/office/drawing/2014/main" id="{291E0E13-42F5-3345-8B60-2CFA4CF05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2330450"/>
            <a:ext cx="4397375" cy="336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Rectangle 2">
            <a:extLst>
              <a:ext uri="{FF2B5EF4-FFF2-40B4-BE49-F238E27FC236}">
                <a16:creationId xmlns:a16="http://schemas.microsoft.com/office/drawing/2014/main" id="{A5E1E809-62B3-DF46-8DAF-1D5974421B29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A0B8D8DA-6749-C04B-B463-D5C107B90318}"/>
              </a:ext>
            </a:extLst>
          </p:cNvPr>
          <p:cNvGrpSpPr>
            <a:grpSpLocks/>
          </p:cNvGrpSpPr>
          <p:nvPr/>
        </p:nvGrpSpPr>
        <p:grpSpPr bwMode="auto">
          <a:xfrm>
            <a:off x="3146425" y="2544763"/>
            <a:ext cx="2644775" cy="2155825"/>
            <a:chOff x="115" y="0"/>
            <a:chExt cx="2370" cy="1931"/>
          </a:xfrm>
        </p:grpSpPr>
        <p:grpSp>
          <p:nvGrpSpPr>
            <p:cNvPr id="98324" name="Group 15">
              <a:extLst>
                <a:ext uri="{FF2B5EF4-FFF2-40B4-BE49-F238E27FC236}">
                  <a16:creationId xmlns:a16="http://schemas.microsoft.com/office/drawing/2014/main" id="{096557C2-D12F-4A43-AEF3-3482C9E183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" y="742"/>
              <a:ext cx="2266" cy="1189"/>
              <a:chOff x="0" y="0"/>
              <a:chExt cx="2265" cy="1188"/>
            </a:xfrm>
          </p:grpSpPr>
          <p:sp>
            <p:nvSpPr>
              <p:cNvPr id="98328" name="Oval 13">
                <a:extLst>
                  <a:ext uri="{FF2B5EF4-FFF2-40B4-BE49-F238E27FC236}">
                    <a16:creationId xmlns:a16="http://schemas.microsoft.com/office/drawing/2014/main" id="{FD6DEAE7-4210-224B-8581-353A3B3AD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0"/>
                <a:ext cx="913" cy="913"/>
              </a:xfrm>
              <a:prstGeom prst="ellipse">
                <a:avLst/>
              </a:prstGeom>
              <a:noFill/>
              <a:ln w="762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Char char="•"/>
                </a:pPr>
                <a:endParaRPr lang="en-US" altLang="en-US" sz="1800">
                  <a:latin typeface="Comic Sans MS" panose="030F0902030302020204" pitchFamily="66" charset="0"/>
                </a:endParaRPr>
              </a:p>
            </p:txBody>
          </p:sp>
          <p:sp>
            <p:nvSpPr>
              <p:cNvPr id="98329" name="Oval 14">
                <a:extLst>
                  <a:ext uri="{FF2B5EF4-FFF2-40B4-BE49-F238E27FC236}">
                    <a16:creationId xmlns:a16="http://schemas.microsoft.com/office/drawing/2014/main" id="{8BD251C3-C167-784A-B683-B450E9294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689"/>
                <a:ext cx="499" cy="499"/>
              </a:xfrm>
              <a:prstGeom prst="ellipse">
                <a:avLst/>
              </a:prstGeom>
              <a:noFill/>
              <a:ln w="762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Char char="•"/>
                </a:pPr>
                <a:endParaRPr lang="en-US" altLang="en-US" sz="180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98325" name="Line 16">
              <a:extLst>
                <a:ext uri="{FF2B5EF4-FFF2-40B4-BE49-F238E27FC236}">
                  <a16:creationId xmlns:a16="http://schemas.microsoft.com/office/drawing/2014/main" id="{F2D65962-D36A-9A4F-AFF9-587C76D1F8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2" y="504"/>
              <a:ext cx="314" cy="313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8326" name="Rectangle 17">
              <a:extLst>
                <a:ext uri="{FF2B5EF4-FFF2-40B4-BE49-F238E27FC236}">
                  <a16:creationId xmlns:a16="http://schemas.microsoft.com/office/drawing/2014/main" id="{593D4ECD-87E5-C64A-8FBD-199F76AFA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" y="0"/>
              <a:ext cx="237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FF3333"/>
                  </a:solidFill>
                  <a:sym typeface="Helvetica" pitchFamily="2" charset="0"/>
                </a:rPr>
                <a:t>Clusters with different 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FF3333"/>
                  </a:solidFill>
                  <a:sym typeface="Helvetica" pitchFamily="2" charset="0"/>
                </a:rPr>
                <a:t>mean and variance</a:t>
              </a:r>
            </a:p>
          </p:txBody>
        </p:sp>
        <p:sp>
          <p:nvSpPr>
            <p:cNvPr id="98327" name="Line 18">
              <a:extLst>
                <a:ext uri="{FF2B5EF4-FFF2-40B4-BE49-F238E27FC236}">
                  <a16:creationId xmlns:a16="http://schemas.microsoft.com/office/drawing/2014/main" id="{ED188B8F-7A6E-684B-A792-CC6180D78D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97" y="573"/>
              <a:ext cx="110" cy="8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98309" name="Rectangle 4">
            <a:extLst>
              <a:ext uri="{FF2B5EF4-FFF2-40B4-BE49-F238E27FC236}">
                <a16:creationId xmlns:a16="http://schemas.microsoft.com/office/drawing/2014/main" id="{1E93691B-12F4-3142-978C-B6E7E191C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Is WiFi Channel Amenable to Localization?</a:t>
            </a:r>
          </a:p>
        </p:txBody>
      </p:sp>
      <p:grpSp>
        <p:nvGrpSpPr>
          <p:cNvPr id="98310" name="Group 7">
            <a:extLst>
              <a:ext uri="{FF2B5EF4-FFF2-40B4-BE49-F238E27FC236}">
                <a16:creationId xmlns:a16="http://schemas.microsoft.com/office/drawing/2014/main" id="{B5B8244F-CCF8-934F-AF45-46541FC69A3E}"/>
              </a:ext>
            </a:extLst>
          </p:cNvPr>
          <p:cNvGrpSpPr>
            <a:grpSpLocks/>
          </p:cNvGrpSpPr>
          <p:nvPr/>
        </p:nvGrpSpPr>
        <p:grpSpPr bwMode="auto">
          <a:xfrm>
            <a:off x="449263" y="1206500"/>
            <a:ext cx="8389937" cy="1206500"/>
            <a:chOff x="152" y="0"/>
            <a:chExt cx="7305" cy="1080"/>
          </a:xfrm>
        </p:grpSpPr>
        <p:sp>
          <p:nvSpPr>
            <p:cNvPr id="98321" name="Rectangle 4">
              <a:extLst>
                <a:ext uri="{FF2B5EF4-FFF2-40B4-BE49-F238E27FC236}">
                  <a16:creationId xmlns:a16="http://schemas.microsoft.com/office/drawing/2014/main" id="{4D6EAD0D-BFB1-4345-B92F-653EA1248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103"/>
              <a:ext cx="6848" cy="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500063" indent="-179388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spcBef>
                  <a:spcPts val="425"/>
                </a:spcBef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ym typeface="Helvetica" pitchFamily="2" charset="0"/>
                </a:rPr>
                <a:t> Temporal</a:t>
              </a:r>
              <a:r>
                <a:rPr lang="en-US" altLang="en-US" sz="1800">
                  <a:sym typeface="Helvetica" pitchFamily="2" charset="0"/>
                </a:rPr>
                <a:t> </a:t>
              </a: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Channel responses at a given location may vary over time </a:t>
              </a:r>
            </a:p>
            <a:p>
              <a:pPr lvl="1" eaLnBrk="1" hangingPunct="1">
                <a:spcBef>
                  <a:spcPts val="425"/>
                </a:spcBef>
                <a:buClrTx/>
                <a:buSzPct val="100000"/>
                <a:buFont typeface="Helvetica" pitchFamily="2" charset="0"/>
                <a:buChar char="•"/>
              </a:pPr>
              <a:r>
                <a:rPr lang="en-US" altLang="en-US" sz="1700" b="1">
                  <a:solidFill>
                    <a:srgbClr val="2557FF"/>
                  </a:solidFill>
                  <a:sym typeface="Helvetica" pitchFamily="2" charset="0"/>
                </a:rPr>
                <a:t>However, variations must exhibit a pattern – a signature</a:t>
              </a:r>
            </a:p>
          </p:txBody>
        </p:sp>
        <p:sp>
          <p:nvSpPr>
            <p:cNvPr id="98322" name="AutoShape 5">
              <a:extLst>
                <a:ext uri="{FF2B5EF4-FFF2-40B4-BE49-F238E27FC236}">
                  <a16:creationId xmlns:a16="http://schemas.microsoft.com/office/drawing/2014/main" id="{7F9505C7-5F48-B34C-BF2B-C38FFFD40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0"/>
              <a:ext cx="6976" cy="1080"/>
            </a:xfrm>
            <a:prstGeom prst="roundRect">
              <a:avLst>
                <a:gd name="adj" fmla="val 1111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98323" name="Rectangle 6">
              <a:extLst>
                <a:ext uri="{FF2B5EF4-FFF2-40B4-BE49-F238E27FC236}">
                  <a16:creationId xmlns:a16="http://schemas.microsoft.com/office/drawing/2014/main" id="{6F30F15D-FB2E-1549-B69E-14FCFF87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" y="256"/>
              <a:ext cx="505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600" b="1">
                  <a:sym typeface="Century Gothic" panose="020B0502020202020204" pitchFamily="34" charset="0"/>
                </a:rPr>
                <a:t>1.</a:t>
              </a:r>
            </a:p>
          </p:txBody>
        </p:sp>
      </p:grpSp>
      <p:grpSp>
        <p:nvGrpSpPr>
          <p:cNvPr id="6" name="Group 47">
            <a:extLst>
              <a:ext uri="{FF2B5EF4-FFF2-40B4-BE49-F238E27FC236}">
                <a16:creationId xmlns:a16="http://schemas.microsoft.com/office/drawing/2014/main" id="{6C6CFF62-444E-1747-8FCA-5E5DD81EAED6}"/>
              </a:ext>
            </a:extLst>
          </p:cNvPr>
          <p:cNvGrpSpPr>
            <a:grpSpLocks/>
          </p:cNvGrpSpPr>
          <p:nvPr/>
        </p:nvGrpSpPr>
        <p:grpSpPr bwMode="auto">
          <a:xfrm>
            <a:off x="2997200" y="2590800"/>
            <a:ext cx="3352800" cy="2667000"/>
            <a:chOff x="5740400" y="901700"/>
            <a:chExt cx="3352800" cy="2667000"/>
          </a:xfrm>
        </p:grpSpPr>
        <p:sp>
          <p:nvSpPr>
            <p:cNvPr id="98313" name="Rectangle 12">
              <a:extLst>
                <a:ext uri="{FF2B5EF4-FFF2-40B4-BE49-F238E27FC236}">
                  <a16:creationId xmlns:a16="http://schemas.microsoft.com/office/drawing/2014/main" id="{CA69EF46-625B-8242-AA12-F6BF33817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0" y="901700"/>
              <a:ext cx="3352800" cy="2667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grpSp>
          <p:nvGrpSpPr>
            <p:cNvPr id="98314" name="Group 19">
              <a:extLst>
                <a:ext uri="{FF2B5EF4-FFF2-40B4-BE49-F238E27FC236}">
                  <a16:creationId xmlns:a16="http://schemas.microsoft.com/office/drawing/2014/main" id="{207A86A8-9C0A-FD42-AC57-B1C461400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8955" y="1067068"/>
              <a:ext cx="2590887" cy="1926957"/>
              <a:chOff x="142" y="205"/>
              <a:chExt cx="2321" cy="1726"/>
            </a:xfrm>
          </p:grpSpPr>
          <p:grpSp>
            <p:nvGrpSpPr>
              <p:cNvPr id="98315" name="Group 15">
                <a:extLst>
                  <a:ext uri="{FF2B5EF4-FFF2-40B4-BE49-F238E27FC236}">
                    <a16:creationId xmlns:a16="http://schemas.microsoft.com/office/drawing/2014/main" id="{96F5C719-C4E7-E445-8A9D-33E256D2DE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" y="742"/>
                <a:ext cx="2265" cy="1189"/>
                <a:chOff x="0" y="0"/>
                <a:chExt cx="2265" cy="1188"/>
              </a:xfrm>
            </p:grpSpPr>
            <p:sp>
              <p:nvSpPr>
                <p:cNvPr id="98319" name="Oval 13">
                  <a:extLst>
                    <a:ext uri="{FF2B5EF4-FFF2-40B4-BE49-F238E27FC236}">
                      <a16:creationId xmlns:a16="http://schemas.microsoft.com/office/drawing/2014/main" id="{56EFFD52-7C1D-3946-A452-86614B9044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52" y="0"/>
                  <a:ext cx="913" cy="913"/>
                </a:xfrm>
                <a:prstGeom prst="ellipse">
                  <a:avLst/>
                </a:prstGeom>
                <a:noFill/>
                <a:ln w="762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A6A6A6"/>
                    </a:buClr>
                    <a:buSzPct val="120000"/>
                    <a:buFont typeface="Lucida Grande" panose="020B0600040502020204" pitchFamily="34" charset="0"/>
                    <a:buChar char="●"/>
                    <a:defRPr sz="24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A6A6A6"/>
                    </a:buClr>
                    <a:buSzPct val="80000"/>
                    <a:buFont typeface="Lucida Grande" panose="020B0600040502020204" pitchFamily="34" charset="0"/>
                    <a:buChar char="●"/>
                    <a:defRPr sz="2000">
                      <a:solidFill>
                        <a:srgbClr val="7F7F7F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CC0000"/>
                    </a:buClr>
                    <a:buSzPct val="125000"/>
                    <a:buChar char="•"/>
                    <a:defRPr>
                      <a:solidFill>
                        <a:srgbClr val="800000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9pPr>
                </a:lstStyle>
                <a:p>
                  <a:pPr eaLnBrk="1" hangingPunct="1">
                    <a:buClrTx/>
                    <a:buSzTx/>
                    <a:buFont typeface="Wingdings" pitchFamily="2" charset="2"/>
                    <a:buChar char="•"/>
                  </a:pPr>
                  <a:endParaRPr lang="en-US" altLang="en-US" sz="1800">
                    <a:latin typeface="Comic Sans MS" panose="030F0902030302020204" pitchFamily="66" charset="0"/>
                  </a:endParaRPr>
                </a:p>
              </p:txBody>
            </p:sp>
            <p:sp>
              <p:nvSpPr>
                <p:cNvPr id="98320" name="Oval 14">
                  <a:extLst>
                    <a:ext uri="{FF2B5EF4-FFF2-40B4-BE49-F238E27FC236}">
                      <a16:creationId xmlns:a16="http://schemas.microsoft.com/office/drawing/2014/main" id="{63F9BFB0-D14C-6840-91E4-1EBF825B83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689"/>
                  <a:ext cx="499" cy="499"/>
                </a:xfrm>
                <a:prstGeom prst="ellipse">
                  <a:avLst/>
                </a:prstGeom>
                <a:noFill/>
                <a:ln w="762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A6A6A6"/>
                    </a:buClr>
                    <a:buSzPct val="120000"/>
                    <a:buFont typeface="Lucida Grande" panose="020B0600040502020204" pitchFamily="34" charset="0"/>
                    <a:buChar char="●"/>
                    <a:defRPr sz="24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A6A6A6"/>
                    </a:buClr>
                    <a:buSzPct val="80000"/>
                    <a:buFont typeface="Lucida Grande" panose="020B0600040502020204" pitchFamily="34" charset="0"/>
                    <a:buChar char="●"/>
                    <a:defRPr sz="2000">
                      <a:solidFill>
                        <a:srgbClr val="7F7F7F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CC0000"/>
                    </a:buClr>
                    <a:buSzPct val="125000"/>
                    <a:buChar char="•"/>
                    <a:defRPr>
                      <a:solidFill>
                        <a:srgbClr val="800000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Lucida Bright" panose="02040602050505020304" pitchFamily="18" charset="77"/>
                      <a:ea typeface="Gungsuh" panose="02030600000101010101" pitchFamily="18" charset="-127"/>
                    </a:defRPr>
                  </a:lvl9pPr>
                </a:lstStyle>
                <a:p>
                  <a:pPr eaLnBrk="1" hangingPunct="1">
                    <a:buClrTx/>
                    <a:buSzTx/>
                    <a:buFont typeface="Wingdings" pitchFamily="2" charset="2"/>
                    <a:buChar char="•"/>
                  </a:pPr>
                  <a:endParaRPr lang="en-US" altLang="en-US" sz="1800">
                    <a:latin typeface="Comic Sans MS" panose="030F0902030302020204" pitchFamily="66" charset="0"/>
                  </a:endParaRPr>
                </a:p>
              </p:txBody>
            </p:sp>
          </p:grpSp>
          <p:sp>
            <p:nvSpPr>
              <p:cNvPr id="98316" name="Line 16">
                <a:extLst>
                  <a:ext uri="{FF2B5EF4-FFF2-40B4-BE49-F238E27FC236}">
                    <a16:creationId xmlns:a16="http://schemas.microsoft.com/office/drawing/2014/main" id="{32A22382-EA95-C645-B9C2-629A31082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1472" y="504"/>
                <a:ext cx="314" cy="313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98317" name="Rectangle 17">
                <a:extLst>
                  <a:ext uri="{FF2B5EF4-FFF2-40B4-BE49-F238E27FC236}">
                    <a16:creationId xmlns:a16="http://schemas.microsoft.com/office/drawing/2014/main" id="{9134C24D-ADD3-9B4D-9EB9-1C75BBFBC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" y="205"/>
                <a:ext cx="1934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None/>
                </a:pPr>
                <a:r>
                  <a:rPr lang="en-US" altLang="en-US" sz="1800" b="1">
                    <a:solidFill>
                      <a:srgbClr val="FF3333"/>
                    </a:solidFill>
                    <a:sym typeface="Helvetica" pitchFamily="2" charset="0"/>
                  </a:rPr>
                  <a:t>Location Signature</a:t>
                </a:r>
              </a:p>
            </p:txBody>
          </p:sp>
          <p:sp>
            <p:nvSpPr>
              <p:cNvPr id="98318" name="Line 18">
                <a:extLst>
                  <a:ext uri="{FF2B5EF4-FFF2-40B4-BE49-F238E27FC236}">
                    <a16:creationId xmlns:a16="http://schemas.microsoft.com/office/drawing/2014/main" id="{BE58BDE8-9F4B-C941-960C-DFD2CECEB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7" y="573"/>
                <a:ext cx="110" cy="832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miter lim="800000"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4402980-5EDA-E64B-97B5-BBE7D023B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638800"/>
            <a:ext cx="8001000" cy="8382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-0.00313 0.3847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19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">
            <a:extLst>
              <a:ext uri="{FF2B5EF4-FFF2-40B4-BE49-F238E27FC236}">
                <a16:creationId xmlns:a16="http://schemas.microsoft.com/office/drawing/2014/main" id="{38320C7C-47CA-8A45-B00D-843D5B39C5D4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00354" name="Rectangle 4">
            <a:extLst>
              <a:ext uri="{FF2B5EF4-FFF2-40B4-BE49-F238E27FC236}">
                <a16:creationId xmlns:a16="http://schemas.microsoft.com/office/drawing/2014/main" id="{E93054B6-1C72-C44C-86D8-8A97CF48E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What is the Size of a Location?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9A57778-C4CF-4043-9939-26F775485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1219200"/>
            <a:ext cx="8456612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2725" indent="-212725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742950" indent="-285750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r>
              <a:rPr lang="en-US" altLang="en-US"/>
              <a:t> Localization </a:t>
            </a:r>
            <a:r>
              <a:rPr lang="en-US" altLang="en-US">
                <a:sym typeface="Helvetica" pitchFamily="2" charset="0"/>
              </a:rPr>
              <a:t>granularity depends on size</a:t>
            </a:r>
          </a:p>
          <a:p>
            <a:pPr lvl="1"/>
            <a:r>
              <a:rPr lang="en-US" altLang="en-US">
                <a:sym typeface="Helvetica" pitchFamily="2" charset="0"/>
              </a:rPr>
              <a:t>RSSI changes in orders of several meters (hence, unsuitable)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1">
            <a:extLst>
              <a:ext uri="{FF2B5EF4-FFF2-40B4-BE49-F238E27FC236}">
                <a16:creationId xmlns:a16="http://schemas.microsoft.com/office/drawing/2014/main" id="{82F42C38-09D7-4E44-986C-B37A774F55BF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223A8F1F-0992-6847-BC9E-D8A33A9B1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456612" cy="1160463"/>
          </a:xfrm>
        </p:spPr>
        <p:txBody>
          <a:bodyPr/>
          <a:lstStyle/>
          <a:p>
            <a:pPr marL="212725" indent="-212725"/>
            <a:r>
              <a:rPr lang="en-US" altLang="en-US">
                <a:latin typeface="Lucida Bright" panose="02040602050505020304" pitchFamily="18" charset="77"/>
              </a:rPr>
              <a:t> Localization </a:t>
            </a:r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granularity depends on size</a:t>
            </a:r>
          </a:p>
          <a:p>
            <a:pPr lvl="1"/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RSSI changes in orders of several meters (hence, unsuitable)</a:t>
            </a:r>
          </a:p>
        </p:txBody>
      </p:sp>
      <p:grpSp>
        <p:nvGrpSpPr>
          <p:cNvPr id="102403" name="Group 9">
            <a:extLst>
              <a:ext uri="{FF2B5EF4-FFF2-40B4-BE49-F238E27FC236}">
                <a16:creationId xmlns:a16="http://schemas.microsoft.com/office/drawing/2014/main" id="{D8285E55-DB51-0748-924F-488149AFDBE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382838"/>
            <a:ext cx="6237288" cy="3073400"/>
            <a:chOff x="-378" y="0"/>
            <a:chExt cx="5587" cy="2753"/>
          </a:xfrm>
        </p:grpSpPr>
        <p:pic>
          <p:nvPicPr>
            <p:cNvPr id="102415" name="Picture 5">
              <a:extLst>
                <a:ext uri="{FF2B5EF4-FFF2-40B4-BE49-F238E27FC236}">
                  <a16:creationId xmlns:a16="http://schemas.microsoft.com/office/drawing/2014/main" id="{55A59328-9087-924B-B062-2ED8720A16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12" cy="2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16" name="Rectangle 8">
              <a:extLst>
                <a:ext uri="{FF2B5EF4-FFF2-40B4-BE49-F238E27FC236}">
                  <a16:creationId xmlns:a16="http://schemas.microsoft.com/office/drawing/2014/main" id="{C5DF8BD4-B425-D94F-993B-3EC3DDF12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8" y="2496"/>
              <a:ext cx="5587" cy="2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ym typeface="Helvetica" pitchFamily="2" charset="0"/>
                </a:rPr>
                <a:t> </a:t>
              </a:r>
              <a:r>
                <a:rPr lang="en-US" altLang="en-US" sz="1800" b="1">
                  <a:solidFill>
                    <a:srgbClr val="FF0000"/>
                  </a:solidFill>
                  <a:sym typeface="Helvetica" pitchFamily="2" charset="0"/>
                </a:rPr>
                <a:t>Cross correlation with signature at reference location</a:t>
              </a:r>
            </a:p>
          </p:txBody>
        </p:sp>
      </p:grp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F456FE9B-B645-6B41-825D-EDA450B8F1D0}"/>
              </a:ext>
            </a:extLst>
          </p:cNvPr>
          <p:cNvSpPr>
            <a:spLocks/>
          </p:cNvSpPr>
          <p:nvPr/>
        </p:nvSpPr>
        <p:spPr bwMode="auto">
          <a:xfrm>
            <a:off x="838200" y="5638800"/>
            <a:ext cx="6096000" cy="428625"/>
          </a:xfrm>
          <a:prstGeom prst="rect">
            <a:avLst/>
          </a:prstGeom>
          <a:solidFill>
            <a:srgbClr val="CCFF66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35717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eaLnBrk="1" hangingPunct="1">
              <a:spcBef>
                <a:spcPts val="525"/>
              </a:spcBef>
              <a:buFont typeface="Wingdings" charset="2"/>
              <a:buNone/>
              <a:defRPr/>
            </a:pPr>
            <a:r>
              <a:rPr lang="en-US" altLang="en-US" sz="2300" b="1">
                <a:solidFill>
                  <a:srgbClr val="000000"/>
                </a:solidFill>
                <a:latin typeface="Lucida Bright" charset="0"/>
                <a:sym typeface="Century Gothic" charset="0"/>
              </a:rPr>
              <a:t> Channel response changes every 2-3cm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1CE42141-CC18-AD46-83EF-80EBBAFAE43A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209800"/>
            <a:ext cx="4114800" cy="1076325"/>
            <a:chOff x="3810000" y="2428875"/>
            <a:chExt cx="4114800" cy="1076325"/>
          </a:xfrm>
        </p:grpSpPr>
        <p:sp>
          <p:nvSpPr>
            <p:cNvPr id="102413" name="Line 12">
              <a:extLst>
                <a:ext uri="{FF2B5EF4-FFF2-40B4-BE49-F238E27FC236}">
                  <a16:creationId xmlns:a16="http://schemas.microsoft.com/office/drawing/2014/main" id="{5E316F00-D27D-5C49-B05E-4A615ACD09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10000" y="2622550"/>
              <a:ext cx="2795588" cy="8826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2414" name="Rectangle 13">
              <a:extLst>
                <a:ext uri="{FF2B5EF4-FFF2-40B4-BE49-F238E27FC236}">
                  <a16:creationId xmlns:a16="http://schemas.microsoft.com/office/drawing/2014/main" id="{52FDE93C-B1F1-F844-A9B2-C2C234145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870" y="2428875"/>
              <a:ext cx="124393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333333"/>
                  </a:solidFill>
                  <a:sym typeface="Helvetica" pitchFamily="2" charset="0"/>
                </a:rPr>
                <a:t>3 cm apart</a:t>
              </a: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F7140B95-B004-E94D-86C5-B25DB76E5637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862263"/>
            <a:ext cx="3352800" cy="500062"/>
            <a:chOff x="4648200" y="3081338"/>
            <a:chExt cx="3352800" cy="500061"/>
          </a:xfrm>
        </p:grpSpPr>
        <p:sp>
          <p:nvSpPr>
            <p:cNvPr id="102411" name="Line 11">
              <a:extLst>
                <a:ext uri="{FF2B5EF4-FFF2-40B4-BE49-F238E27FC236}">
                  <a16:creationId xmlns:a16="http://schemas.microsoft.com/office/drawing/2014/main" id="{665C96A6-D2B7-D142-AC6F-35FDBC223F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4648200" y="3292474"/>
              <a:ext cx="199390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02412" name="Rectangle 14">
              <a:extLst>
                <a:ext uri="{FF2B5EF4-FFF2-40B4-BE49-F238E27FC236}">
                  <a16:creationId xmlns:a16="http://schemas.microsoft.com/office/drawing/2014/main" id="{8838D9D6-C084-CD4A-BB25-413E3637D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7070" y="3081338"/>
              <a:ext cx="124393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ym typeface="Helvetica" pitchFamily="2" charset="0"/>
                </a:rPr>
                <a:t>2 cm apart</a:t>
              </a:r>
            </a:p>
          </p:txBody>
        </p:sp>
      </p:grpSp>
      <p:sp>
        <p:nvSpPr>
          <p:cNvPr id="29711" name="Line 15">
            <a:extLst>
              <a:ext uri="{FF2B5EF4-FFF2-40B4-BE49-F238E27FC236}">
                <a16:creationId xmlns:a16="http://schemas.microsoft.com/office/drawing/2014/main" id="{45022F1C-C093-344B-A10D-B12A4CDE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513138"/>
            <a:ext cx="838200" cy="1587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8" name="Rectangle 4">
            <a:extLst>
              <a:ext uri="{FF2B5EF4-FFF2-40B4-BE49-F238E27FC236}">
                <a16:creationId xmlns:a16="http://schemas.microsoft.com/office/drawing/2014/main" id="{F6BCE487-464D-734D-AFCB-6763B3DC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What is the Size of a Location?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E2A9DC18-1571-2641-A497-E84145855BCB}"/>
              </a:ext>
            </a:extLst>
          </p:cNvPr>
          <p:cNvSpPr>
            <a:spLocks/>
          </p:cNvSpPr>
          <p:nvPr/>
        </p:nvSpPr>
        <p:spPr bwMode="auto">
          <a:xfrm>
            <a:off x="939800" y="5737225"/>
            <a:ext cx="7670800" cy="533400"/>
          </a:xfrm>
          <a:prstGeom prst="rect">
            <a:avLst/>
          </a:prstGeom>
          <a:solidFill>
            <a:srgbClr val="FFCC66"/>
          </a:solidFill>
          <a:ln w="9525">
            <a:solidFill>
              <a:srgbClr val="FFCC66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lIns="0" tIns="0" rIns="0" bIns="0" anchor="ctr"/>
          <a:lstStyle>
            <a:lvl1pPr marL="1873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algn="ctr" eaLnBrk="1" hangingPunct="1">
              <a:spcBef>
                <a:spcPts val="425"/>
              </a:spcBef>
              <a:buFont typeface="Wingdings" charset="2"/>
              <a:buNone/>
              <a:defRPr/>
            </a:pPr>
            <a:r>
              <a:rPr lang="en-US" altLang="en-US" sz="2200">
                <a:latin typeface="Lucida Bright" charset="0"/>
                <a:sym typeface="Helvetica" charset="0"/>
              </a:rPr>
              <a:t>Define “location” as 2cm x 2cm area, call them pixels</a:t>
            </a:r>
          </a:p>
        </p:txBody>
      </p:sp>
      <p:pic>
        <p:nvPicPr>
          <p:cNvPr id="17" name="Picture 16" descr="aaa.pdf">
            <a:extLst>
              <a:ext uri="{FF2B5EF4-FFF2-40B4-BE49-F238E27FC236}">
                <a16:creationId xmlns:a16="http://schemas.microsoft.com/office/drawing/2014/main" id="{36C86199-071C-0744-8274-3609AF8F0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38800"/>
            <a:ext cx="2305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 animBg="1"/>
      <p:bldP spid="2970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1">
            <a:extLst>
              <a:ext uri="{FF2B5EF4-FFF2-40B4-BE49-F238E27FC236}">
                <a16:creationId xmlns:a16="http://schemas.microsoft.com/office/drawing/2014/main" id="{35BFE126-AEAD-994C-A81F-B32AB5F7C592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7583256-3904-6344-A99C-E9449466B924}"/>
              </a:ext>
            </a:extLst>
          </p:cNvPr>
          <p:cNvSpPr>
            <a:spLocks/>
          </p:cNvSpPr>
          <p:nvPr/>
        </p:nvSpPr>
        <p:spPr bwMode="auto">
          <a:xfrm>
            <a:off x="1736725" y="317500"/>
            <a:ext cx="6340475" cy="704850"/>
          </a:xfrm>
          <a:prstGeom prst="rect">
            <a:avLst/>
          </a:prstGeom>
          <a:solidFill>
            <a:srgbClr val="CCFF66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lIns="0" tIns="0" rIns="0" bIns="0" anchor="ctr"/>
          <a:lstStyle>
            <a:lvl1pPr marL="1873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eaLnBrk="1" hangingPunct="1">
              <a:spcBef>
                <a:spcPts val="425"/>
              </a:spcBef>
              <a:buFont typeface="Wingdings" charset="2"/>
              <a:buNone/>
              <a:defRPr/>
            </a:pPr>
            <a:r>
              <a:rPr lang="en-US" altLang="en-US" sz="2500">
                <a:latin typeface="Lucida Bright" charset="0"/>
                <a:sym typeface="Helvetica" charset="0"/>
              </a:rPr>
              <a:t>Will all pixels have unique signatures? </a:t>
            </a:r>
          </a:p>
        </p:txBody>
      </p:sp>
      <p:sp>
        <p:nvSpPr>
          <p:cNvPr id="104451" name="Rectangle 4">
            <a:extLst>
              <a:ext uri="{FF2B5EF4-FFF2-40B4-BE49-F238E27FC236}">
                <a16:creationId xmlns:a16="http://schemas.microsoft.com/office/drawing/2014/main" id="{DC214871-AED6-E549-BE84-1AE21D6B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But …</a:t>
            </a:r>
          </a:p>
        </p:txBody>
      </p:sp>
      <p:grpSp>
        <p:nvGrpSpPr>
          <p:cNvPr id="104452" name="Group 7">
            <a:extLst>
              <a:ext uri="{FF2B5EF4-FFF2-40B4-BE49-F238E27FC236}">
                <a16:creationId xmlns:a16="http://schemas.microsoft.com/office/drawing/2014/main" id="{F1D4CE57-6154-6747-801B-093DBBDACF07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3125788"/>
            <a:ext cx="2106613" cy="2500312"/>
            <a:chOff x="0" y="0"/>
            <a:chExt cx="1888" cy="2240"/>
          </a:xfrm>
        </p:grpSpPr>
        <p:sp>
          <p:nvSpPr>
            <p:cNvPr id="104482" name="Oval 5">
              <a:extLst>
                <a:ext uri="{FF2B5EF4-FFF2-40B4-BE49-F238E27FC236}">
                  <a16:creationId xmlns:a16="http://schemas.microsoft.com/office/drawing/2014/main" id="{B81F49F7-D1C1-2043-8155-B10268EE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0"/>
              <a:ext cx="1064" cy="1064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104483" name="Oval 6">
              <a:extLst>
                <a:ext uri="{FF2B5EF4-FFF2-40B4-BE49-F238E27FC236}">
                  <a16:creationId xmlns:a16="http://schemas.microsoft.com/office/drawing/2014/main" id="{EA9A0ED8-7463-244F-BB24-3890C64E5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76"/>
              <a:ext cx="464" cy="464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</p:grpSp>
      <p:sp>
        <p:nvSpPr>
          <p:cNvPr id="104453" name="Rectangle 8">
            <a:extLst>
              <a:ext uri="{FF2B5EF4-FFF2-40B4-BE49-F238E27FC236}">
                <a16:creationId xmlns:a16="http://schemas.microsoft.com/office/drawing/2014/main" id="{8C33F072-A4BE-6543-A831-8A5DDCDB32FE}"/>
              </a:ext>
            </a:extLst>
          </p:cNvPr>
          <p:cNvSpPr>
            <a:spLocks/>
          </p:cNvSpPr>
          <p:nvPr/>
        </p:nvSpPr>
        <p:spPr bwMode="auto">
          <a:xfrm rot="10800000">
            <a:off x="1322388" y="1571625"/>
            <a:ext cx="5759450" cy="46974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04454" name="Rectangle 9">
            <a:extLst>
              <a:ext uri="{FF2B5EF4-FFF2-40B4-BE49-F238E27FC236}">
                <a16:creationId xmlns:a16="http://schemas.microsoft.com/office/drawing/2014/main" id="{B9018852-4EB3-8E40-9466-425CB14D384A}"/>
              </a:ext>
            </a:extLst>
          </p:cNvPr>
          <p:cNvSpPr>
            <a:spLocks/>
          </p:cNvSpPr>
          <p:nvPr/>
        </p:nvSpPr>
        <p:spPr bwMode="auto">
          <a:xfrm>
            <a:off x="3544888" y="6384925"/>
            <a:ext cx="12334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Century Gothic" panose="020B0502020202020204" pitchFamily="34" charset="0"/>
              </a:rPr>
              <a:t>Real (H(f))</a:t>
            </a:r>
          </a:p>
        </p:txBody>
      </p:sp>
      <p:sp>
        <p:nvSpPr>
          <p:cNvPr id="104455" name="Rectangle 10">
            <a:extLst>
              <a:ext uri="{FF2B5EF4-FFF2-40B4-BE49-F238E27FC236}">
                <a16:creationId xmlns:a16="http://schemas.microsoft.com/office/drawing/2014/main" id="{918CA4E7-8832-254E-B8B2-718321A98321}"/>
              </a:ext>
            </a:extLst>
          </p:cNvPr>
          <p:cNvSpPr>
            <a:spLocks/>
          </p:cNvSpPr>
          <p:nvPr/>
        </p:nvSpPr>
        <p:spPr bwMode="auto">
          <a:xfrm rot="-5400000">
            <a:off x="457201" y="3806825"/>
            <a:ext cx="1028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Century Gothic" panose="020B0502020202020204" pitchFamily="34" charset="0"/>
              </a:rPr>
              <a:t>Im (H(f))</a:t>
            </a:r>
          </a:p>
        </p:txBody>
      </p:sp>
      <p:grpSp>
        <p:nvGrpSpPr>
          <p:cNvPr id="104456" name="Group 13">
            <a:extLst>
              <a:ext uri="{FF2B5EF4-FFF2-40B4-BE49-F238E27FC236}">
                <a16:creationId xmlns:a16="http://schemas.microsoft.com/office/drawing/2014/main" id="{77BFE13D-8C34-1944-AD7E-51E02E7EA79D}"/>
              </a:ext>
            </a:extLst>
          </p:cNvPr>
          <p:cNvGrpSpPr>
            <a:grpSpLocks/>
          </p:cNvGrpSpPr>
          <p:nvPr/>
        </p:nvGrpSpPr>
        <p:grpSpPr bwMode="auto">
          <a:xfrm>
            <a:off x="4205288" y="2687638"/>
            <a:ext cx="2187575" cy="3125787"/>
            <a:chOff x="0" y="0"/>
            <a:chExt cx="1960" cy="2800"/>
          </a:xfrm>
        </p:grpSpPr>
        <p:sp>
          <p:nvSpPr>
            <p:cNvPr id="104480" name="Oval 11">
              <a:extLst>
                <a:ext uri="{FF2B5EF4-FFF2-40B4-BE49-F238E27FC236}">
                  <a16:creationId xmlns:a16="http://schemas.microsoft.com/office/drawing/2014/main" id="{4698B07C-833F-6244-8C89-D06C80B86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52" cy="1352"/>
            </a:xfrm>
            <a:prstGeom prst="ellipse">
              <a:avLst/>
            </a:prstGeom>
            <a:noFill/>
            <a:ln w="7620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104481" name="Oval 12">
              <a:extLst>
                <a:ext uri="{FF2B5EF4-FFF2-40B4-BE49-F238E27FC236}">
                  <a16:creationId xmlns:a16="http://schemas.microsoft.com/office/drawing/2014/main" id="{DAF75ACD-8C3A-CE44-AAD0-46DC7BAD9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6" y="2096"/>
              <a:ext cx="704" cy="704"/>
            </a:xfrm>
            <a:prstGeom prst="ellipse">
              <a:avLst/>
            </a:prstGeom>
            <a:noFill/>
            <a:ln w="7620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7F80B70F-8BE7-D643-8BD4-2FD4302B3EEF}"/>
              </a:ext>
            </a:extLst>
          </p:cNvPr>
          <p:cNvGrpSpPr>
            <a:grpSpLocks/>
          </p:cNvGrpSpPr>
          <p:nvPr/>
        </p:nvGrpSpPr>
        <p:grpSpPr bwMode="auto">
          <a:xfrm>
            <a:off x="1682750" y="1763713"/>
            <a:ext cx="2068513" cy="2005012"/>
            <a:chOff x="1682750" y="1763713"/>
            <a:chExt cx="2068513" cy="2005012"/>
          </a:xfrm>
        </p:grpSpPr>
        <p:sp>
          <p:nvSpPr>
            <p:cNvPr id="104478" name="Rectangle 14">
              <a:extLst>
                <a:ext uri="{FF2B5EF4-FFF2-40B4-BE49-F238E27FC236}">
                  <a16:creationId xmlns:a16="http://schemas.microsoft.com/office/drawing/2014/main" id="{D464BAD5-1350-6D42-9C0F-16668EA74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1763713"/>
              <a:ext cx="1077218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ym typeface="Helvetica" pitchFamily="2" charset="0"/>
                </a:rPr>
                <a:t>Self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ym typeface="Helvetica" pitchFamily="2" charset="0"/>
                </a:rPr>
                <a:t>Similarity</a:t>
              </a:r>
            </a:p>
          </p:txBody>
        </p:sp>
        <p:sp>
          <p:nvSpPr>
            <p:cNvPr id="104479" name="Line 15">
              <a:extLst>
                <a:ext uri="{FF2B5EF4-FFF2-40B4-BE49-F238E27FC236}">
                  <a16:creationId xmlns:a16="http://schemas.microsoft.com/office/drawing/2014/main" id="{FB0AAF22-ADF2-F749-B44A-B632BBB7F2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524125" y="2511425"/>
              <a:ext cx="1227138" cy="125730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26DD7CA7-A1FB-1140-89CA-20241EEF501D}"/>
              </a:ext>
            </a:extLst>
          </p:cNvPr>
          <p:cNvGrpSpPr>
            <a:grpSpLocks/>
          </p:cNvGrpSpPr>
          <p:nvPr/>
        </p:nvGrpSpPr>
        <p:grpSpPr bwMode="auto">
          <a:xfrm>
            <a:off x="4386263" y="1712913"/>
            <a:ext cx="1119187" cy="1860550"/>
            <a:chOff x="4386263" y="1712913"/>
            <a:chExt cx="1118493" cy="1860550"/>
          </a:xfrm>
        </p:grpSpPr>
        <p:sp>
          <p:nvSpPr>
            <p:cNvPr id="104476" name="Rectangle 16">
              <a:extLst>
                <a:ext uri="{FF2B5EF4-FFF2-40B4-BE49-F238E27FC236}">
                  <a16:creationId xmlns:a16="http://schemas.microsoft.com/office/drawing/2014/main" id="{EDC7C744-0219-B548-89BA-DF3BCB52C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1712913"/>
              <a:ext cx="1077218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ym typeface="Helvetica" pitchFamily="2" charset="0"/>
                </a:rPr>
                <a:t>Cross</a:t>
              </a:r>
            </a:p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>
                  <a:sym typeface="Helvetica" pitchFamily="2" charset="0"/>
                </a:rPr>
                <a:t>Similarity</a:t>
              </a:r>
            </a:p>
          </p:txBody>
        </p:sp>
        <p:sp>
          <p:nvSpPr>
            <p:cNvPr id="104477" name="Line 17">
              <a:extLst>
                <a:ext uri="{FF2B5EF4-FFF2-40B4-BE49-F238E27FC236}">
                  <a16:creationId xmlns:a16="http://schemas.microsoft.com/office/drawing/2014/main" id="{F0AD558D-8DE3-D246-A747-93ECFF94F7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4386263" y="2500313"/>
              <a:ext cx="434975" cy="107315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6" name="Group 33">
            <a:extLst>
              <a:ext uri="{FF2B5EF4-FFF2-40B4-BE49-F238E27FC236}">
                <a16:creationId xmlns:a16="http://schemas.microsoft.com/office/drawing/2014/main" id="{669A0FC0-2A7F-6242-9C95-79839EA3D54A}"/>
              </a:ext>
            </a:extLst>
          </p:cNvPr>
          <p:cNvGrpSpPr>
            <a:grpSpLocks/>
          </p:cNvGrpSpPr>
          <p:nvPr/>
        </p:nvGrpSpPr>
        <p:grpSpPr bwMode="auto">
          <a:xfrm>
            <a:off x="1411288" y="1563688"/>
            <a:ext cx="4838700" cy="1027112"/>
            <a:chOff x="1411288" y="1563687"/>
            <a:chExt cx="4838700" cy="1027113"/>
          </a:xfrm>
        </p:grpSpPr>
        <p:sp>
          <p:nvSpPr>
            <p:cNvPr id="104474" name="AutoShape 2">
              <a:extLst>
                <a:ext uri="{FF2B5EF4-FFF2-40B4-BE49-F238E27FC236}">
                  <a16:creationId xmlns:a16="http://schemas.microsoft.com/office/drawing/2014/main" id="{C643232B-AF8C-DB46-8336-59400DF17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88" y="1563687"/>
              <a:ext cx="4838700" cy="1027113"/>
            </a:xfrm>
            <a:prstGeom prst="roundRect">
              <a:avLst>
                <a:gd name="adj" fmla="val 13042"/>
              </a:avLst>
            </a:prstGeom>
            <a:solidFill>
              <a:srgbClr val="CCCCCC">
                <a:alpha val="43921"/>
              </a:srgbClr>
            </a:solidFill>
            <a:ln w="28575">
              <a:solidFill>
                <a:srgbClr val="006600">
                  <a:alpha val="43921"/>
                </a:srgbClr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104475" name="Rectangle 18">
              <a:extLst>
                <a:ext uri="{FF2B5EF4-FFF2-40B4-BE49-F238E27FC236}">
                  <a16:creationId xmlns:a16="http://schemas.microsoft.com/office/drawing/2014/main" id="{AE6BAE7B-2669-1544-8B65-FA32F17F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913" y="1633538"/>
              <a:ext cx="436240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5100">
                  <a:latin typeface="Optima ExtraBlack" panose="02000503060000020004" pitchFamily="2" charset="0"/>
                  <a:sym typeface="Optima ExtraBlack" panose="02000503060000020004" pitchFamily="2" charset="0"/>
                </a:rPr>
                <a:t>&gt;</a:t>
              </a:r>
            </a:p>
          </p:txBody>
        </p:sp>
      </p:grpSp>
      <p:sp>
        <p:nvSpPr>
          <p:cNvPr id="24" name="Oval 19">
            <a:extLst>
              <a:ext uri="{FF2B5EF4-FFF2-40B4-BE49-F238E27FC236}">
                <a16:creationId xmlns:a16="http://schemas.microsoft.com/office/drawing/2014/main" id="{06CB0E10-FFEB-AC45-9821-E0BE25FEB4EF}"/>
              </a:ext>
            </a:extLst>
          </p:cNvPr>
          <p:cNvSpPr>
            <a:spLocks/>
          </p:cNvSpPr>
          <p:nvPr/>
        </p:nvSpPr>
        <p:spPr bwMode="auto">
          <a:xfrm>
            <a:off x="3411538" y="3089275"/>
            <a:ext cx="1187450" cy="1187450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33C5462E-951E-8140-9050-BA764AAE085C}"/>
              </a:ext>
            </a:extLst>
          </p:cNvPr>
          <p:cNvSpPr>
            <a:spLocks/>
          </p:cNvSpPr>
          <p:nvPr/>
        </p:nvSpPr>
        <p:spPr bwMode="auto">
          <a:xfrm>
            <a:off x="3505200" y="1670050"/>
            <a:ext cx="21605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500" b="1">
                <a:latin typeface="Helvetica Neue" panose="02000503000000020004" pitchFamily="2" charset="0"/>
                <a:sym typeface="Helvetica Neue" panose="02000503000000020004" pitchFamily="2" charset="0"/>
              </a:rPr>
              <a:t>Max </a:t>
            </a:r>
            <a:r>
              <a:rPr lang="en-US" altLang="en-US" sz="4000">
                <a:latin typeface="Helvetica Neue" panose="02000503000000020004" pitchFamily="2" charset="0"/>
                <a:sym typeface="Helvetica Neue" panose="02000503000000020004" pitchFamily="2" charset="0"/>
              </a:rPr>
              <a:t>(</a:t>
            </a:r>
            <a:r>
              <a:rPr lang="en-US" altLang="en-US" sz="2500" b="1">
                <a:latin typeface="Helvetica Neue" panose="02000503000000020004" pitchFamily="2" charset="0"/>
                <a:sym typeface="Helvetica Neue" panose="02000503000000020004" pitchFamily="2" charset="0"/>
              </a:rPr>
              <a:t>             </a:t>
            </a:r>
            <a:r>
              <a:rPr lang="en-US" altLang="en-US" sz="4000">
                <a:latin typeface="Helvetica Neue" panose="02000503000000020004" pitchFamily="2" charset="0"/>
                <a:sym typeface="Helvetica Neue" panose="02000503000000020004" pitchFamily="2" charset="0"/>
              </a:rPr>
              <a:t>)</a:t>
            </a:r>
            <a:endParaRPr lang="en-US" altLang="en-US" sz="2500">
              <a:latin typeface="Helvetica Neue" panose="02000503000000020004" pitchFamily="2" charset="0"/>
              <a:sym typeface="Helvetica Neue" panose="02000503000000020004" pitchFamily="2" charset="0"/>
            </a:endParaRPr>
          </a:p>
        </p:txBody>
      </p:sp>
      <p:sp>
        <p:nvSpPr>
          <p:cNvPr id="104462" name="Oval 23">
            <a:extLst>
              <a:ext uri="{FF2B5EF4-FFF2-40B4-BE49-F238E27FC236}">
                <a16:creationId xmlns:a16="http://schemas.microsoft.com/office/drawing/2014/main" id="{F8F51B36-2D8A-364E-A69B-8AD60959E21A}"/>
              </a:ext>
            </a:extLst>
          </p:cNvPr>
          <p:cNvSpPr>
            <a:spLocks/>
          </p:cNvSpPr>
          <p:nvPr/>
        </p:nvSpPr>
        <p:spPr bwMode="auto">
          <a:xfrm>
            <a:off x="7286625" y="3170238"/>
            <a:ext cx="312738" cy="312737"/>
          </a:xfrm>
          <a:prstGeom prst="ellipse">
            <a:avLst/>
          </a:prstGeom>
          <a:noFill/>
          <a:ln w="762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04463" name="Rectangle 24">
            <a:extLst>
              <a:ext uri="{FF2B5EF4-FFF2-40B4-BE49-F238E27FC236}">
                <a16:creationId xmlns:a16="http://schemas.microsoft.com/office/drawing/2014/main" id="{DDA76D8A-2735-4D4C-BEF9-AD2D924C3818}"/>
              </a:ext>
            </a:extLst>
          </p:cNvPr>
          <p:cNvSpPr>
            <a:spLocks/>
          </p:cNvSpPr>
          <p:nvPr/>
        </p:nvSpPr>
        <p:spPr bwMode="auto">
          <a:xfrm>
            <a:off x="7696200" y="3175000"/>
            <a:ext cx="8191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Helvetica" pitchFamily="2" charset="0"/>
              </a:rPr>
              <a:t>Pixel 1</a:t>
            </a:r>
          </a:p>
        </p:txBody>
      </p:sp>
      <p:grpSp>
        <p:nvGrpSpPr>
          <p:cNvPr id="104464" name="Group 35">
            <a:extLst>
              <a:ext uri="{FF2B5EF4-FFF2-40B4-BE49-F238E27FC236}">
                <a16:creationId xmlns:a16="http://schemas.microsoft.com/office/drawing/2014/main" id="{9660BBC4-760A-954D-A55A-00CAB06FFF25}"/>
              </a:ext>
            </a:extLst>
          </p:cNvPr>
          <p:cNvGrpSpPr>
            <a:grpSpLocks/>
          </p:cNvGrpSpPr>
          <p:nvPr/>
        </p:nvGrpSpPr>
        <p:grpSpPr bwMode="auto">
          <a:xfrm>
            <a:off x="7286625" y="3657600"/>
            <a:ext cx="1227138" cy="339725"/>
            <a:chOff x="7286625" y="3657600"/>
            <a:chExt cx="1226704" cy="339527"/>
          </a:xfrm>
        </p:grpSpPr>
        <p:sp>
          <p:nvSpPr>
            <p:cNvPr id="104472" name="Rectangle 25">
              <a:extLst>
                <a:ext uri="{FF2B5EF4-FFF2-40B4-BE49-F238E27FC236}">
                  <a16:creationId xmlns:a16="http://schemas.microsoft.com/office/drawing/2014/main" id="{20B67482-DE3C-F442-8079-4D252CF0E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420" y="3657600"/>
              <a:ext cx="818909" cy="30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>
                  <a:sym typeface="Helvetica" pitchFamily="2" charset="0"/>
                </a:rPr>
                <a:t>Pixel 2</a:t>
              </a:r>
            </a:p>
          </p:txBody>
        </p:sp>
        <p:sp>
          <p:nvSpPr>
            <p:cNvPr id="104473" name="Oval 26">
              <a:extLst>
                <a:ext uri="{FF2B5EF4-FFF2-40B4-BE49-F238E27FC236}">
                  <a16:creationId xmlns:a16="http://schemas.microsoft.com/office/drawing/2014/main" id="{22FD9798-494C-FB4E-B3DF-1276D0E8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6625" y="3684390"/>
              <a:ext cx="312738" cy="312737"/>
            </a:xfrm>
            <a:prstGeom prst="ellipse">
              <a:avLst/>
            </a:prstGeom>
            <a:noFill/>
            <a:ln w="7620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</p:grpSp>
      <p:grpSp>
        <p:nvGrpSpPr>
          <p:cNvPr id="8" name="Group 39">
            <a:extLst>
              <a:ext uri="{FF2B5EF4-FFF2-40B4-BE49-F238E27FC236}">
                <a16:creationId xmlns:a16="http://schemas.microsoft.com/office/drawing/2014/main" id="{FA723D88-B64E-2A44-9D77-C148610B61D0}"/>
              </a:ext>
            </a:extLst>
          </p:cNvPr>
          <p:cNvGrpSpPr>
            <a:grpSpLocks/>
          </p:cNvGrpSpPr>
          <p:nvPr/>
        </p:nvGrpSpPr>
        <p:grpSpPr bwMode="auto">
          <a:xfrm>
            <a:off x="3813175" y="4027488"/>
            <a:ext cx="4713288" cy="1982787"/>
            <a:chOff x="3813175" y="4027488"/>
            <a:chExt cx="4712854" cy="1982787"/>
          </a:xfrm>
        </p:grpSpPr>
        <p:sp>
          <p:nvSpPr>
            <p:cNvPr id="104466" name="Oval 1">
              <a:extLst>
                <a:ext uri="{FF2B5EF4-FFF2-40B4-BE49-F238E27FC236}">
                  <a16:creationId xmlns:a16="http://schemas.microsoft.com/office/drawing/2014/main" id="{617D769B-6CBA-1E49-9232-D94D46EA9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5" y="4027488"/>
              <a:ext cx="857250" cy="857250"/>
            </a:xfrm>
            <a:prstGeom prst="ellipse">
              <a:avLst/>
            </a:prstGeom>
            <a:noFill/>
            <a:ln w="76200">
              <a:solidFill>
                <a:srgbClr val="33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104467" name="Oval 21">
              <a:extLst>
                <a:ext uri="{FF2B5EF4-FFF2-40B4-BE49-F238E27FC236}">
                  <a16:creationId xmlns:a16="http://schemas.microsoft.com/office/drawing/2014/main" id="{F1FA9594-64D0-6E4F-BA49-0576744C6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1513" y="4429125"/>
              <a:ext cx="374650" cy="374650"/>
            </a:xfrm>
            <a:prstGeom prst="ellipse">
              <a:avLst/>
            </a:prstGeom>
            <a:noFill/>
            <a:ln w="76200">
              <a:solidFill>
                <a:srgbClr val="33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104468" name="Oval 22">
              <a:extLst>
                <a:ext uri="{FF2B5EF4-FFF2-40B4-BE49-F238E27FC236}">
                  <a16:creationId xmlns:a16="http://schemas.microsoft.com/office/drawing/2014/main" id="{D306C77C-CA29-5149-B4E4-553975A48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5795963"/>
              <a:ext cx="215900" cy="214312"/>
            </a:xfrm>
            <a:prstGeom prst="ellipse">
              <a:avLst/>
            </a:prstGeom>
            <a:noFill/>
            <a:ln w="76200">
              <a:solidFill>
                <a:srgbClr val="33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grpSp>
          <p:nvGrpSpPr>
            <p:cNvPr id="104469" name="Group 36">
              <a:extLst>
                <a:ext uri="{FF2B5EF4-FFF2-40B4-BE49-F238E27FC236}">
                  <a16:creationId xmlns:a16="http://schemas.microsoft.com/office/drawing/2014/main" id="{BF802547-A7DD-8B43-81F9-844191318F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99325" y="4156273"/>
              <a:ext cx="1226704" cy="339527"/>
              <a:chOff x="7286625" y="3657600"/>
              <a:chExt cx="1226704" cy="339527"/>
            </a:xfrm>
          </p:grpSpPr>
          <p:sp>
            <p:nvSpPr>
              <p:cNvPr id="104470" name="Rectangle 25">
                <a:extLst>
                  <a:ext uri="{FF2B5EF4-FFF2-40B4-BE49-F238E27FC236}">
                    <a16:creationId xmlns:a16="http://schemas.microsoft.com/office/drawing/2014/main" id="{EFCC8DA9-96D1-A946-A71F-A1AA1F6F1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4420" y="3657600"/>
                <a:ext cx="81890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None/>
                </a:pPr>
                <a:r>
                  <a:rPr lang="en-US" altLang="en-US" sz="2000">
                    <a:sym typeface="Helvetica" pitchFamily="2" charset="0"/>
                  </a:rPr>
                  <a:t>Pixel 3</a:t>
                </a:r>
              </a:p>
            </p:txBody>
          </p:sp>
          <p:sp>
            <p:nvSpPr>
              <p:cNvPr id="104471" name="Oval 26">
                <a:extLst>
                  <a:ext uri="{FF2B5EF4-FFF2-40B4-BE49-F238E27FC236}">
                    <a16:creationId xmlns:a16="http://schemas.microsoft.com/office/drawing/2014/main" id="{5497A4B3-7714-4546-93FE-C2762E4D2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6625" y="3684390"/>
                <a:ext cx="312738" cy="312737"/>
              </a:xfrm>
              <a:prstGeom prst="ellipse">
                <a:avLst/>
              </a:prstGeom>
              <a:noFill/>
              <a:ln w="76200">
                <a:solidFill>
                  <a:srgbClr val="008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eaLnBrk="1" hangingPunct="1">
                  <a:buClrTx/>
                  <a:buSzTx/>
                  <a:buFont typeface="Wingdings" pitchFamily="2" charset="2"/>
                  <a:buChar char="•"/>
                </a:pPr>
                <a:endParaRPr lang="en-US" altLang="en-US" sz="1800">
                  <a:latin typeface="Comic Sans MS" panose="030F0902030302020204" pitchFamily="66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1">
            <a:extLst>
              <a:ext uri="{FF2B5EF4-FFF2-40B4-BE49-F238E27FC236}">
                <a16:creationId xmlns:a16="http://schemas.microsoft.com/office/drawing/2014/main" id="{2CBE5C00-F7B4-A147-90D9-9E1396E38C9E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FF3698B-7489-564F-847D-FE6652E1FDB1}"/>
              </a:ext>
            </a:extLst>
          </p:cNvPr>
          <p:cNvSpPr>
            <a:spLocks/>
          </p:cNvSpPr>
          <p:nvPr/>
        </p:nvSpPr>
        <p:spPr bwMode="auto">
          <a:xfrm>
            <a:off x="533400" y="533400"/>
            <a:ext cx="4800600" cy="444500"/>
          </a:xfrm>
          <a:prstGeom prst="rect">
            <a:avLst/>
          </a:prstGeom>
          <a:solidFill>
            <a:srgbClr val="F2F2F2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lIns="0" tIns="0" rIns="0" bIns="0" anchor="ctr"/>
          <a:lstStyle>
            <a:lvl1pPr marL="1873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eaLnBrk="1" hangingPunct="1">
              <a:spcBef>
                <a:spcPts val="425"/>
              </a:spcBef>
              <a:buFont typeface="Wingdings" charset="2"/>
              <a:buNone/>
              <a:defRPr/>
            </a:pPr>
            <a:r>
              <a:rPr lang="en-US" altLang="en-US" sz="2500">
                <a:latin typeface="Lucida Bright" charset="0"/>
                <a:sym typeface="Helvetica" charset="0"/>
              </a:rPr>
              <a:t>For correct pixel localization:</a:t>
            </a:r>
          </a:p>
        </p:txBody>
      </p:sp>
      <p:sp>
        <p:nvSpPr>
          <p:cNvPr id="106499" name="Rectangle 4">
            <a:extLst>
              <a:ext uri="{FF2B5EF4-FFF2-40B4-BE49-F238E27FC236}">
                <a16:creationId xmlns:a16="http://schemas.microsoft.com/office/drawing/2014/main" id="{A2B6F71F-A62F-EC41-82AE-E147B7358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106500" name="Rectangle 14">
            <a:extLst>
              <a:ext uri="{FF2B5EF4-FFF2-40B4-BE49-F238E27FC236}">
                <a16:creationId xmlns:a16="http://schemas.microsoft.com/office/drawing/2014/main" id="{B4DC9C99-CCFE-F446-836D-CC14D9D60441}"/>
              </a:ext>
            </a:extLst>
          </p:cNvPr>
          <p:cNvSpPr>
            <a:spLocks/>
          </p:cNvSpPr>
          <p:nvPr/>
        </p:nvSpPr>
        <p:spPr bwMode="auto">
          <a:xfrm>
            <a:off x="1682750" y="1763713"/>
            <a:ext cx="10779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800">
                <a:sym typeface="Helvetica" pitchFamily="2" charset="0"/>
              </a:rPr>
              <a:t>Self</a:t>
            </a:r>
          </a:p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800">
                <a:sym typeface="Helvetica" pitchFamily="2" charset="0"/>
              </a:rPr>
              <a:t>Similarity</a:t>
            </a:r>
          </a:p>
        </p:txBody>
      </p:sp>
      <p:sp>
        <p:nvSpPr>
          <p:cNvPr id="106501" name="Rectangle 16">
            <a:extLst>
              <a:ext uri="{FF2B5EF4-FFF2-40B4-BE49-F238E27FC236}">
                <a16:creationId xmlns:a16="http://schemas.microsoft.com/office/drawing/2014/main" id="{55E2C03B-58BB-2D4C-AD75-B003D3A769B7}"/>
              </a:ext>
            </a:extLst>
          </p:cNvPr>
          <p:cNvSpPr>
            <a:spLocks/>
          </p:cNvSpPr>
          <p:nvPr/>
        </p:nvSpPr>
        <p:spPr bwMode="auto">
          <a:xfrm>
            <a:off x="4427538" y="1712913"/>
            <a:ext cx="10779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800">
                <a:sym typeface="Helvetica" pitchFamily="2" charset="0"/>
              </a:rPr>
              <a:t>Cross</a:t>
            </a:r>
          </a:p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800">
                <a:sym typeface="Helvetica" pitchFamily="2" charset="0"/>
              </a:rPr>
              <a:t>Similarity</a:t>
            </a: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91C82777-1A89-2D40-AB05-3031BFD27AC8}"/>
              </a:ext>
            </a:extLst>
          </p:cNvPr>
          <p:cNvSpPr>
            <a:spLocks/>
          </p:cNvSpPr>
          <p:nvPr/>
        </p:nvSpPr>
        <p:spPr bwMode="auto">
          <a:xfrm>
            <a:off x="2982913" y="1633538"/>
            <a:ext cx="4365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5100">
                <a:latin typeface="Optima ExtraBlack" panose="02000503060000020004" pitchFamily="2" charset="0"/>
                <a:sym typeface="Optima ExtraBlack" panose="02000503060000020004" pitchFamily="2" charset="0"/>
              </a:rPr>
              <a:t>&gt;</a:t>
            </a:r>
          </a:p>
        </p:txBody>
      </p:sp>
      <p:sp>
        <p:nvSpPr>
          <p:cNvPr id="106503" name="Rectangle 20">
            <a:extLst>
              <a:ext uri="{FF2B5EF4-FFF2-40B4-BE49-F238E27FC236}">
                <a16:creationId xmlns:a16="http://schemas.microsoft.com/office/drawing/2014/main" id="{4F0AC488-3B80-4A41-8992-9F3FB601B31B}"/>
              </a:ext>
            </a:extLst>
          </p:cNvPr>
          <p:cNvSpPr>
            <a:spLocks/>
          </p:cNvSpPr>
          <p:nvPr/>
        </p:nvSpPr>
        <p:spPr bwMode="auto">
          <a:xfrm>
            <a:off x="3505200" y="1670050"/>
            <a:ext cx="21605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500" b="1">
                <a:latin typeface="Helvetica Neue" panose="02000503000000020004" pitchFamily="2" charset="0"/>
                <a:sym typeface="Helvetica Neue" panose="02000503000000020004" pitchFamily="2" charset="0"/>
              </a:rPr>
              <a:t>Max </a:t>
            </a:r>
            <a:r>
              <a:rPr lang="en-US" altLang="en-US" sz="4000">
                <a:latin typeface="Helvetica Neue" panose="02000503000000020004" pitchFamily="2" charset="0"/>
                <a:sym typeface="Helvetica Neue" panose="02000503000000020004" pitchFamily="2" charset="0"/>
              </a:rPr>
              <a:t>(</a:t>
            </a:r>
            <a:r>
              <a:rPr lang="en-US" altLang="en-US" sz="2500" b="1">
                <a:latin typeface="Helvetica Neue" panose="02000503000000020004" pitchFamily="2" charset="0"/>
                <a:sym typeface="Helvetica Neue" panose="02000503000000020004" pitchFamily="2" charset="0"/>
              </a:rPr>
              <a:t>             </a:t>
            </a:r>
            <a:r>
              <a:rPr lang="en-US" altLang="en-US" sz="4000">
                <a:latin typeface="Helvetica Neue" panose="02000503000000020004" pitchFamily="2" charset="0"/>
                <a:sym typeface="Helvetica Neue" panose="02000503000000020004" pitchFamily="2" charset="0"/>
              </a:rPr>
              <a:t>)</a:t>
            </a:r>
            <a:endParaRPr lang="en-US" altLang="en-US" sz="2500">
              <a:latin typeface="Helvetica Neue" panose="02000503000000020004" pitchFamily="2" charset="0"/>
              <a:sym typeface="Helvetica Neue" panose="02000503000000020004" pitchFamily="2" charset="0"/>
            </a:endParaRPr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CAD6C49C-694A-7242-9BF4-BE100B554D4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676400"/>
            <a:ext cx="4168775" cy="622300"/>
            <a:chOff x="2819400" y="1714500"/>
            <a:chExt cx="4168935" cy="622876"/>
          </a:xfrm>
        </p:grpSpPr>
        <p:sp>
          <p:nvSpPr>
            <p:cNvPr id="106518" name="TextBox 36">
              <a:extLst>
                <a:ext uri="{FF2B5EF4-FFF2-40B4-BE49-F238E27FC236}">
                  <a16:creationId xmlns:a16="http://schemas.microsoft.com/office/drawing/2014/main" id="{A11AEFCA-7D5E-874D-9A68-1C82016CA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1714500"/>
              <a:ext cx="43513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200">
                  <a:latin typeface="Comic Sans MS" panose="030F0902030302020204" pitchFamily="66" charset="0"/>
                </a:rPr>
                <a:t>0</a:t>
              </a:r>
            </a:p>
          </p:txBody>
        </p:sp>
        <p:sp>
          <p:nvSpPr>
            <p:cNvPr id="106519" name="TextBox 39">
              <a:extLst>
                <a:ext uri="{FF2B5EF4-FFF2-40B4-BE49-F238E27FC236}">
                  <a16:creationId xmlns:a16="http://schemas.microsoft.com/office/drawing/2014/main" id="{4AD2D7BF-70EF-B641-93FB-CA04E3374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1752600"/>
              <a:ext cx="35558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3200">
                  <a:latin typeface="Comic Sans MS" panose="030F0902030302020204" pitchFamily="66" charset="0"/>
                </a:rPr>
                <a:t>-</a:t>
              </a:r>
            </a:p>
          </p:txBody>
        </p:sp>
      </p:grpSp>
      <p:grpSp>
        <p:nvGrpSpPr>
          <p:cNvPr id="3" name="Group 52">
            <a:extLst>
              <a:ext uri="{FF2B5EF4-FFF2-40B4-BE49-F238E27FC236}">
                <a16:creationId xmlns:a16="http://schemas.microsoft.com/office/drawing/2014/main" id="{5763F6D9-5713-3B49-9F25-9EA8781EE8F6}"/>
              </a:ext>
            </a:extLst>
          </p:cNvPr>
          <p:cNvGrpSpPr>
            <a:grpSpLocks/>
          </p:cNvGrpSpPr>
          <p:nvPr/>
        </p:nvGrpSpPr>
        <p:grpSpPr bwMode="auto">
          <a:xfrm>
            <a:off x="88900" y="2879725"/>
            <a:ext cx="3076575" cy="2708275"/>
            <a:chOff x="88900" y="2879725"/>
            <a:chExt cx="3076575" cy="2708275"/>
          </a:xfrm>
        </p:grpSpPr>
        <p:pic>
          <p:nvPicPr>
            <p:cNvPr id="106515" name="Picture 13">
              <a:extLst>
                <a:ext uri="{FF2B5EF4-FFF2-40B4-BE49-F238E27FC236}">
                  <a16:creationId xmlns:a16="http://schemas.microsoft.com/office/drawing/2014/main" id="{F7E951F7-0D6E-9346-BF55-FB49E8FBB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0" y="2879725"/>
              <a:ext cx="3076575" cy="264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16" name="Rectangle 14">
              <a:extLst>
                <a:ext uri="{FF2B5EF4-FFF2-40B4-BE49-F238E27FC236}">
                  <a16:creationId xmlns:a16="http://schemas.microsoft.com/office/drawing/2014/main" id="{4E1D8665-ACED-4E48-94E9-3B4A6EA28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" y="5207000"/>
              <a:ext cx="2819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008000"/>
                  </a:solidFill>
                </a:rPr>
                <a:t>Self – Max (Cross)</a:t>
              </a:r>
            </a:p>
          </p:txBody>
        </p:sp>
        <p:sp>
          <p:nvSpPr>
            <p:cNvPr id="106517" name="Rectangle 14">
              <a:extLst>
                <a:ext uri="{FF2B5EF4-FFF2-40B4-BE49-F238E27FC236}">
                  <a16:creationId xmlns:a16="http://schemas.microsoft.com/office/drawing/2014/main" id="{7369A28B-165A-C04B-BC6F-E5E806984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0" y="2971800"/>
              <a:ext cx="762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FF0000"/>
                  </a:solidFill>
                </a:rPr>
                <a:t>AP1</a:t>
              </a:r>
            </a:p>
          </p:txBody>
        </p:sp>
      </p:grpSp>
      <p:grpSp>
        <p:nvGrpSpPr>
          <p:cNvPr id="4" name="Group 51">
            <a:extLst>
              <a:ext uri="{FF2B5EF4-FFF2-40B4-BE49-F238E27FC236}">
                <a16:creationId xmlns:a16="http://schemas.microsoft.com/office/drawing/2014/main" id="{B1A45588-661A-3543-8C18-FEED7600DCDF}"/>
              </a:ext>
            </a:extLst>
          </p:cNvPr>
          <p:cNvGrpSpPr>
            <a:grpSpLocks/>
          </p:cNvGrpSpPr>
          <p:nvPr/>
        </p:nvGrpSpPr>
        <p:grpSpPr bwMode="auto">
          <a:xfrm>
            <a:off x="3009900" y="2914650"/>
            <a:ext cx="3086100" cy="2673350"/>
            <a:chOff x="3009900" y="2914650"/>
            <a:chExt cx="3086100" cy="2673350"/>
          </a:xfrm>
        </p:grpSpPr>
        <p:pic>
          <p:nvPicPr>
            <p:cNvPr id="106512" name="Picture 12">
              <a:extLst>
                <a:ext uri="{FF2B5EF4-FFF2-40B4-BE49-F238E27FC236}">
                  <a16:creationId xmlns:a16="http://schemas.microsoft.com/office/drawing/2014/main" id="{3F1E4A13-378C-0F49-9110-82BF1D40A6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9900" y="2914650"/>
              <a:ext cx="3079750" cy="2586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13" name="Rectangle 14">
              <a:extLst>
                <a:ext uri="{FF2B5EF4-FFF2-40B4-BE49-F238E27FC236}">
                  <a16:creationId xmlns:a16="http://schemas.microsoft.com/office/drawing/2014/main" id="{EE3A0773-72E6-B34C-A49F-DC6B298B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600" y="5207000"/>
              <a:ext cx="2819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008000"/>
                  </a:solidFill>
                </a:rPr>
                <a:t>Self – Max (Cross)</a:t>
              </a:r>
            </a:p>
          </p:txBody>
        </p:sp>
        <p:sp>
          <p:nvSpPr>
            <p:cNvPr id="106514" name="Rectangle 14">
              <a:extLst>
                <a:ext uri="{FF2B5EF4-FFF2-40B4-BE49-F238E27FC236}">
                  <a16:creationId xmlns:a16="http://schemas.microsoft.com/office/drawing/2014/main" id="{5C3D8872-BC18-244C-ACF1-12CDA23D7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2971800"/>
              <a:ext cx="762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FF0000"/>
                  </a:solidFill>
                </a:rPr>
                <a:t>AP2</a:t>
              </a:r>
            </a:p>
          </p:txBody>
        </p:sp>
      </p:grpSp>
      <p:grpSp>
        <p:nvGrpSpPr>
          <p:cNvPr id="5" name="Group 50">
            <a:extLst>
              <a:ext uri="{FF2B5EF4-FFF2-40B4-BE49-F238E27FC236}">
                <a16:creationId xmlns:a16="http://schemas.microsoft.com/office/drawing/2014/main" id="{8E97220A-26D6-C148-8A49-BA648B07FC82}"/>
              </a:ext>
            </a:extLst>
          </p:cNvPr>
          <p:cNvGrpSpPr>
            <a:grpSpLocks/>
          </p:cNvGrpSpPr>
          <p:nvPr/>
        </p:nvGrpSpPr>
        <p:grpSpPr bwMode="auto">
          <a:xfrm>
            <a:off x="5872163" y="2905125"/>
            <a:ext cx="3119437" cy="2682875"/>
            <a:chOff x="5872163" y="2905125"/>
            <a:chExt cx="3119437" cy="2682875"/>
          </a:xfrm>
        </p:grpSpPr>
        <p:pic>
          <p:nvPicPr>
            <p:cNvPr id="106509" name="Picture 11">
              <a:extLst>
                <a:ext uri="{FF2B5EF4-FFF2-40B4-BE49-F238E27FC236}">
                  <a16:creationId xmlns:a16="http://schemas.microsoft.com/office/drawing/2014/main" id="{0FFD3E7D-0614-0540-A183-16EE81706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2163" y="2905125"/>
              <a:ext cx="3086100" cy="258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10" name="Rectangle 14">
              <a:extLst>
                <a:ext uri="{FF2B5EF4-FFF2-40B4-BE49-F238E27FC236}">
                  <a16:creationId xmlns:a16="http://schemas.microsoft.com/office/drawing/2014/main" id="{2F55BAA3-12C2-9845-9727-F2E8916E0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200" y="5207000"/>
              <a:ext cx="2819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008000"/>
                  </a:solidFill>
                </a:rPr>
                <a:t>Self – Max (Cross)</a:t>
              </a:r>
            </a:p>
          </p:txBody>
        </p:sp>
        <p:sp>
          <p:nvSpPr>
            <p:cNvPr id="106511" name="Rectangle 14">
              <a:extLst>
                <a:ext uri="{FF2B5EF4-FFF2-40B4-BE49-F238E27FC236}">
                  <a16:creationId xmlns:a16="http://schemas.microsoft.com/office/drawing/2014/main" id="{CD873332-A2A6-9440-BF24-4B8B6DF72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4800" y="3733800"/>
              <a:ext cx="7620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spcAft>
                  <a:spcPts val="3000"/>
                </a:spcAft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olidFill>
                    <a:srgbClr val="FF0000"/>
                  </a:solidFill>
                </a:rPr>
                <a:t>AP1 and AP2</a:t>
              </a:r>
            </a:p>
          </p:txBody>
        </p:sp>
      </p:grpSp>
      <p:sp>
        <p:nvSpPr>
          <p:cNvPr id="54" name="Rectangle 16">
            <a:extLst>
              <a:ext uri="{FF2B5EF4-FFF2-40B4-BE49-F238E27FC236}">
                <a16:creationId xmlns:a16="http://schemas.microsoft.com/office/drawing/2014/main" id="{C213F607-C272-144D-9AB1-A67AF83BD832}"/>
              </a:ext>
            </a:extLst>
          </p:cNvPr>
          <p:cNvSpPr>
            <a:spLocks/>
          </p:cNvSpPr>
          <p:nvPr/>
        </p:nvSpPr>
        <p:spPr bwMode="auto">
          <a:xfrm>
            <a:off x="847725" y="5715000"/>
            <a:ext cx="7686675" cy="642938"/>
          </a:xfrm>
          <a:prstGeom prst="rect">
            <a:avLst/>
          </a:prstGeom>
          <a:solidFill>
            <a:srgbClr val="FFCC66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algn="ctr" eaLnBrk="1" hangingPunct="1">
              <a:spcBef>
                <a:spcPts val="425"/>
              </a:spcBef>
              <a:buFont typeface="Wingdings" charset="2"/>
              <a:buNone/>
              <a:defRPr/>
            </a:pPr>
            <a:r>
              <a:rPr lang="en-US" altLang="en-US" sz="2500">
                <a:latin typeface="Lucida Bright" charset="0"/>
                <a:sym typeface="Helvetica" charset="0"/>
              </a:rPr>
              <a:t>67% pixel accuracy even with multiple APs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 -0.00648 L 0.325 -0.00648 " pathEditMode="relative" ptsTypes="AA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23" grpId="0"/>
      <p:bldP spid="5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A1C7BFC4-AFBF-CC45-A88C-11A467DD5C48}"/>
              </a:ext>
            </a:extLst>
          </p:cNvPr>
          <p:cNvSpPr>
            <a:spLocks/>
          </p:cNvSpPr>
          <p:nvPr/>
        </p:nvSpPr>
        <p:spPr bwMode="auto">
          <a:xfrm>
            <a:off x="1200150" y="3962400"/>
            <a:ext cx="6953250" cy="1600200"/>
          </a:xfrm>
          <a:prstGeom prst="rect">
            <a:avLst/>
          </a:prstGeom>
          <a:solidFill>
            <a:srgbClr val="CCFF66"/>
          </a:solidFill>
          <a:ln>
            <a:noFill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63538" indent="-2555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575"/>
              </a:spcBef>
              <a:buClrTx/>
              <a:buSzTx/>
              <a:buFont typeface="Wingdings" pitchFamily="2" charset="2"/>
              <a:buNone/>
            </a:pPr>
            <a:r>
              <a:rPr lang="en-US" altLang="en-US" sz="2100">
                <a:sym typeface="Helvetica" pitchFamily="2" charset="0"/>
              </a:rPr>
              <a:t>Opportunity:</a:t>
            </a:r>
          </a:p>
          <a:p>
            <a:pPr eaLnBrk="1" hangingPunct="1">
              <a:spcBef>
                <a:spcPts val="575"/>
              </a:spcBef>
              <a:buClrTx/>
              <a:buSzTx/>
              <a:buFontTx/>
              <a:buChar char="-"/>
            </a:pPr>
            <a:r>
              <a:rPr lang="en-US" altLang="en-US" sz="2000">
                <a:sym typeface="Helvetica" pitchFamily="2" charset="0"/>
              </a:rPr>
              <a:t>Humans exhibit natural (micro) movements</a:t>
            </a:r>
          </a:p>
          <a:p>
            <a:pPr eaLnBrk="1" hangingPunct="1">
              <a:spcBef>
                <a:spcPts val="575"/>
              </a:spcBef>
              <a:buClrTx/>
              <a:buSzTx/>
              <a:buFontTx/>
              <a:buChar char="-"/>
            </a:pPr>
            <a:r>
              <a:rPr lang="en-US" altLang="en-US" sz="2000">
                <a:sym typeface="Helvetica" pitchFamily="2" charset="0"/>
              </a:rPr>
              <a:t>Likely to hit several nearby pixels</a:t>
            </a:r>
          </a:p>
          <a:p>
            <a:pPr eaLnBrk="1" hangingPunct="1">
              <a:spcBef>
                <a:spcPts val="575"/>
              </a:spcBef>
              <a:buClrTx/>
              <a:buSzTx/>
              <a:buFontTx/>
              <a:buChar char="-"/>
            </a:pPr>
            <a:r>
              <a:rPr lang="en-US" altLang="en-US" sz="2000">
                <a:sym typeface="Helvetica" pitchFamily="2" charset="0"/>
              </a:rPr>
              <a:t>Combine pixel fingerprints into super-fingerprint</a:t>
            </a:r>
            <a:endParaRPr lang="en-US" altLang="en-US" sz="2200">
              <a:sym typeface="Helvetica" pitchFamily="2" charset="0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2DB0D2C3-C76A-E74F-B4EF-B0BAF388F8B9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08547" name="Rectangle 4">
            <a:extLst>
              <a:ext uri="{FF2B5EF4-FFF2-40B4-BE49-F238E27FC236}">
                <a16:creationId xmlns:a16="http://schemas.microsoft.com/office/drawing/2014/main" id="{E153F633-62D6-A644-BE6D-256067070292}"/>
              </a:ext>
            </a:extLst>
          </p:cNvPr>
          <p:cNvSpPr>
            <a:spLocks/>
          </p:cNvSpPr>
          <p:nvPr/>
        </p:nvSpPr>
        <p:spPr bwMode="auto">
          <a:xfrm>
            <a:off x="228600" y="1963738"/>
            <a:ext cx="8458200" cy="8556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algn="ctr" eaLnBrk="1" hangingPunct="1">
              <a:spcBef>
                <a:spcPts val="425"/>
              </a:spcBef>
              <a:buClrTx/>
              <a:buSzTx/>
              <a:buFont typeface="Wingdings" pitchFamily="2" charset="2"/>
              <a:buNone/>
            </a:pPr>
            <a:r>
              <a:rPr lang="en-US" altLang="en-US" sz="2500">
                <a:sym typeface="Helvetica" pitchFamily="2" charset="0"/>
              </a:rPr>
              <a:t>67% accuracy inadequate … </a:t>
            </a:r>
          </a:p>
          <a:p>
            <a:pPr algn="ctr" eaLnBrk="1" hangingPunct="1">
              <a:spcBef>
                <a:spcPts val="425"/>
              </a:spcBef>
              <a:buClrTx/>
              <a:buSzTx/>
              <a:buFont typeface="Wingdings" pitchFamily="2" charset="2"/>
              <a:buNone/>
            </a:pPr>
            <a:r>
              <a:rPr lang="en-US" altLang="en-US" sz="2500">
                <a:sym typeface="Helvetica" pitchFamily="2" charset="0"/>
              </a:rPr>
              <a:t>can we improve accuracy?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9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7">
            <a:extLst>
              <a:ext uri="{FF2B5EF4-FFF2-40B4-BE49-F238E27FC236}">
                <a16:creationId xmlns:a16="http://schemas.microsoft.com/office/drawing/2014/main" id="{2DD8C73F-A6D7-3643-BC0C-2094ADDCD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38400"/>
            <a:ext cx="457200" cy="4572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10594" name="Rectangle 28">
            <a:extLst>
              <a:ext uri="{FF2B5EF4-FFF2-40B4-BE49-F238E27FC236}">
                <a16:creationId xmlns:a16="http://schemas.microsoft.com/office/drawing/2014/main" id="{59692895-BC00-0D44-B45A-E6CBACFFA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895600"/>
            <a:ext cx="457200" cy="4572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10595" name="Rectangle 26">
            <a:extLst>
              <a:ext uri="{FF2B5EF4-FFF2-40B4-BE49-F238E27FC236}">
                <a16:creationId xmlns:a16="http://schemas.microsoft.com/office/drawing/2014/main" id="{30DA3D1B-50EB-C140-9FF9-257BC1A6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981200"/>
            <a:ext cx="457200" cy="4572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10596" name="Rectangle 1">
            <a:extLst>
              <a:ext uri="{FF2B5EF4-FFF2-40B4-BE49-F238E27FC236}">
                <a16:creationId xmlns:a16="http://schemas.microsoft.com/office/drawing/2014/main" id="{38F18BEC-838E-8544-85AF-0DFAF5FC0127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52CD111E-3AEC-6148-8618-21AC8E4F86F8}"/>
              </a:ext>
            </a:extLst>
          </p:cNvPr>
          <p:cNvSpPr>
            <a:spLocks/>
          </p:cNvSpPr>
          <p:nvPr/>
        </p:nvSpPr>
        <p:spPr bwMode="auto">
          <a:xfrm>
            <a:off x="1295400" y="5257800"/>
            <a:ext cx="6848475" cy="785813"/>
          </a:xfrm>
          <a:prstGeom prst="rect">
            <a:avLst/>
          </a:prstGeom>
          <a:solidFill>
            <a:srgbClr val="CCFF66"/>
          </a:solidFill>
          <a:ln w="12700">
            <a:solidFill>
              <a:srgbClr val="FFFFFF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lIns="35717" tIns="35717" rIns="35717" bIns="35717"/>
          <a:lstStyle>
            <a:lvl1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Gungsuh" charset="-127"/>
              </a:defRPr>
            </a:lvl9pPr>
          </a:lstStyle>
          <a:p>
            <a:pPr algn="ctr" eaLnBrk="1" hangingPunct="1">
              <a:spcBef>
                <a:spcPts val="525"/>
              </a:spcBef>
              <a:buFont typeface="Wingdings" charset="2"/>
              <a:buNone/>
              <a:defRPr/>
            </a:pPr>
            <a:r>
              <a:rPr lang="en-US" altLang="en-US" sz="2000" b="1">
                <a:latin typeface="Lucida Bright" charset="0"/>
                <a:sym typeface="Century Gothic" charset="0"/>
              </a:rPr>
              <a:t>Intuition: low probability that a set of pixels </a:t>
            </a:r>
          </a:p>
          <a:p>
            <a:pPr algn="ctr" eaLnBrk="1" hangingPunct="1">
              <a:spcBef>
                <a:spcPts val="525"/>
              </a:spcBef>
              <a:buFont typeface="Wingdings" charset="2"/>
              <a:buNone/>
              <a:defRPr/>
            </a:pPr>
            <a:r>
              <a:rPr lang="en-US" altLang="en-US" sz="2000" b="1">
                <a:latin typeface="Lucida Bright" charset="0"/>
                <a:sym typeface="Century Gothic" charset="0"/>
              </a:rPr>
              <a:t>will all match well with an incorrect spot</a:t>
            </a:r>
          </a:p>
        </p:txBody>
      </p:sp>
      <p:sp>
        <p:nvSpPr>
          <p:cNvPr id="110598" name="Rectangle 4">
            <a:extLst>
              <a:ext uri="{FF2B5EF4-FFF2-40B4-BE49-F238E27FC236}">
                <a16:creationId xmlns:a16="http://schemas.microsoft.com/office/drawing/2014/main" id="{D2C5574E-D8B4-214C-95E0-5ED315ADC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From Pixels to Spots</a:t>
            </a:r>
          </a:p>
        </p:txBody>
      </p:sp>
      <p:cxnSp>
        <p:nvCxnSpPr>
          <p:cNvPr id="110599" name="Straight Arrow Connector 12">
            <a:extLst>
              <a:ext uri="{FF2B5EF4-FFF2-40B4-BE49-F238E27FC236}">
                <a16:creationId xmlns:a16="http://schemas.microsoft.com/office/drawing/2014/main" id="{E3D0DED7-A6AD-F040-A535-9E76215B07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28800" y="3581400"/>
            <a:ext cx="1143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600" name="Rectangle 6">
            <a:extLst>
              <a:ext uri="{FF2B5EF4-FFF2-40B4-BE49-F238E27FC236}">
                <a16:creationId xmlns:a16="http://schemas.microsoft.com/office/drawing/2014/main" id="{C1F22D01-B83F-DF49-A360-7EBEBC026DA9}"/>
              </a:ext>
            </a:extLst>
          </p:cNvPr>
          <p:cNvSpPr>
            <a:spLocks/>
          </p:cNvSpPr>
          <p:nvPr/>
        </p:nvSpPr>
        <p:spPr bwMode="auto">
          <a:xfrm>
            <a:off x="1143000" y="4572000"/>
            <a:ext cx="7620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5717" tIns="35717" rIns="35717" bIns="35717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algn="ctr" eaLnBrk="1" hangingPunct="1">
              <a:spcBef>
                <a:spcPts val="525"/>
              </a:spcBef>
              <a:buClrTx/>
              <a:buSzTx/>
              <a:buFont typeface="Wingdings" pitchFamily="2" charset="2"/>
              <a:buNone/>
            </a:pPr>
            <a:r>
              <a:rPr lang="en-US" altLang="en-US" sz="2000" b="1">
                <a:sym typeface="Century Gothic" panose="020B0502020202020204" pitchFamily="34" charset="0"/>
              </a:rPr>
              <a:t>Combine pixel fingerprints from a 1m x 1m box.</a:t>
            </a:r>
          </a:p>
        </p:txBody>
      </p:sp>
      <p:sp>
        <p:nvSpPr>
          <p:cNvPr id="110601" name="Rectangle 9">
            <a:extLst>
              <a:ext uri="{FF2B5EF4-FFF2-40B4-BE49-F238E27FC236}">
                <a16:creationId xmlns:a16="http://schemas.microsoft.com/office/drawing/2014/main" id="{F0576AC5-30F2-694D-ACEC-D4DB7C47A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524000"/>
            <a:ext cx="3200400" cy="2667000"/>
          </a:xfrm>
          <a:prstGeom prst="rect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35B827-672D-2A4D-969B-924B82F29DAE}"/>
              </a:ext>
            </a:extLst>
          </p:cNvPr>
          <p:cNvCxnSpPr/>
          <p:nvPr/>
        </p:nvCxnSpPr>
        <p:spPr bwMode="auto">
          <a:xfrm rot="5400000">
            <a:off x="2094707" y="2858294"/>
            <a:ext cx="26670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27D4E4-DE9B-9B47-A112-4DD6D8CD1805}"/>
              </a:ext>
            </a:extLst>
          </p:cNvPr>
          <p:cNvCxnSpPr/>
          <p:nvPr/>
        </p:nvCxnSpPr>
        <p:spPr bwMode="auto">
          <a:xfrm rot="5400000">
            <a:off x="2551907" y="2856706"/>
            <a:ext cx="26670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D3D8D0-2E1F-4543-994D-55BE16F18FE4}"/>
              </a:ext>
            </a:extLst>
          </p:cNvPr>
          <p:cNvCxnSpPr/>
          <p:nvPr/>
        </p:nvCxnSpPr>
        <p:spPr bwMode="auto">
          <a:xfrm rot="5400000">
            <a:off x="3009107" y="2856706"/>
            <a:ext cx="26670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D172E2-8396-2849-8BF5-C2EA9863843B}"/>
              </a:ext>
            </a:extLst>
          </p:cNvPr>
          <p:cNvCxnSpPr/>
          <p:nvPr/>
        </p:nvCxnSpPr>
        <p:spPr bwMode="auto">
          <a:xfrm rot="5400000">
            <a:off x="3467894" y="2856706"/>
            <a:ext cx="2667000" cy="1588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5D4A0C-4039-1140-9325-F1C13A863F5B}"/>
              </a:ext>
            </a:extLst>
          </p:cNvPr>
          <p:cNvCxnSpPr/>
          <p:nvPr/>
        </p:nvCxnSpPr>
        <p:spPr bwMode="auto">
          <a:xfrm rot="5400000">
            <a:off x="3923507" y="2856706"/>
            <a:ext cx="26670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D38FCF-2889-8A4F-8713-457DAEB9F1AF}"/>
              </a:ext>
            </a:extLst>
          </p:cNvPr>
          <p:cNvCxnSpPr/>
          <p:nvPr/>
        </p:nvCxnSpPr>
        <p:spPr bwMode="auto">
          <a:xfrm rot="5400000">
            <a:off x="4380707" y="2856706"/>
            <a:ext cx="26670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20B266-6E11-EA41-ACB6-850D4F9DDA77}"/>
              </a:ext>
            </a:extLst>
          </p:cNvPr>
          <p:cNvCxnSpPr/>
          <p:nvPr/>
        </p:nvCxnSpPr>
        <p:spPr bwMode="auto">
          <a:xfrm>
            <a:off x="2971800" y="1979613"/>
            <a:ext cx="32004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28DFBB-7026-0843-98D2-744D02CA467D}"/>
              </a:ext>
            </a:extLst>
          </p:cNvPr>
          <p:cNvCxnSpPr/>
          <p:nvPr/>
        </p:nvCxnSpPr>
        <p:spPr bwMode="auto">
          <a:xfrm>
            <a:off x="2971800" y="2436813"/>
            <a:ext cx="32004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A1C2AE-4006-FA41-9A1C-5C6C9C512A11}"/>
              </a:ext>
            </a:extLst>
          </p:cNvPr>
          <p:cNvCxnSpPr/>
          <p:nvPr/>
        </p:nvCxnSpPr>
        <p:spPr bwMode="auto">
          <a:xfrm>
            <a:off x="2971800" y="2894013"/>
            <a:ext cx="32004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14C3AC-BDD9-EF48-A2E1-4B401D04B8BB}"/>
              </a:ext>
            </a:extLst>
          </p:cNvPr>
          <p:cNvCxnSpPr/>
          <p:nvPr/>
        </p:nvCxnSpPr>
        <p:spPr bwMode="auto">
          <a:xfrm>
            <a:off x="2971800" y="3325813"/>
            <a:ext cx="32004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086A13-0CC9-FF4B-8412-DF3085BCD8EF}"/>
              </a:ext>
            </a:extLst>
          </p:cNvPr>
          <p:cNvCxnSpPr/>
          <p:nvPr/>
        </p:nvCxnSpPr>
        <p:spPr bwMode="auto">
          <a:xfrm>
            <a:off x="2971800" y="3783013"/>
            <a:ext cx="3200400" cy="158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0613" name="Freeform 25">
            <a:extLst>
              <a:ext uri="{FF2B5EF4-FFF2-40B4-BE49-F238E27FC236}">
                <a16:creationId xmlns:a16="http://schemas.microsoft.com/office/drawing/2014/main" id="{358CB5D8-934B-0245-8E86-BD7BD3877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2159000"/>
            <a:ext cx="3881438" cy="1222375"/>
          </a:xfrm>
          <a:custGeom>
            <a:avLst/>
            <a:gdLst>
              <a:gd name="T0" fmla="*/ 0 w 3880725"/>
              <a:gd name="T1" fmla="*/ 0 h 1223104"/>
              <a:gd name="T2" fmla="*/ 929830 w 3880725"/>
              <a:gd name="T3" fmla="*/ 12573 h 1223104"/>
              <a:gd name="T4" fmla="*/ 1044467 w 3880725"/>
              <a:gd name="T5" fmla="*/ 37732 h 1223104"/>
              <a:gd name="T6" fmla="*/ 1108150 w 3880725"/>
              <a:gd name="T7" fmla="*/ 50320 h 1223104"/>
              <a:gd name="T8" fmla="*/ 1324688 w 3880725"/>
              <a:gd name="T9" fmla="*/ 75480 h 1223104"/>
              <a:gd name="T10" fmla="*/ 1439324 w 3880725"/>
              <a:gd name="T11" fmla="*/ 100638 h 1223104"/>
              <a:gd name="T12" fmla="*/ 1528486 w 3880725"/>
              <a:gd name="T13" fmla="*/ 113212 h 1223104"/>
              <a:gd name="T14" fmla="*/ 1757759 w 3880725"/>
              <a:gd name="T15" fmla="*/ 188691 h 1223104"/>
              <a:gd name="T16" fmla="*/ 1885133 w 3880725"/>
              <a:gd name="T17" fmla="*/ 213849 h 1223104"/>
              <a:gd name="T18" fmla="*/ 1987032 w 3880725"/>
              <a:gd name="T19" fmla="*/ 251590 h 1223104"/>
              <a:gd name="T20" fmla="*/ 2063456 w 3880725"/>
              <a:gd name="T21" fmla="*/ 276748 h 1223104"/>
              <a:gd name="T22" fmla="*/ 2127144 w 3880725"/>
              <a:gd name="T23" fmla="*/ 289326 h 1223104"/>
              <a:gd name="T24" fmla="*/ 2203568 w 3880725"/>
              <a:gd name="T25" fmla="*/ 314485 h 1223104"/>
              <a:gd name="T26" fmla="*/ 2254517 w 3880725"/>
              <a:gd name="T27" fmla="*/ 339644 h 1223104"/>
              <a:gd name="T28" fmla="*/ 2318205 w 3880725"/>
              <a:gd name="T29" fmla="*/ 352224 h 1223104"/>
              <a:gd name="T30" fmla="*/ 2369153 w 3880725"/>
              <a:gd name="T31" fmla="*/ 364803 h 1223104"/>
              <a:gd name="T32" fmla="*/ 2407365 w 3880725"/>
              <a:gd name="T33" fmla="*/ 377383 h 1223104"/>
              <a:gd name="T34" fmla="*/ 2483790 w 3880725"/>
              <a:gd name="T35" fmla="*/ 427701 h 1223104"/>
              <a:gd name="T36" fmla="*/ 2522002 w 3880725"/>
              <a:gd name="T37" fmla="*/ 440279 h 1223104"/>
              <a:gd name="T38" fmla="*/ 2662114 w 3880725"/>
              <a:gd name="T39" fmla="*/ 528336 h 1223104"/>
              <a:gd name="T40" fmla="*/ 2725801 w 3880725"/>
              <a:gd name="T41" fmla="*/ 553496 h 1223104"/>
              <a:gd name="T42" fmla="*/ 2764013 w 3880725"/>
              <a:gd name="T43" fmla="*/ 566074 h 1223104"/>
              <a:gd name="T44" fmla="*/ 2814963 w 3880725"/>
              <a:gd name="T45" fmla="*/ 591233 h 1223104"/>
              <a:gd name="T46" fmla="*/ 2967811 w 3880725"/>
              <a:gd name="T47" fmla="*/ 616392 h 1223104"/>
              <a:gd name="T48" fmla="*/ 3222559 w 3880725"/>
              <a:gd name="T49" fmla="*/ 767345 h 1223104"/>
              <a:gd name="T50" fmla="*/ 3273508 w 3880725"/>
              <a:gd name="T51" fmla="*/ 805084 h 1223104"/>
              <a:gd name="T52" fmla="*/ 3375407 w 3880725"/>
              <a:gd name="T53" fmla="*/ 855401 h 1223104"/>
              <a:gd name="T54" fmla="*/ 3413619 w 3880725"/>
              <a:gd name="T55" fmla="*/ 893139 h 1223104"/>
              <a:gd name="T56" fmla="*/ 3515518 w 3880725"/>
              <a:gd name="T57" fmla="*/ 943457 h 1223104"/>
              <a:gd name="T58" fmla="*/ 3591942 w 3880725"/>
              <a:gd name="T59" fmla="*/ 1006354 h 1223104"/>
              <a:gd name="T60" fmla="*/ 3642892 w 3880725"/>
              <a:gd name="T61" fmla="*/ 1018934 h 1223104"/>
              <a:gd name="T62" fmla="*/ 3706580 w 3880725"/>
              <a:gd name="T63" fmla="*/ 1069252 h 1223104"/>
              <a:gd name="T64" fmla="*/ 3757528 w 3880725"/>
              <a:gd name="T65" fmla="*/ 1094410 h 1223104"/>
              <a:gd name="T66" fmla="*/ 3795740 w 3880725"/>
              <a:gd name="T67" fmla="*/ 1132149 h 1223104"/>
              <a:gd name="T68" fmla="*/ 3859428 w 3880725"/>
              <a:gd name="T69" fmla="*/ 1182466 h 1223104"/>
              <a:gd name="T70" fmla="*/ 3859428 w 3880725"/>
              <a:gd name="T71" fmla="*/ 1182466 h 122310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3880725"/>
              <a:gd name="T109" fmla="*/ 0 h 1223104"/>
              <a:gd name="T110" fmla="*/ 3880725 w 3880725"/>
              <a:gd name="T111" fmla="*/ 1223104 h 1223104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3880725" h="1223104">
                <a:moveTo>
                  <a:pt x="0" y="0"/>
                </a:moveTo>
                <a:lnTo>
                  <a:pt x="927100" y="12700"/>
                </a:lnTo>
                <a:cubicBezTo>
                  <a:pt x="1004869" y="14669"/>
                  <a:pt x="984920" y="23980"/>
                  <a:pt x="1041400" y="38100"/>
                </a:cubicBezTo>
                <a:cubicBezTo>
                  <a:pt x="1062341" y="43335"/>
                  <a:pt x="1083565" y="47518"/>
                  <a:pt x="1104900" y="50800"/>
                </a:cubicBezTo>
                <a:cubicBezTo>
                  <a:pt x="1259222" y="74542"/>
                  <a:pt x="1156087" y="52670"/>
                  <a:pt x="1320800" y="76200"/>
                </a:cubicBezTo>
                <a:cubicBezTo>
                  <a:pt x="1438443" y="93006"/>
                  <a:pt x="1333418" y="83112"/>
                  <a:pt x="1435100" y="101600"/>
                </a:cubicBezTo>
                <a:cubicBezTo>
                  <a:pt x="1464551" y="106955"/>
                  <a:pt x="1494367" y="110067"/>
                  <a:pt x="1524000" y="114300"/>
                </a:cubicBezTo>
                <a:cubicBezTo>
                  <a:pt x="1612730" y="158665"/>
                  <a:pt x="1612597" y="162499"/>
                  <a:pt x="1752600" y="190500"/>
                </a:cubicBezTo>
                <a:lnTo>
                  <a:pt x="1879600" y="215900"/>
                </a:lnTo>
                <a:cubicBezTo>
                  <a:pt x="1964767" y="258484"/>
                  <a:pt x="1894742" y="228062"/>
                  <a:pt x="1981200" y="254000"/>
                </a:cubicBezTo>
                <a:cubicBezTo>
                  <a:pt x="2006845" y="261693"/>
                  <a:pt x="2031146" y="274149"/>
                  <a:pt x="2057400" y="279400"/>
                </a:cubicBezTo>
                <a:cubicBezTo>
                  <a:pt x="2078567" y="283633"/>
                  <a:pt x="2100075" y="286420"/>
                  <a:pt x="2120900" y="292100"/>
                </a:cubicBezTo>
                <a:cubicBezTo>
                  <a:pt x="2146731" y="299145"/>
                  <a:pt x="2173153" y="305526"/>
                  <a:pt x="2197100" y="317500"/>
                </a:cubicBezTo>
                <a:cubicBezTo>
                  <a:pt x="2214033" y="325967"/>
                  <a:pt x="2229939" y="336913"/>
                  <a:pt x="2247900" y="342900"/>
                </a:cubicBezTo>
                <a:cubicBezTo>
                  <a:pt x="2268378" y="349726"/>
                  <a:pt x="2290328" y="350917"/>
                  <a:pt x="2311400" y="355600"/>
                </a:cubicBezTo>
                <a:cubicBezTo>
                  <a:pt x="2328439" y="359386"/>
                  <a:pt x="2345417" y="363505"/>
                  <a:pt x="2362200" y="368300"/>
                </a:cubicBezTo>
                <a:cubicBezTo>
                  <a:pt x="2375072" y="371978"/>
                  <a:pt x="2388598" y="374499"/>
                  <a:pt x="2400300" y="381000"/>
                </a:cubicBezTo>
                <a:cubicBezTo>
                  <a:pt x="2426985" y="395825"/>
                  <a:pt x="2447540" y="422147"/>
                  <a:pt x="2476500" y="431800"/>
                </a:cubicBezTo>
                <a:cubicBezTo>
                  <a:pt x="2489200" y="436033"/>
                  <a:pt x="2502977" y="437858"/>
                  <a:pt x="2514600" y="444500"/>
                </a:cubicBezTo>
                <a:cubicBezTo>
                  <a:pt x="2562523" y="471885"/>
                  <a:pt x="2603052" y="512901"/>
                  <a:pt x="2654300" y="533400"/>
                </a:cubicBezTo>
                <a:cubicBezTo>
                  <a:pt x="2675467" y="541867"/>
                  <a:pt x="2696454" y="550795"/>
                  <a:pt x="2717800" y="558800"/>
                </a:cubicBezTo>
                <a:cubicBezTo>
                  <a:pt x="2730335" y="563500"/>
                  <a:pt x="2743595" y="566227"/>
                  <a:pt x="2755900" y="571500"/>
                </a:cubicBezTo>
                <a:cubicBezTo>
                  <a:pt x="2773301" y="578958"/>
                  <a:pt x="2788333" y="592308"/>
                  <a:pt x="2806700" y="596900"/>
                </a:cubicBezTo>
                <a:cubicBezTo>
                  <a:pt x="2856663" y="609391"/>
                  <a:pt x="2908300" y="613833"/>
                  <a:pt x="2959100" y="622300"/>
                </a:cubicBezTo>
                <a:cubicBezTo>
                  <a:pt x="3043767" y="673100"/>
                  <a:pt x="3134110" y="715458"/>
                  <a:pt x="3213100" y="774700"/>
                </a:cubicBezTo>
                <a:cubicBezTo>
                  <a:pt x="3230033" y="787400"/>
                  <a:pt x="3245617" y="802135"/>
                  <a:pt x="3263900" y="812800"/>
                </a:cubicBezTo>
                <a:cubicBezTo>
                  <a:pt x="3296606" y="831879"/>
                  <a:pt x="3333556" y="843272"/>
                  <a:pt x="3365500" y="863600"/>
                </a:cubicBezTo>
                <a:cubicBezTo>
                  <a:pt x="3380653" y="873243"/>
                  <a:pt x="3389232" y="890924"/>
                  <a:pt x="3403600" y="901700"/>
                </a:cubicBezTo>
                <a:cubicBezTo>
                  <a:pt x="3509214" y="980910"/>
                  <a:pt x="3427069" y="913434"/>
                  <a:pt x="3505200" y="952500"/>
                </a:cubicBezTo>
                <a:cubicBezTo>
                  <a:pt x="3683781" y="1041790"/>
                  <a:pt x="3384789" y="903651"/>
                  <a:pt x="3581400" y="1016000"/>
                </a:cubicBezTo>
                <a:cubicBezTo>
                  <a:pt x="3596555" y="1024660"/>
                  <a:pt x="3615267" y="1024467"/>
                  <a:pt x="3632200" y="1028700"/>
                </a:cubicBezTo>
                <a:cubicBezTo>
                  <a:pt x="3653367" y="1045633"/>
                  <a:pt x="3673146" y="1064464"/>
                  <a:pt x="3695700" y="1079500"/>
                </a:cubicBezTo>
                <a:cubicBezTo>
                  <a:pt x="3711452" y="1090002"/>
                  <a:pt x="3731094" y="1093896"/>
                  <a:pt x="3746500" y="1104900"/>
                </a:cubicBezTo>
                <a:cubicBezTo>
                  <a:pt x="3761115" y="1115339"/>
                  <a:pt x="3770802" y="1131502"/>
                  <a:pt x="3784600" y="1143000"/>
                </a:cubicBezTo>
                <a:cubicBezTo>
                  <a:pt x="3880725" y="1223104"/>
                  <a:pt x="3774204" y="1119904"/>
                  <a:pt x="3848100" y="119380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14" name="Rectangle 4">
            <a:extLst>
              <a:ext uri="{FF2B5EF4-FFF2-40B4-BE49-F238E27FC236}">
                <a16:creationId xmlns:a16="http://schemas.microsoft.com/office/drawing/2014/main" id="{694FAB1B-4F85-A646-892D-1ADE8461AF36}"/>
              </a:ext>
            </a:extLst>
          </p:cNvPr>
          <p:cNvSpPr>
            <a:spLocks/>
          </p:cNvSpPr>
          <p:nvPr/>
        </p:nvSpPr>
        <p:spPr bwMode="auto">
          <a:xfrm>
            <a:off x="1257300" y="3390900"/>
            <a:ext cx="6858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Helvetica Neue" panose="02000503000000020004" pitchFamily="2" charset="0"/>
              </a:rPr>
              <a:t>Spot</a:t>
            </a:r>
          </a:p>
        </p:txBody>
      </p:sp>
      <p:sp>
        <p:nvSpPr>
          <p:cNvPr id="110615" name="Rectangle 4">
            <a:extLst>
              <a:ext uri="{FF2B5EF4-FFF2-40B4-BE49-F238E27FC236}">
                <a16:creationId xmlns:a16="http://schemas.microsoft.com/office/drawing/2014/main" id="{24EEFC81-C077-6542-8077-29E802402AD8}"/>
              </a:ext>
            </a:extLst>
          </p:cNvPr>
          <p:cNvSpPr>
            <a:spLocks/>
          </p:cNvSpPr>
          <p:nvPr/>
        </p:nvSpPr>
        <p:spPr bwMode="auto">
          <a:xfrm>
            <a:off x="1473200" y="2959100"/>
            <a:ext cx="6858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Helvetica Neue" panose="02000503000000020004" pitchFamily="2" charset="0"/>
              </a:rPr>
              <a:t>Pixel</a:t>
            </a:r>
          </a:p>
        </p:txBody>
      </p:sp>
      <p:cxnSp>
        <p:nvCxnSpPr>
          <p:cNvPr id="110616" name="Straight Arrow Connector 12">
            <a:extLst>
              <a:ext uri="{FF2B5EF4-FFF2-40B4-BE49-F238E27FC236}">
                <a16:creationId xmlns:a16="http://schemas.microsoft.com/office/drawing/2014/main" id="{E8AEB116-7109-5C40-93A5-C7344B7019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82800" y="3122613"/>
            <a:ext cx="1143000" cy="1587"/>
          </a:xfrm>
          <a:prstGeom prst="straightConnector1">
            <a:avLst/>
          </a:prstGeom>
          <a:noFill/>
          <a:ln w="19050">
            <a:solidFill>
              <a:srgbClr val="FF983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617" name="Rectangle 4">
            <a:extLst>
              <a:ext uri="{FF2B5EF4-FFF2-40B4-BE49-F238E27FC236}">
                <a16:creationId xmlns:a16="http://schemas.microsoft.com/office/drawing/2014/main" id="{11CA33C7-63FA-6F44-9AD5-AC940A75114E}"/>
              </a:ext>
            </a:extLst>
          </p:cNvPr>
          <p:cNvSpPr>
            <a:spLocks/>
          </p:cNvSpPr>
          <p:nvPr/>
        </p:nvSpPr>
        <p:spPr bwMode="auto">
          <a:xfrm>
            <a:off x="6477000" y="1587500"/>
            <a:ext cx="6858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2000">
                <a:sym typeface="Helvetica Neue" panose="02000503000000020004" pitchFamily="2" charset="0"/>
              </a:rPr>
              <a:t>2cm</a:t>
            </a:r>
          </a:p>
        </p:txBody>
      </p:sp>
      <p:cxnSp>
        <p:nvCxnSpPr>
          <p:cNvPr id="110618" name="Straight Arrow Connector 41">
            <a:extLst>
              <a:ext uri="{FF2B5EF4-FFF2-40B4-BE49-F238E27FC236}">
                <a16:creationId xmlns:a16="http://schemas.microsoft.com/office/drawing/2014/main" id="{FA28E887-10F1-C84D-8640-E019111CAF4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096001" y="1752600"/>
            <a:ext cx="4572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1">
            <a:extLst>
              <a:ext uri="{FF2B5EF4-FFF2-40B4-BE49-F238E27FC236}">
                <a16:creationId xmlns:a16="http://schemas.microsoft.com/office/drawing/2014/main" id="{A7BE109F-210F-3544-804A-4F1FBFAC94BB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BEACAC53-AFBC-6F46-897B-0259C0406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6388" y="1295400"/>
            <a:ext cx="8456612" cy="5334000"/>
          </a:xfrm>
        </p:spPr>
        <p:txBody>
          <a:bodyPr/>
          <a:lstStyle/>
          <a:p>
            <a:pPr marL="212725" indent="-212725"/>
            <a:r>
              <a:rPr lang="en-US" altLang="en-US" sz="2100">
                <a:latin typeface="Lucida Bright" panose="02040602050505020304" pitchFamily="18" charset="77"/>
              </a:rPr>
              <a:t> </a:t>
            </a:r>
            <a:r>
              <a:rPr lang="en-US" altLang="en-US">
                <a:latin typeface="Lucida Bright" panose="02040602050505020304" pitchFamily="18" charset="77"/>
                <a:sym typeface="Helvetica" pitchFamily="2" charset="0"/>
              </a:rPr>
              <a:t>Evaluated PinLoc (with existing building WiFi) at: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Duke museum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ECE building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Café (during lunch)</a:t>
            </a: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212725" indent="-212725"/>
            <a:r>
              <a:rPr lang="en-US" altLang="en-US">
                <a:latin typeface="Lucida Bright" panose="02040602050505020304" pitchFamily="18" charset="77"/>
              </a:rPr>
              <a:t> Roomba calibrates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4m each spot</a:t>
            </a: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Testing next day</a:t>
            </a: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612775" lvl="1" indent="-212725"/>
            <a:r>
              <a:rPr lang="en-US" altLang="en-US">
                <a:latin typeface="Lucida Bright" panose="02040602050505020304" pitchFamily="18" charset="77"/>
              </a:rPr>
              <a:t>Compare with Horus (best RSSI based scheme)</a:t>
            </a:r>
          </a:p>
          <a:p>
            <a:pPr marL="612775" lvl="1" indent="-212725"/>
            <a:endParaRPr lang="en-US" altLang="en-US">
              <a:latin typeface="Lucida Bright" panose="02040602050505020304" pitchFamily="18" charset="77"/>
            </a:endParaRPr>
          </a:p>
          <a:p>
            <a:pPr marL="212725" indent="-212725"/>
            <a:endParaRPr lang="en-US" altLang="en-US" sz="1500">
              <a:latin typeface="Lucida Bright" panose="02040602050505020304" pitchFamily="18" charset="77"/>
              <a:sym typeface="Helvetica" pitchFamily="2" charset="0"/>
            </a:endParaRPr>
          </a:p>
        </p:txBody>
      </p:sp>
      <p:sp>
        <p:nvSpPr>
          <p:cNvPr id="116739" name="Rectangle 4">
            <a:extLst>
              <a:ext uri="{FF2B5EF4-FFF2-40B4-BE49-F238E27FC236}">
                <a16:creationId xmlns:a16="http://schemas.microsoft.com/office/drawing/2014/main" id="{5C307F07-201B-864A-8658-59A7CE90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PinLoc Evaluation</a:t>
            </a:r>
          </a:p>
        </p:txBody>
      </p:sp>
      <p:pic>
        <p:nvPicPr>
          <p:cNvPr id="20" name="Picture 1">
            <a:extLst>
              <a:ext uri="{FF2B5EF4-FFF2-40B4-BE49-F238E27FC236}">
                <a16:creationId xmlns:a16="http://schemas.microsoft.com/office/drawing/2014/main" id="{CDC43221-019E-884B-A95F-8E1DA978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05000"/>
            <a:ext cx="5167313" cy="3875088"/>
          </a:xfrm>
          <a:prstGeom prst="rect">
            <a:avLst/>
          </a:prstGeom>
          <a:noFill/>
          <a:ln>
            <a:noFill/>
          </a:ln>
          <a:effectLst>
            <a:outerShdw blurRad="76200" dist="63499" dir="5400000" algn="ctr" rotWithShape="0">
              <a:schemeClr val="bg2">
                <a:alpha val="4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1" name="Picture 4">
            <a:extLst>
              <a:ext uri="{FF2B5EF4-FFF2-40B4-BE49-F238E27FC236}">
                <a16:creationId xmlns:a16="http://schemas.microsoft.com/office/drawing/2014/main" id="{7F7B1C60-AFCB-6042-8418-77D09D9A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4537075"/>
            <a:ext cx="1978025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1">
            <a:extLst>
              <a:ext uri="{FF2B5EF4-FFF2-40B4-BE49-F238E27FC236}">
                <a16:creationId xmlns:a16="http://schemas.microsoft.com/office/drawing/2014/main" id="{482F9D7B-3434-9A4A-B12A-5B04A38A1E8B}"/>
              </a:ext>
            </a:extLst>
          </p:cNvPr>
          <p:cNvSpPr>
            <a:spLocks/>
          </p:cNvSpPr>
          <p:nvPr/>
        </p:nvSpPr>
        <p:spPr bwMode="auto">
          <a:xfrm>
            <a:off x="534988" y="1141413"/>
            <a:ext cx="8228012" cy="33337"/>
          </a:xfrm>
          <a:prstGeom prst="rect">
            <a:avLst/>
          </a:prstGeom>
          <a:gradFill rotWithShape="0">
            <a:gsLst>
              <a:gs pos="0">
                <a:srgbClr val="80808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C03B554D-B204-AA48-8EAD-B416480FA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95400"/>
            <a:ext cx="8456612" cy="936625"/>
          </a:xfrm>
        </p:spPr>
        <p:txBody>
          <a:bodyPr/>
          <a:lstStyle/>
          <a:p>
            <a:pPr marL="212725" indent="-212725"/>
            <a:r>
              <a:rPr lang="en-US" altLang="en-US">
                <a:latin typeface="Lucida Bright" panose="02040602050505020304" pitchFamily="18" charset="77"/>
              </a:rPr>
              <a:t> </a:t>
            </a:r>
            <a:r>
              <a:rPr lang="en-US" altLang="en-US" sz="2100">
                <a:latin typeface="Lucida Bright" panose="02040602050505020304" pitchFamily="18" charset="77"/>
                <a:sym typeface="Helvetica" pitchFamily="2" charset="0"/>
              </a:rPr>
              <a:t>90% mean accuracy, 6% false positives</a:t>
            </a:r>
            <a:endParaRPr lang="en-US" altLang="en-US">
              <a:latin typeface="Lucida Bright" panose="02040602050505020304" pitchFamily="18" charset="77"/>
            </a:endParaRPr>
          </a:p>
          <a:p>
            <a:pPr marL="212725" indent="-212725"/>
            <a:r>
              <a:rPr lang="en-US" altLang="en-US">
                <a:latin typeface="Lucida Bright" panose="02040602050505020304" pitchFamily="18" charset="77"/>
              </a:rPr>
              <a:t> </a:t>
            </a:r>
            <a:r>
              <a:rPr lang="en-US" altLang="en-US" sz="2100">
                <a:latin typeface="Lucida Bright" panose="02040602050505020304" pitchFamily="18" charset="77"/>
                <a:sym typeface="Helvetica" pitchFamily="2" charset="0"/>
              </a:rPr>
              <a:t>WiFi RSSI is not rich enough, performs poorly - 20% accuracy</a:t>
            </a:r>
          </a:p>
        </p:txBody>
      </p:sp>
      <p:grpSp>
        <p:nvGrpSpPr>
          <p:cNvPr id="117763" name="Group 6">
            <a:extLst>
              <a:ext uri="{FF2B5EF4-FFF2-40B4-BE49-F238E27FC236}">
                <a16:creationId xmlns:a16="http://schemas.microsoft.com/office/drawing/2014/main" id="{770918E4-2CDE-F84E-A1A2-E89D0C59206A}"/>
              </a:ext>
            </a:extLst>
          </p:cNvPr>
          <p:cNvGrpSpPr>
            <a:grpSpLocks/>
          </p:cNvGrpSpPr>
          <p:nvPr/>
        </p:nvGrpSpPr>
        <p:grpSpPr bwMode="auto">
          <a:xfrm>
            <a:off x="0" y="2589213"/>
            <a:ext cx="4405313" cy="3232150"/>
            <a:chOff x="0" y="0"/>
            <a:chExt cx="3947" cy="2895"/>
          </a:xfrm>
        </p:grpSpPr>
        <p:pic>
          <p:nvPicPr>
            <p:cNvPr id="117768" name="Picture 4">
              <a:extLst>
                <a:ext uri="{FF2B5EF4-FFF2-40B4-BE49-F238E27FC236}">
                  <a16:creationId xmlns:a16="http://schemas.microsoft.com/office/drawing/2014/main" id="{08510CFC-C3F8-4448-AE1E-EB5264AB1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47" cy="2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69" name="Rectangle 5">
              <a:extLst>
                <a:ext uri="{FF2B5EF4-FFF2-40B4-BE49-F238E27FC236}">
                  <a16:creationId xmlns:a16="http://schemas.microsoft.com/office/drawing/2014/main" id="{E19CFAAA-8FE2-804D-B6D8-A5CEF427F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2647"/>
              <a:ext cx="1908" cy="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b="1">
                  <a:sym typeface="Helvetica" pitchFamily="2" charset="0"/>
                </a:rPr>
                <a:t>Accuracy per spot</a:t>
              </a:r>
            </a:p>
          </p:txBody>
        </p:sp>
      </p:grpSp>
      <p:pic>
        <p:nvPicPr>
          <p:cNvPr id="117764" name="Picture 7">
            <a:extLst>
              <a:ext uri="{FF2B5EF4-FFF2-40B4-BE49-F238E27FC236}">
                <a16:creationId xmlns:a16="http://schemas.microsoft.com/office/drawing/2014/main" id="{05B6390B-7D2A-284C-8DB6-3D7E12C31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8" y="2643188"/>
            <a:ext cx="4405312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5" name="Rectangle 8">
            <a:extLst>
              <a:ext uri="{FF2B5EF4-FFF2-40B4-BE49-F238E27FC236}">
                <a16:creationId xmlns:a16="http://schemas.microsoft.com/office/drawing/2014/main" id="{2B2731A3-BF91-364A-8226-B0E23FF281C9}"/>
              </a:ext>
            </a:extLst>
          </p:cNvPr>
          <p:cNvSpPr>
            <a:spLocks/>
          </p:cNvSpPr>
          <p:nvPr/>
        </p:nvSpPr>
        <p:spPr bwMode="auto">
          <a:xfrm>
            <a:off x="5691188" y="5484813"/>
            <a:ext cx="2630487" cy="276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800" b="1">
                <a:sym typeface="Helvetica" pitchFamily="2" charset="0"/>
              </a:rPr>
              <a:t>False positive per spot</a:t>
            </a:r>
          </a:p>
        </p:txBody>
      </p:sp>
      <p:sp>
        <p:nvSpPr>
          <p:cNvPr id="117766" name="Rectangle 4">
            <a:extLst>
              <a:ext uri="{FF2B5EF4-FFF2-40B4-BE49-F238E27FC236}">
                <a16:creationId xmlns:a16="http://schemas.microsoft.com/office/drawing/2014/main" id="{9A13F961-225D-5947-AF94-9F0993522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Performance</a:t>
            </a:r>
          </a:p>
        </p:txBody>
      </p:sp>
      <p:sp>
        <p:nvSpPr>
          <p:cNvPr id="117767" name="TextBox 9">
            <a:extLst>
              <a:ext uri="{FF2B5EF4-FFF2-40B4-BE49-F238E27FC236}">
                <a16:creationId xmlns:a16="http://schemas.microsoft.com/office/drawing/2014/main" id="{0436C345-591E-5A4F-AE02-08BFB72FC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46100" y="1765300"/>
            <a:ext cx="265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entury Gothic"/>
        <a:ea typeface="Gungsuh"/>
        <a:cs typeface="Gungsuh"/>
      </a:majorFont>
      <a:minorFont>
        <a:latin typeface="Century Gothic"/>
        <a:ea typeface="Gungsuh"/>
        <a:cs typeface="Gungsu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charset="2"/>
          <a:buChar char="•"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Gungsuh" pitchFamily="18" charset="-127"/>
            <a:cs typeface="Gungsuh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charset="2"/>
          <a:buChar char="•"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Gungsuh" pitchFamily="18" charset="-127"/>
            <a:cs typeface="Gungsuh" pitchFamily="18" charset="-127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2004:Templates:Presentations:Designs:Mimosa</Template>
  <TotalTime>265843</TotalTime>
  <Words>575</Words>
  <Application>Microsoft Macintosh PowerPoint</Application>
  <PresentationFormat>On-screen Show (4:3)</PresentationFormat>
  <Paragraphs>155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Gungsuh</vt:lpstr>
      <vt:lpstr>Arial</vt:lpstr>
      <vt:lpstr>Century Gothic</vt:lpstr>
      <vt:lpstr>Comic Sans MS</vt:lpstr>
      <vt:lpstr>Helvetica</vt:lpstr>
      <vt:lpstr>Helvetica Neue</vt:lpstr>
      <vt:lpstr>Lucida Bright</vt:lpstr>
      <vt:lpstr>Lucida Grande</vt:lpstr>
      <vt:lpstr>Optima ExtraBlack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illinois at urbana-champaign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in Sensor Networks:  Directed Diffusion and other proposals  </dc:title>
  <dc:creator>romit roy choudhury</dc:creator>
  <cp:lastModifiedBy>mahanthg74@gmail.com</cp:lastModifiedBy>
  <cp:revision>1717</cp:revision>
  <cp:lastPrinted>2012-04-02T21:09:02Z</cp:lastPrinted>
  <dcterms:created xsi:type="dcterms:W3CDTF">2012-06-22T03:32:44Z</dcterms:created>
  <dcterms:modified xsi:type="dcterms:W3CDTF">2022-02-01T19:01:31Z</dcterms:modified>
</cp:coreProperties>
</file>