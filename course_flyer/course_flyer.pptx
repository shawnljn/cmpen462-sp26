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1882"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162C92-BE1E-49C4-9BED-C8E500C786D2}" type="datetimeFigureOut">
              <a:rPr lang="en-US" smtClean="0"/>
              <a:t>12/3/2017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67392-4B44-4187-A04F-C83DBB6594D0}" type="slidenum">
              <a:rPr lang="en-US" smtClean="0"/>
              <a:t>‹#›</a:t>
            </a:fld>
            <a:endParaRPr lang="en-US"/>
          </a:p>
        </p:txBody>
      </p:sp>
    </p:spTree>
    <p:extLst>
      <p:ext uri="{BB962C8B-B14F-4D97-AF65-F5344CB8AC3E}">
        <p14:creationId xmlns:p14="http://schemas.microsoft.com/office/powerpoint/2010/main" val="2511741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162C92-BE1E-49C4-9BED-C8E500C786D2}" type="datetimeFigureOut">
              <a:rPr lang="en-US" smtClean="0"/>
              <a:t>12/3/2017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67392-4B44-4187-A04F-C83DBB6594D0}" type="slidenum">
              <a:rPr lang="en-US" smtClean="0"/>
              <a:t>‹#›</a:t>
            </a:fld>
            <a:endParaRPr lang="en-US"/>
          </a:p>
        </p:txBody>
      </p:sp>
    </p:spTree>
    <p:extLst>
      <p:ext uri="{BB962C8B-B14F-4D97-AF65-F5344CB8AC3E}">
        <p14:creationId xmlns:p14="http://schemas.microsoft.com/office/powerpoint/2010/main" val="1976315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5162C92-BE1E-49C4-9BED-C8E500C786D2}" type="datetimeFigureOut">
              <a:rPr lang="en-US" smtClean="0"/>
              <a:t>12/3/2017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67392-4B44-4187-A04F-C83DBB6594D0}" type="slidenum">
              <a:rPr lang="en-US" smtClean="0"/>
              <a:t>‹#›</a:t>
            </a:fld>
            <a:endParaRPr lang="en-US"/>
          </a:p>
        </p:txBody>
      </p:sp>
    </p:spTree>
    <p:extLst>
      <p:ext uri="{BB962C8B-B14F-4D97-AF65-F5344CB8AC3E}">
        <p14:creationId xmlns:p14="http://schemas.microsoft.com/office/powerpoint/2010/main" val="1814147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162C92-BE1E-49C4-9BED-C8E500C786D2}" type="datetimeFigureOut">
              <a:rPr lang="en-US" smtClean="0"/>
              <a:t>12/3/2017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867392-4B44-4187-A04F-C83DBB6594D0}" type="slidenum">
              <a:rPr lang="en-US" smtClean="0"/>
              <a:t>‹#›</a:t>
            </a:fld>
            <a:endParaRPr lang="en-US"/>
          </a:p>
        </p:txBody>
      </p:sp>
    </p:spTree>
    <p:extLst>
      <p:ext uri="{BB962C8B-B14F-4D97-AF65-F5344CB8AC3E}">
        <p14:creationId xmlns:p14="http://schemas.microsoft.com/office/powerpoint/2010/main" val="458061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162C92-BE1E-49C4-9BED-C8E500C786D2}" type="datetimeFigureOut">
              <a:rPr lang="en-US" smtClean="0"/>
              <a:t>12/3/2017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867392-4B44-4187-A04F-C83DBB6594D0}" type="slidenum">
              <a:rPr lang="en-US" smtClean="0"/>
              <a:t>‹#›</a:t>
            </a:fld>
            <a:endParaRPr lang="en-US"/>
          </a:p>
        </p:txBody>
      </p:sp>
    </p:spTree>
    <p:extLst>
      <p:ext uri="{BB962C8B-B14F-4D97-AF65-F5344CB8AC3E}">
        <p14:creationId xmlns:p14="http://schemas.microsoft.com/office/powerpoint/2010/main" val="1322582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162C92-BE1E-49C4-9BED-C8E500C786D2}" type="datetimeFigureOut">
              <a:rPr lang="en-US" smtClean="0"/>
              <a:t>12/3/2017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867392-4B44-4187-A04F-C83DBB6594D0}" type="slidenum">
              <a:rPr lang="en-US" smtClean="0"/>
              <a:t>‹#›</a:t>
            </a:fld>
            <a:endParaRPr lang="en-US"/>
          </a:p>
        </p:txBody>
      </p:sp>
    </p:spTree>
    <p:extLst>
      <p:ext uri="{BB962C8B-B14F-4D97-AF65-F5344CB8AC3E}">
        <p14:creationId xmlns:p14="http://schemas.microsoft.com/office/powerpoint/2010/main" val="4043924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162C92-BE1E-49C4-9BED-C8E500C786D2}" type="datetimeFigureOut">
              <a:rPr lang="en-US" smtClean="0"/>
              <a:t>12/3/2017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867392-4B44-4187-A04F-C83DBB6594D0}" type="slidenum">
              <a:rPr lang="en-US" smtClean="0"/>
              <a:t>‹#›</a:t>
            </a:fld>
            <a:endParaRPr lang="en-US"/>
          </a:p>
        </p:txBody>
      </p:sp>
    </p:spTree>
    <p:extLst>
      <p:ext uri="{BB962C8B-B14F-4D97-AF65-F5344CB8AC3E}">
        <p14:creationId xmlns:p14="http://schemas.microsoft.com/office/powerpoint/2010/main" val="1600082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5162C92-BE1E-49C4-9BED-C8E500C786D2}" type="datetimeFigureOut">
              <a:rPr lang="en-US" smtClean="0"/>
              <a:t>12/3/2017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867392-4B44-4187-A04F-C83DBB6594D0}" type="slidenum">
              <a:rPr lang="en-US" smtClean="0"/>
              <a:t>‹#›</a:t>
            </a:fld>
            <a:endParaRPr lang="en-US"/>
          </a:p>
        </p:txBody>
      </p:sp>
    </p:spTree>
    <p:extLst>
      <p:ext uri="{BB962C8B-B14F-4D97-AF65-F5344CB8AC3E}">
        <p14:creationId xmlns:p14="http://schemas.microsoft.com/office/powerpoint/2010/main" val="603109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5162C92-BE1E-49C4-9BED-C8E500C786D2}" type="datetimeFigureOut">
              <a:rPr lang="en-US" smtClean="0"/>
              <a:t>12/3/2017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867392-4B44-4187-A04F-C83DBB6594D0}" type="slidenum">
              <a:rPr lang="en-US" smtClean="0"/>
              <a:t>‹#›</a:t>
            </a:fld>
            <a:endParaRPr lang="en-US"/>
          </a:p>
        </p:txBody>
      </p:sp>
    </p:spTree>
    <p:extLst>
      <p:ext uri="{BB962C8B-B14F-4D97-AF65-F5344CB8AC3E}">
        <p14:creationId xmlns:p14="http://schemas.microsoft.com/office/powerpoint/2010/main" val="3040347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162C92-BE1E-49C4-9BED-C8E500C786D2}" type="datetimeFigureOut">
              <a:rPr lang="en-US" smtClean="0"/>
              <a:t>12/3/2017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67392-4B44-4187-A04F-C83DBB6594D0}" type="slidenum">
              <a:rPr lang="en-US" smtClean="0"/>
              <a:t>‹#›</a:t>
            </a:fld>
            <a:endParaRPr lang="en-US"/>
          </a:p>
        </p:txBody>
      </p:sp>
    </p:spTree>
    <p:extLst>
      <p:ext uri="{BB962C8B-B14F-4D97-AF65-F5344CB8AC3E}">
        <p14:creationId xmlns:p14="http://schemas.microsoft.com/office/powerpoint/2010/main" val="1148840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162C92-BE1E-49C4-9BED-C8E500C786D2}" type="datetimeFigureOut">
              <a:rPr lang="en-US" smtClean="0"/>
              <a:t>12/3/2017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67392-4B44-4187-A04F-C83DBB6594D0}" type="slidenum">
              <a:rPr lang="en-US" smtClean="0"/>
              <a:t>‹#›</a:t>
            </a:fld>
            <a:endParaRPr lang="en-US"/>
          </a:p>
        </p:txBody>
      </p:sp>
    </p:spTree>
    <p:extLst>
      <p:ext uri="{BB962C8B-B14F-4D97-AF65-F5344CB8AC3E}">
        <p14:creationId xmlns:p14="http://schemas.microsoft.com/office/powerpoint/2010/main" val="152059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45162C92-BE1E-49C4-9BED-C8E500C786D2}" type="datetimeFigureOut">
              <a:rPr lang="en-US" smtClean="0"/>
              <a:t>12/3/2017</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27867392-4B44-4187-A04F-C83DBB6594D0}" type="slidenum">
              <a:rPr lang="en-US" smtClean="0"/>
              <a:t>‹#›</a:t>
            </a:fld>
            <a:endParaRPr lang="en-US"/>
          </a:p>
        </p:txBody>
      </p:sp>
    </p:spTree>
    <p:extLst>
      <p:ext uri="{BB962C8B-B14F-4D97-AF65-F5344CB8AC3E}">
        <p14:creationId xmlns:p14="http://schemas.microsoft.com/office/powerpoint/2010/main" val="38567618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cse.psu.edu/~mkg31" TargetMode="External"/><Relationship Id="rId1" Type="http://schemas.openxmlformats.org/officeDocument/2006/relationships/slideLayout" Target="../slideLayouts/slideLayout2.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6C43E4C8-D32A-4846-B035-D46A5F68AA4C}"/>
              </a:ext>
            </a:extLst>
          </p:cNvPr>
          <p:cNvSpPr txBox="1"/>
          <p:nvPr/>
        </p:nvSpPr>
        <p:spPr>
          <a:xfrm>
            <a:off x="-1" y="0"/>
            <a:ext cx="6858000" cy="585216"/>
          </a:xfrm>
          <a:prstGeom prst="rect">
            <a:avLst/>
          </a:prstGeom>
          <a:solidFill>
            <a:schemeClr val="tx1"/>
          </a:solidFill>
        </p:spPr>
        <p:txBody>
          <a:bodyPr wrap="square" rtlCol="0">
            <a:spAutoFit/>
          </a:bodyPr>
          <a:lstStyle/>
          <a:p>
            <a:endParaRPr lang="en-US" sz="2000" b="1" dirty="0">
              <a:solidFill>
                <a:schemeClr val="bg1"/>
              </a:solidFill>
            </a:endParaRPr>
          </a:p>
        </p:txBody>
      </p:sp>
      <p:sp>
        <p:nvSpPr>
          <p:cNvPr id="7" name="TextBox 6">
            <a:extLst>
              <a:ext uri="{FF2B5EF4-FFF2-40B4-BE49-F238E27FC236}">
                <a16:creationId xmlns:a16="http://schemas.microsoft.com/office/drawing/2014/main" id="{DDE627C1-F130-43C4-8A2A-D0CBB4C19F61}"/>
              </a:ext>
            </a:extLst>
          </p:cNvPr>
          <p:cNvSpPr txBox="1"/>
          <p:nvPr/>
        </p:nvSpPr>
        <p:spPr>
          <a:xfrm>
            <a:off x="-1" y="7267018"/>
            <a:ext cx="6858000" cy="1969770"/>
          </a:xfrm>
          <a:prstGeom prst="rect">
            <a:avLst/>
          </a:prstGeom>
          <a:noFill/>
        </p:spPr>
        <p:txBody>
          <a:bodyPr wrap="square" rtlCol="0">
            <a:spAutoFit/>
          </a:bodyPr>
          <a:lstStyle/>
          <a:p>
            <a:pPr algn="just"/>
            <a:r>
              <a:rPr lang="en-US" sz="1400" b="1" dirty="0">
                <a:latin typeface="Lucida Bright" panose="02040602050505020304" pitchFamily="18" charset="0"/>
              </a:rPr>
              <a:t>Prerequisites: </a:t>
            </a:r>
            <a:r>
              <a:rPr lang="en-US" sz="1400" dirty="0">
                <a:latin typeface="Lucida Bright" panose="02040602050505020304" pitchFamily="18" charset="0"/>
              </a:rPr>
              <a:t>Basic familiarity with probability, linear algebra, programming is expected. However, the course is mostly self-contained with introductory materials on math basics, and signal processing. An android tutorial may be presented. Android/iOS experience is a plus, but not required.</a:t>
            </a:r>
          </a:p>
          <a:p>
            <a:pPr algn="just"/>
            <a:endParaRPr lang="en-US" sz="1400" b="1" dirty="0">
              <a:latin typeface="Lucida Bright" panose="02040602050505020304" pitchFamily="18" charset="0"/>
            </a:endParaRPr>
          </a:p>
          <a:p>
            <a:pPr algn="just"/>
            <a:r>
              <a:rPr lang="en-US" sz="1400" b="1" dirty="0">
                <a:latin typeface="Lucida Bright" panose="02040602050505020304" pitchFamily="18" charset="0"/>
              </a:rPr>
              <a:t>Grading: </a:t>
            </a:r>
            <a:r>
              <a:rPr lang="en-US" sz="1400" dirty="0">
                <a:latin typeface="Lucida Bright" panose="02040602050505020304" pitchFamily="18" charset="0"/>
              </a:rPr>
              <a:t>Paper reviews (15%), Class presentation (10%), Midterm (25%), Project (50%)</a:t>
            </a:r>
          </a:p>
          <a:p>
            <a:br>
              <a:rPr lang="en-US" sz="1200" dirty="0">
                <a:latin typeface="Lucida Bright" panose="02040602050505020304" pitchFamily="18" charset="0"/>
              </a:rPr>
            </a:br>
            <a:endParaRPr lang="en-US" sz="1200" dirty="0">
              <a:latin typeface="Lucida Bright" panose="02040602050505020304" pitchFamily="18" charset="0"/>
            </a:endParaRPr>
          </a:p>
        </p:txBody>
      </p:sp>
      <p:sp>
        <p:nvSpPr>
          <p:cNvPr id="6" name="Rectangle 5">
            <a:extLst>
              <a:ext uri="{FF2B5EF4-FFF2-40B4-BE49-F238E27FC236}">
                <a16:creationId xmlns:a16="http://schemas.microsoft.com/office/drawing/2014/main" id="{1103BF6A-EF9B-475D-91FD-A33395388D3F}"/>
              </a:ext>
            </a:extLst>
          </p:cNvPr>
          <p:cNvSpPr/>
          <p:nvPr/>
        </p:nvSpPr>
        <p:spPr>
          <a:xfrm>
            <a:off x="0" y="2946495"/>
            <a:ext cx="6858000" cy="4185761"/>
          </a:xfrm>
          <a:prstGeom prst="rect">
            <a:avLst/>
          </a:prstGeom>
        </p:spPr>
        <p:txBody>
          <a:bodyPr wrap="square">
            <a:spAutoFit/>
          </a:bodyPr>
          <a:lstStyle/>
          <a:p>
            <a:pPr algn="just"/>
            <a:r>
              <a:rPr lang="en-US" sz="1400" b="1" dirty="0">
                <a:solidFill>
                  <a:srgbClr val="000000"/>
                </a:solidFill>
                <a:latin typeface="Lucida Bright" panose="02040602050505020304" pitchFamily="18" charset="0"/>
              </a:rPr>
              <a:t>Course Description:  </a:t>
            </a:r>
            <a:r>
              <a:rPr lang="en-US" sz="1400" dirty="0">
                <a:solidFill>
                  <a:srgbClr val="000000"/>
                </a:solidFill>
                <a:latin typeface="Lucida Bright" panose="02040602050505020304" pitchFamily="18" charset="0"/>
              </a:rPr>
              <a:t>This course introduces students to state-of-the-art research on Internet of Things (IoT), with a focus on wireless networking and mobile sensing. Topics include:</a:t>
            </a:r>
          </a:p>
          <a:p>
            <a:pPr lvl="1">
              <a:buFont typeface="Arial" panose="020B0604020202020204" pitchFamily="34" charset="0"/>
              <a:buChar char="•"/>
            </a:pPr>
            <a:r>
              <a:rPr lang="en-US" sz="1400" b="1" dirty="0">
                <a:solidFill>
                  <a:srgbClr val="000000"/>
                </a:solidFill>
                <a:latin typeface="Lucida Bright" panose="02040602050505020304" pitchFamily="18" charset="0"/>
              </a:rPr>
              <a:t>GPS and localization</a:t>
            </a:r>
            <a:endParaRPr lang="en-US" sz="1400" dirty="0">
              <a:solidFill>
                <a:srgbClr val="000000"/>
              </a:solidFill>
              <a:latin typeface="Lucida Bright" panose="02040602050505020304" pitchFamily="18" charset="0"/>
            </a:endParaRPr>
          </a:p>
          <a:p>
            <a:pPr lvl="1">
              <a:buFont typeface="Arial" panose="020B0604020202020204" pitchFamily="34" charset="0"/>
              <a:buChar char="•"/>
            </a:pPr>
            <a:r>
              <a:rPr lang="en-US" sz="1400" b="1" dirty="0">
                <a:solidFill>
                  <a:srgbClr val="000000"/>
                </a:solidFill>
                <a:latin typeface="Lucida Bright" panose="02040602050505020304" pitchFamily="18" charset="0"/>
              </a:rPr>
              <a:t>Gesture and emotion sensing</a:t>
            </a:r>
            <a:endParaRPr lang="en-US" sz="1400" dirty="0">
              <a:solidFill>
                <a:srgbClr val="000000"/>
              </a:solidFill>
              <a:latin typeface="Lucida Bright" panose="02040602050505020304" pitchFamily="18" charset="0"/>
            </a:endParaRPr>
          </a:p>
          <a:p>
            <a:pPr lvl="1">
              <a:buFont typeface="Arial" panose="020B0604020202020204" pitchFamily="34" charset="0"/>
              <a:buChar char="•"/>
            </a:pPr>
            <a:r>
              <a:rPr lang="en-US" sz="1400" b="1" dirty="0">
                <a:solidFill>
                  <a:srgbClr val="000000"/>
                </a:solidFill>
                <a:latin typeface="Lucida Bright" panose="02040602050505020304" pitchFamily="18" charset="0"/>
              </a:rPr>
              <a:t>Smart Environments: Drones, sports, and vehicular analytics</a:t>
            </a:r>
            <a:endParaRPr lang="en-US" sz="1400" dirty="0">
              <a:solidFill>
                <a:srgbClr val="000000"/>
              </a:solidFill>
              <a:latin typeface="Lucida Bright" panose="02040602050505020304" pitchFamily="18" charset="0"/>
            </a:endParaRPr>
          </a:p>
          <a:p>
            <a:pPr lvl="1">
              <a:buFont typeface="Arial" panose="020B0604020202020204" pitchFamily="34" charset="0"/>
              <a:buChar char="•"/>
            </a:pPr>
            <a:r>
              <a:rPr lang="en-US" sz="1400" b="1" dirty="0">
                <a:solidFill>
                  <a:srgbClr val="000000"/>
                </a:solidFill>
                <a:latin typeface="Lucida Bright" panose="02040602050505020304" pitchFamily="18" charset="0"/>
              </a:rPr>
              <a:t>Acoustics sensing and communication</a:t>
            </a:r>
            <a:endParaRPr lang="en-US" sz="1400" dirty="0">
              <a:solidFill>
                <a:srgbClr val="000000"/>
              </a:solidFill>
              <a:latin typeface="Lucida Bright" panose="02040602050505020304" pitchFamily="18" charset="0"/>
            </a:endParaRPr>
          </a:p>
          <a:p>
            <a:pPr lvl="1">
              <a:buFont typeface="Arial" panose="020B0604020202020204" pitchFamily="34" charset="0"/>
              <a:buChar char="•"/>
            </a:pPr>
            <a:r>
              <a:rPr lang="en-US" sz="1400" b="1" dirty="0">
                <a:solidFill>
                  <a:srgbClr val="000000"/>
                </a:solidFill>
                <a:latin typeface="Lucida Bright" panose="02040602050505020304" pitchFamily="18" charset="0"/>
              </a:rPr>
              <a:t>Robotic wireless networks</a:t>
            </a:r>
            <a:endParaRPr lang="en-US" sz="1400" dirty="0">
              <a:solidFill>
                <a:srgbClr val="000000"/>
              </a:solidFill>
              <a:latin typeface="Lucida Bright" panose="02040602050505020304" pitchFamily="18" charset="0"/>
            </a:endParaRPr>
          </a:p>
          <a:p>
            <a:pPr lvl="1">
              <a:buFont typeface="Arial" panose="020B0604020202020204" pitchFamily="34" charset="0"/>
              <a:buChar char="•"/>
            </a:pPr>
            <a:r>
              <a:rPr lang="en-US" sz="1400" b="1" dirty="0">
                <a:solidFill>
                  <a:srgbClr val="000000"/>
                </a:solidFill>
                <a:latin typeface="Lucida Bright" panose="02040602050505020304" pitchFamily="18" charset="0"/>
              </a:rPr>
              <a:t>Augmented and virtual reality</a:t>
            </a:r>
            <a:endParaRPr lang="en-US" sz="1400" dirty="0">
              <a:solidFill>
                <a:srgbClr val="000000"/>
              </a:solidFill>
              <a:latin typeface="Lucida Bright" panose="02040602050505020304" pitchFamily="18" charset="0"/>
            </a:endParaRPr>
          </a:p>
          <a:p>
            <a:pPr lvl="1">
              <a:buFont typeface="Arial" panose="020B0604020202020204" pitchFamily="34" charset="0"/>
              <a:buChar char="•"/>
            </a:pPr>
            <a:r>
              <a:rPr lang="en-US" sz="1400" b="1" dirty="0">
                <a:solidFill>
                  <a:srgbClr val="000000"/>
                </a:solidFill>
                <a:latin typeface="Lucida Bright" panose="02040602050505020304" pitchFamily="18" charset="0"/>
              </a:rPr>
              <a:t>Security and privacy: sensor data leakage and inference</a:t>
            </a:r>
            <a:endParaRPr lang="en-US" sz="1400" dirty="0">
              <a:solidFill>
                <a:srgbClr val="000000"/>
              </a:solidFill>
              <a:latin typeface="Lucida Bright" panose="02040602050505020304" pitchFamily="18" charset="0"/>
            </a:endParaRPr>
          </a:p>
          <a:p>
            <a:pPr lvl="1">
              <a:buFont typeface="Arial" panose="020B0604020202020204" pitchFamily="34" charset="0"/>
              <a:buChar char="•"/>
            </a:pPr>
            <a:r>
              <a:rPr lang="en-US" sz="1400" b="1" dirty="0" err="1">
                <a:solidFill>
                  <a:srgbClr val="000000"/>
                </a:solidFill>
                <a:latin typeface="Lucida Bright" panose="02040602050505020304" pitchFamily="18" charset="0"/>
              </a:rPr>
              <a:t>Batteryless</a:t>
            </a:r>
            <a:r>
              <a:rPr lang="en-US" sz="1400" b="1" dirty="0">
                <a:solidFill>
                  <a:srgbClr val="000000"/>
                </a:solidFill>
                <a:latin typeface="Lucida Bright" panose="02040602050505020304" pitchFamily="18" charset="0"/>
              </a:rPr>
              <a:t> networking for IoT</a:t>
            </a:r>
          </a:p>
          <a:p>
            <a:pPr lvl="1">
              <a:buFont typeface="Arial" panose="020B0604020202020204" pitchFamily="34" charset="0"/>
              <a:buChar char="•"/>
            </a:pPr>
            <a:endParaRPr lang="en-US" sz="1400" dirty="0">
              <a:solidFill>
                <a:srgbClr val="000000"/>
              </a:solidFill>
              <a:latin typeface="Lucida Bright" panose="02040602050505020304" pitchFamily="18" charset="0"/>
            </a:endParaRPr>
          </a:p>
          <a:p>
            <a:pPr algn="just"/>
            <a:r>
              <a:rPr lang="en-US" sz="1400" dirty="0">
                <a:solidFill>
                  <a:srgbClr val="000000"/>
                </a:solidFill>
                <a:latin typeface="Lucida Bright" panose="02040602050505020304" pitchFamily="18" charset="0"/>
              </a:rPr>
              <a:t>Powerful and popular analytical techniques from linear algebra, signal processing, and machine-learning relevant to the applications will be discussed. Examples techniques are Trilateration, 3D Dead Reckoning, Orientation tracking, HMM, Viterbi Decoding, Doppler, Maximum Likelihood. Overall, the course would help students to develop skills to create novel applications from wireless and mobile sensor data, and apply mathematical concepts to real world problems through a semester long project. </a:t>
            </a:r>
            <a:endParaRPr lang="en-US" sz="1400" b="0" i="0" dirty="0">
              <a:solidFill>
                <a:srgbClr val="000000"/>
              </a:solidFill>
              <a:effectLst/>
              <a:latin typeface="Lucida Bright" panose="02040602050505020304" pitchFamily="18" charset="0"/>
            </a:endParaRPr>
          </a:p>
        </p:txBody>
      </p:sp>
      <p:cxnSp>
        <p:nvCxnSpPr>
          <p:cNvPr id="9" name="Straight Connector 8">
            <a:extLst>
              <a:ext uri="{FF2B5EF4-FFF2-40B4-BE49-F238E27FC236}">
                <a16:creationId xmlns:a16="http://schemas.microsoft.com/office/drawing/2014/main" id="{90917E24-5B46-4042-85F8-A1E428326FC2}"/>
              </a:ext>
            </a:extLst>
          </p:cNvPr>
          <p:cNvCxnSpPr/>
          <p:nvPr/>
        </p:nvCxnSpPr>
        <p:spPr>
          <a:xfrm>
            <a:off x="-1" y="7235292"/>
            <a:ext cx="68580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AE8E887-06AF-4A36-8063-F9936AE58B96}"/>
              </a:ext>
            </a:extLst>
          </p:cNvPr>
          <p:cNvSpPr txBox="1"/>
          <p:nvPr/>
        </p:nvSpPr>
        <p:spPr>
          <a:xfrm>
            <a:off x="0" y="8997458"/>
            <a:ext cx="6857999" cy="1015663"/>
          </a:xfrm>
          <a:prstGeom prst="rect">
            <a:avLst/>
          </a:prstGeom>
          <a:noFill/>
        </p:spPr>
        <p:txBody>
          <a:bodyPr wrap="square" rtlCol="0">
            <a:spAutoFit/>
          </a:bodyPr>
          <a:lstStyle/>
          <a:p>
            <a:r>
              <a:rPr lang="en-US" sz="1400" b="1" dirty="0">
                <a:latin typeface="Lucida Bright" panose="02040602050505020304" pitchFamily="18" charset="0"/>
              </a:rPr>
              <a:t>Time and location: </a:t>
            </a:r>
            <a:r>
              <a:rPr lang="en-US" sz="1400" dirty="0">
                <a:latin typeface="Lucida Bright" panose="02040602050505020304" pitchFamily="18" charset="0"/>
              </a:rPr>
              <a:t>  Tuesday and Thursday 4:35 to 5:50pm, Sackett 	B 108</a:t>
            </a:r>
          </a:p>
          <a:p>
            <a:r>
              <a:rPr lang="en-US" sz="1400" b="1" dirty="0">
                <a:latin typeface="Lucida Bright" panose="02040602050505020304" pitchFamily="18" charset="0"/>
              </a:rPr>
              <a:t>Office hours: </a:t>
            </a:r>
            <a:r>
              <a:rPr lang="en-US" sz="1400" dirty="0">
                <a:latin typeface="Lucida Bright" panose="02040602050505020304" pitchFamily="18" charset="0"/>
              </a:rPr>
              <a:t>           Tuesday and Thursday - after class</a:t>
            </a:r>
          </a:p>
          <a:p>
            <a:r>
              <a:rPr lang="en-US" sz="1400" b="1" dirty="0">
                <a:latin typeface="Lucida Bright" panose="02040602050505020304" pitchFamily="18" charset="0"/>
              </a:rPr>
              <a:t>Instructor: </a:t>
            </a:r>
            <a:r>
              <a:rPr lang="en-US" sz="1400" dirty="0">
                <a:latin typeface="Lucida Bright" panose="02040602050505020304" pitchFamily="18" charset="0"/>
              </a:rPr>
              <a:t>                </a:t>
            </a:r>
            <a:r>
              <a:rPr lang="en-US" sz="1400" dirty="0">
                <a:latin typeface="Lucida Bright" panose="02040602050505020304" pitchFamily="18" charset="0"/>
                <a:hlinkClick r:id="rId2"/>
              </a:rPr>
              <a:t>Mahanth Gowda</a:t>
            </a:r>
            <a:r>
              <a:rPr lang="en-US" sz="1400" dirty="0">
                <a:latin typeface="Lucida Bright" panose="02040602050505020304" pitchFamily="18" charset="0"/>
              </a:rPr>
              <a:t> (mahanth.gowda@psu.edu)</a:t>
            </a:r>
          </a:p>
          <a:p>
            <a:endParaRPr lang="en-US" dirty="0"/>
          </a:p>
        </p:txBody>
      </p:sp>
      <p:cxnSp>
        <p:nvCxnSpPr>
          <p:cNvPr id="11" name="Straight Connector 10">
            <a:extLst>
              <a:ext uri="{FF2B5EF4-FFF2-40B4-BE49-F238E27FC236}">
                <a16:creationId xmlns:a16="http://schemas.microsoft.com/office/drawing/2014/main" id="{410E494A-B7C9-402F-9AC9-EBE0E8813C43}"/>
              </a:ext>
            </a:extLst>
          </p:cNvPr>
          <p:cNvCxnSpPr/>
          <p:nvPr/>
        </p:nvCxnSpPr>
        <p:spPr>
          <a:xfrm>
            <a:off x="0" y="8955391"/>
            <a:ext cx="685800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AEE220A-4A40-4BAB-AFE8-E04D4F0C3199}"/>
              </a:ext>
            </a:extLst>
          </p:cNvPr>
          <p:cNvCxnSpPr/>
          <p:nvPr/>
        </p:nvCxnSpPr>
        <p:spPr>
          <a:xfrm>
            <a:off x="-1" y="2865813"/>
            <a:ext cx="6858000" cy="0"/>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5" name="Picture 4" descr="A picture containing indoor, table, desk, computer&#10;&#10;Description generated with very high confidence">
            <a:extLst>
              <a:ext uri="{FF2B5EF4-FFF2-40B4-BE49-F238E27FC236}">
                <a16:creationId xmlns:a16="http://schemas.microsoft.com/office/drawing/2014/main" id="{F8BFEA1B-A79F-4F71-BFD9-0167552805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96700"/>
            <a:ext cx="6858000" cy="2269751"/>
          </a:xfrm>
          <a:prstGeom prst="rect">
            <a:avLst/>
          </a:prstGeom>
        </p:spPr>
      </p:pic>
      <p:pic>
        <p:nvPicPr>
          <p:cNvPr id="15" name="Picture 14">
            <a:extLst>
              <a:ext uri="{FF2B5EF4-FFF2-40B4-BE49-F238E27FC236}">
                <a16:creationId xmlns:a16="http://schemas.microsoft.com/office/drawing/2014/main" id="{4C1CA832-049A-48D0-8559-056BE74BE289}"/>
              </a:ext>
            </a:extLst>
          </p:cNvPr>
          <p:cNvPicPr>
            <a:picLocks noChangeAspect="1"/>
          </p:cNvPicPr>
          <p:nvPr/>
        </p:nvPicPr>
        <p:blipFill rotWithShape="1">
          <a:blip r:embed="rId4">
            <a:extLst>
              <a:ext uri="{28A0092B-C50C-407E-A947-70E740481C1C}">
                <a14:useLocalDpi xmlns:a14="http://schemas.microsoft.com/office/drawing/2010/main" val="0"/>
              </a:ext>
            </a:extLst>
          </a:blip>
          <a:srcRect l="6121" t="7138" r="7647" b="6368"/>
          <a:stretch/>
        </p:blipFill>
        <p:spPr>
          <a:xfrm>
            <a:off x="6093466" y="9247094"/>
            <a:ext cx="643510" cy="645459"/>
          </a:xfrm>
          <a:prstGeom prst="rect">
            <a:avLst/>
          </a:prstGeom>
        </p:spPr>
      </p:pic>
      <p:sp>
        <p:nvSpPr>
          <p:cNvPr id="16" name="TextBox 15">
            <a:extLst>
              <a:ext uri="{FF2B5EF4-FFF2-40B4-BE49-F238E27FC236}">
                <a16:creationId xmlns:a16="http://schemas.microsoft.com/office/drawing/2014/main" id="{6F2504D8-1E1E-477D-8342-A205EC37E4F6}"/>
              </a:ext>
            </a:extLst>
          </p:cNvPr>
          <p:cNvSpPr txBox="1"/>
          <p:nvPr/>
        </p:nvSpPr>
        <p:spPr>
          <a:xfrm>
            <a:off x="576423" y="83945"/>
            <a:ext cx="5705152" cy="646331"/>
          </a:xfrm>
          <a:prstGeom prst="rect">
            <a:avLst/>
          </a:prstGeom>
          <a:noFill/>
        </p:spPr>
        <p:txBody>
          <a:bodyPr wrap="none" rtlCol="0">
            <a:spAutoFit/>
          </a:bodyPr>
          <a:lstStyle/>
          <a:p>
            <a:r>
              <a:rPr lang="en-US" b="1" dirty="0">
                <a:solidFill>
                  <a:schemeClr val="bg1"/>
                </a:solidFill>
              </a:rPr>
              <a:t>CSE/EE 597: Wireless and Mobile Sensing in the age of IoT</a:t>
            </a:r>
          </a:p>
          <a:p>
            <a:endParaRPr lang="en-US" dirty="0"/>
          </a:p>
        </p:txBody>
      </p:sp>
    </p:spTree>
    <p:extLst>
      <p:ext uri="{BB962C8B-B14F-4D97-AF65-F5344CB8AC3E}">
        <p14:creationId xmlns:p14="http://schemas.microsoft.com/office/powerpoint/2010/main" val="36439263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TotalTime>
  <Words>170</Words>
  <Application>Microsoft Office PowerPoint</Application>
  <PresentationFormat>A4 Paper (210x297 mm)</PresentationFormat>
  <Paragraphs>19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Lucida Bright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mahanthg</dc:creator>
  <cp:lastModifiedBy>mahanthg</cp:lastModifiedBy>
  <cp:revision>6</cp:revision>
  <dcterms:created xsi:type="dcterms:W3CDTF">2017-12-03T21:47:55Z</dcterms:created>
  <dcterms:modified xsi:type="dcterms:W3CDTF">2017-12-03T22:20:07Z</dcterms:modified>
</cp:coreProperties>
</file>